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2F0A8C-1AB1-43D6-BED5-D7B6EA3BAF06}">
  <a:tblStyle styleId="{C42F0A8C-1AB1-43D6-BED5-D7B6EA3BAF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9542edb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99542edb8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9542edb8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99542edb8_2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9542edb8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99542edb8_2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99542edb8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99542edb8_2_1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9542edb8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99542edb8_2_1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9542edb8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99542edb8_2_13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9542edb8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99542edb8_2_15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9542edb8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99542edb8_2_1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9542edb8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99542edb8_2_1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9542edb8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99542edb8_2_1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9542edb8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99542edb8_2_2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99542edb8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99542edb8_2_22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99542edb8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99542edb8_2_2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9542edb8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99542edb8_2_26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99542edb8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99542edb8_2_29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99542edb8_2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99542edb8_2_3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9542edb8_2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99542edb8_2_32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99542edb8_2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99542edb8_2_3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99542edb8_2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99542edb8_2_3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99542edb8_2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99542edb8_2_40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99542edb8_2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99542edb8_2_3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99542edb8_2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99542edb8_2_3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99542edb8_2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99542edb8_2_3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99542edb8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99542edb8_2_4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99542edb8_2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99542edb8_2_42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99542edb8_2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f99542edb8_2_43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99542edb8_2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99542edb8_2_44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99542edb8_2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f99542edb8_2_46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99542edb8_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f99542edb8_2_4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99542edb8_2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99542edb8_2_4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99542edb8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99542edb8_2_5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99542edb8_2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f99542edb8_2_53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30" name="Google Shape;130;p2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31" name="Google Shape;131;p2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80073" y="1645920"/>
            <a:ext cx="7544001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CareCompanion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480073" y="2606040"/>
            <a:ext cx="754400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Assistive Companion Mobile Application for Elderly and Disabled Users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42" name="Google Shape;142;p2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0" y="1028700"/>
            <a:ext cx="91440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Group ID - 6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0" y="1508760"/>
            <a:ext cx="914401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Devanshi Pandey  16014023016  EXCP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0" y="1885950"/>
            <a:ext cx="914401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Suyash Humne    16014223085  AIDS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0" y="2263140"/>
            <a:ext cx="914401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Deon Menezes    16014223030  AIDS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822982" y="301752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Project Guide:  Sonali Wankhede  (IT/AIDS)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822982" y="339471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Project Co-Guide:  Balwant Kumar Singh  (EXCP)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56" name="Google Shape;156;p27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57" name="Google Shape;157;p27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Introduction / Background</a:t>
            </a:r>
            <a:endParaRPr sz="1100"/>
          </a:p>
        </p:txBody>
      </p:sp>
      <p:sp>
        <p:nvSpPr>
          <p:cNvPr id="161" name="Google Shape;161;p27"/>
          <p:cNvSpPr txBox="1"/>
          <p:nvPr/>
        </p:nvSpPr>
        <p:spPr>
          <a:xfrm>
            <a:off x="1097309" y="1028700"/>
            <a:ext cx="6858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Elderly and disabled individuals face difficulty: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1645964" y="1405889"/>
            <a:ext cx="651527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Remembering daily medicines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Maintaining regular activity and hydration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Accessing help during emergencies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Finding wheelchair-friendly locations</a:t>
            </a:r>
            <a:endParaRPr sz="1100"/>
          </a:p>
        </p:txBody>
      </p:sp>
      <p:sp>
        <p:nvSpPr>
          <p:cNvPr id="163" name="Google Shape;163;p27"/>
          <p:cNvSpPr txBox="1"/>
          <p:nvPr/>
        </p:nvSpPr>
        <p:spPr>
          <a:xfrm>
            <a:off x="0" y="3223260"/>
            <a:ext cx="91440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Caregivers cannot monitor continuously</a:t>
            </a:r>
            <a:endParaRPr sz="1100"/>
          </a:p>
        </p:txBody>
      </p:sp>
      <p:sp>
        <p:nvSpPr>
          <p:cNvPr id="164" name="Google Shape;164;p27"/>
          <p:cNvSpPr txBox="1"/>
          <p:nvPr/>
        </p:nvSpPr>
        <p:spPr>
          <a:xfrm>
            <a:off x="0" y="3703320"/>
            <a:ext cx="91440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Hence there is a need for a simple, accessible, integrated solution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70" name="Google Shape;170;p2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71" name="Google Shape;171;p2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sz="1100"/>
          </a:p>
        </p:txBody>
      </p:sp>
      <p:sp>
        <p:nvSpPr>
          <p:cNvPr id="175" name="Google Shape;175;p28"/>
          <p:cNvSpPr txBox="1"/>
          <p:nvPr/>
        </p:nvSpPr>
        <p:spPr>
          <a:xfrm>
            <a:off x="685818" y="960120"/>
            <a:ext cx="788691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Elderly and disabled users face difficulty managing daily healthcare tasks such as medicines and activities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Challenges include remembering medicines, maintaining hydration, and accessing emergency help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Existing mobile applications solve these problems individually, not in an integrated manner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Most apps are not designed with accessibility as a priority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Users struggle with small text, complex navigation, and lack of voice/visual assistance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Hence, there is a need for a simple, accessible, and unified assistive mobile solution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81" name="Google Shape;181;p29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82" name="Google Shape;182;p29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Objectives of the Project</a:t>
            </a:r>
            <a:endParaRPr sz="1100"/>
          </a:p>
        </p:txBody>
      </p:sp>
      <p:sp>
        <p:nvSpPr>
          <p:cNvPr id="186" name="Google Shape;186;p29"/>
          <p:cNvSpPr txBox="1"/>
          <p:nvPr/>
        </p:nvSpPr>
        <p:spPr>
          <a:xfrm>
            <a:off x="1714546" y="1165860"/>
            <a:ext cx="617236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Develop assistive Android application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Provide medicine &amp; activity reminders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Enable caregiver monitoring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Implement emergency SOS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Maintain health vitals records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Ensure accessibility-first UI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92" name="Google Shape;192;p30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93" name="Google Shape;193;p30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Objectives of the Project</a:t>
            </a:r>
            <a:endParaRPr sz="1100"/>
          </a:p>
        </p:txBody>
      </p:sp>
      <p:sp>
        <p:nvSpPr>
          <p:cNvPr id="197" name="Google Shape;197;p30"/>
          <p:cNvSpPr txBox="1"/>
          <p:nvPr/>
        </p:nvSpPr>
        <p:spPr>
          <a:xfrm>
            <a:off x="1371637" y="822960"/>
            <a:ext cx="6858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CareCompanion is an Android-based assistive application that: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1028727" y="137160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sz="1100"/>
          </a:p>
        </p:txBody>
      </p:sp>
      <p:sp>
        <p:nvSpPr>
          <p:cNvPr id="199" name="Google Shape;199;p30"/>
          <p:cNvSpPr/>
          <p:nvPr/>
        </p:nvSpPr>
        <p:spPr>
          <a:xfrm>
            <a:off x="1508800" y="1371600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Integrates multiple assistive features into one app.</a:t>
            </a:r>
            <a:endParaRPr sz="1100"/>
          </a:p>
        </p:txBody>
      </p:sp>
      <p:sp>
        <p:nvSpPr>
          <p:cNvPr id="200" name="Google Shape;200;p30"/>
          <p:cNvSpPr txBox="1"/>
          <p:nvPr/>
        </p:nvSpPr>
        <p:spPr>
          <a:xfrm>
            <a:off x="1028727" y="209169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 sz="1100"/>
          </a:p>
        </p:txBody>
      </p:sp>
      <p:sp>
        <p:nvSpPr>
          <p:cNvPr id="201" name="Google Shape;201;p30"/>
          <p:cNvSpPr/>
          <p:nvPr/>
        </p:nvSpPr>
        <p:spPr>
          <a:xfrm>
            <a:off x="1508800" y="2091690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 visual cues, voice assistance, reminders, and safety mechanisms.</a:t>
            </a:r>
            <a:endParaRPr sz="1100"/>
          </a:p>
        </p:txBody>
      </p:sp>
      <p:sp>
        <p:nvSpPr>
          <p:cNvPr id="202" name="Google Shape;202;p30"/>
          <p:cNvSpPr txBox="1"/>
          <p:nvPr/>
        </p:nvSpPr>
        <p:spPr>
          <a:xfrm>
            <a:off x="1028727" y="2811779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 sz="1100"/>
          </a:p>
        </p:txBody>
      </p:sp>
      <p:sp>
        <p:nvSpPr>
          <p:cNvPr id="203" name="Google Shape;203;p30"/>
          <p:cNvSpPr/>
          <p:nvPr/>
        </p:nvSpPr>
        <p:spPr>
          <a:xfrm>
            <a:off x="1508800" y="2811779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designed with elderly and disabled users as the primary focus.</a:t>
            </a:r>
            <a:endParaRPr sz="1100"/>
          </a:p>
        </p:txBody>
      </p:sp>
      <p:sp>
        <p:nvSpPr>
          <p:cNvPr id="204" name="Google Shape;204;p30"/>
          <p:cNvSpPr txBox="1"/>
          <p:nvPr/>
        </p:nvSpPr>
        <p:spPr>
          <a:xfrm>
            <a:off x="1028727" y="353187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4.</a:t>
            </a:r>
            <a:endParaRPr sz="1100"/>
          </a:p>
        </p:txBody>
      </p:sp>
      <p:sp>
        <p:nvSpPr>
          <p:cNvPr id="205" name="Google Shape;205;p30"/>
          <p:cNvSpPr/>
          <p:nvPr/>
        </p:nvSpPr>
        <p:spPr>
          <a:xfrm>
            <a:off x="1508800" y="3531870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Follows a modular architecture for scalability and maintainability.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11" name="Google Shape;211;p31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12" name="Google Shape;212;p31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 sz="1100"/>
          </a:p>
        </p:txBody>
      </p:sp>
      <p:graphicFrame>
        <p:nvGraphicFramePr>
          <p:cNvPr id="216" name="Google Shape;216;p31"/>
          <p:cNvGraphicFramePr/>
          <p:nvPr/>
        </p:nvGraphicFramePr>
        <p:xfrm>
          <a:off x="205745" y="720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{C42F0A8C-1AB1-43D6-BED5-D7B6EA3BAF06}</a:tableStyleId>
              </a:tblPr>
              <a:tblGrid>
                <a:gridCol w="1371625"/>
                <a:gridCol w="1783125"/>
                <a:gridCol w="2811850"/>
                <a:gridCol w="2811850"/>
              </a:tblGrid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Solution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Gap Identified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 Amouzadeh et al. (2025)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Optimizing Mobile App Design for Older Adults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Identified age-friendly UI principles such as large icons, simplified navigation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Lacks a unified, real-world mobile app combining reminders, emergency support, and caregiver control in one system.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 Awan et al. (2021)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Usability Barriers for Elderly Users in Smartphone App Usage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Prioritized major usability barriers — small text, complex interfaces, lack of intuitive navigation.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propose a complete assistive mobile solution or caregiver-controlled system.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Abascal and C. Nicolle (2021)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Moving Towards Inclusive Design Guidelines for Mobile Apps for Older Adults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Inclusive design guidelines: accessibility, simplified interactions, adaptive interfaces.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Guidelines are theoretical and lack validation through a practical healthcare-oriented mobile application.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 Holzinger et al. (2021)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Improving Mobile Applications for the Elderly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interfaces, reduced interaction steps, context-aware assistance.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address healthcare tasks such as medicine adherence, emergency alerts, or caregiver monitoring.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L. Chen et al. (2022)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and Evaluation of an Elderly-Friendly Mobile Health Application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health app focusing on health monitoring and basic reminders for elderly users.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caregiver involvement; lacks features like SOS emergency support, wheelchair assistance, and configurable shortcuts.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5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Wickramathilaka et al. (2025)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and Accessible UIs for Senior Citizens via Model-Driven Engineering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UI generation techniques that adjust interfaces based on elderly user needs.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mainly on UI adaptation; doesn't integrate full elderly-care workflows such as medicine tracking, caregiver dashboards, and emergency response.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22" name="Google Shape;222;p32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23" name="Google Shape;223;p32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Solutions</a:t>
            </a:r>
            <a:endParaRPr sz="1100"/>
          </a:p>
        </p:txBody>
      </p:sp>
      <p:graphicFrame>
        <p:nvGraphicFramePr>
          <p:cNvPr id="227" name="Google Shape;227;p32"/>
          <p:cNvGraphicFramePr/>
          <p:nvPr/>
        </p:nvGraphicFramePr>
        <p:xfrm>
          <a:off x="342909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{C42F0A8C-1AB1-43D6-BED5-D7B6EA3BAF06}</a:tableStyleId>
              </a:tblPr>
              <a:tblGrid>
                <a:gridCol w="2057450"/>
                <a:gridCol w="1594500"/>
                <a:gridCol w="1594500"/>
                <a:gridCol w="1594500"/>
                <a:gridCol w="1594500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Feature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Medisafe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MyTherapy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SOS Apps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Google Assistant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Caregiver Configuration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Emergency SOS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2EA8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✓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Activity &amp; Water Reminders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2EA8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✓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Shortcuts for Elderly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Wheelchair Assistance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Health Vitals Records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Single Integrated Platform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33" name="Google Shape;233;p33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34" name="Google Shape;234;p33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Solutions</a:t>
            </a:r>
            <a:endParaRPr sz="1100"/>
          </a:p>
        </p:txBody>
      </p:sp>
      <p:sp>
        <p:nvSpPr>
          <p:cNvPr id="238" name="Google Shape;238;p33"/>
          <p:cNvSpPr txBox="1"/>
          <p:nvPr/>
        </p:nvSpPr>
        <p:spPr>
          <a:xfrm>
            <a:off x="342909" y="1851660"/>
            <a:ext cx="843556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No single app provides integrated healthcare +</a:t>
            </a:r>
            <a:br>
              <a:rPr b="0" i="0" lang="en" sz="2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" sz="2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accessibility + caregiver control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44" name="Google Shape;244;p34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45" name="Google Shape;245;p34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Methodology / Approach</a:t>
            </a:r>
            <a:endParaRPr sz="1100"/>
          </a:p>
        </p:txBody>
      </p:sp>
      <p:sp>
        <p:nvSpPr>
          <p:cNvPr id="249" name="Google Shape;249;p34"/>
          <p:cNvSpPr/>
          <p:nvPr/>
        </p:nvSpPr>
        <p:spPr>
          <a:xfrm>
            <a:off x="891564" y="109728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1100"/>
          </a:p>
        </p:txBody>
      </p:sp>
      <p:sp>
        <p:nvSpPr>
          <p:cNvPr id="250" name="Google Shape;250;p34"/>
          <p:cNvSpPr txBox="1"/>
          <p:nvPr/>
        </p:nvSpPr>
        <p:spPr>
          <a:xfrm>
            <a:off x="1645964" y="109728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Platform:</a:t>
            </a:r>
            <a:endParaRPr sz="1100"/>
          </a:p>
        </p:txBody>
      </p:sp>
      <p:sp>
        <p:nvSpPr>
          <p:cNvPr id="251" name="Google Shape;251;p34"/>
          <p:cNvSpPr txBox="1"/>
          <p:nvPr/>
        </p:nvSpPr>
        <p:spPr>
          <a:xfrm>
            <a:off x="1645964" y="140589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Android (Android Studio)</a:t>
            </a:r>
            <a:endParaRPr sz="1100"/>
          </a:p>
        </p:txBody>
      </p:sp>
      <p:sp>
        <p:nvSpPr>
          <p:cNvPr id="252" name="Google Shape;252;p34"/>
          <p:cNvSpPr/>
          <p:nvPr/>
        </p:nvSpPr>
        <p:spPr>
          <a:xfrm>
            <a:off x="4937892" y="109728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 sz="1100"/>
          </a:p>
        </p:txBody>
      </p:sp>
      <p:sp>
        <p:nvSpPr>
          <p:cNvPr id="253" name="Google Shape;253;p34"/>
          <p:cNvSpPr txBox="1"/>
          <p:nvPr/>
        </p:nvSpPr>
        <p:spPr>
          <a:xfrm>
            <a:off x="5692292" y="109728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Programming Language:</a:t>
            </a:r>
            <a:endParaRPr sz="1100"/>
          </a:p>
        </p:txBody>
      </p:sp>
      <p:sp>
        <p:nvSpPr>
          <p:cNvPr id="254" name="Google Shape;254;p34"/>
          <p:cNvSpPr txBox="1"/>
          <p:nvPr/>
        </p:nvSpPr>
        <p:spPr>
          <a:xfrm>
            <a:off x="5692292" y="140589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sz="1100"/>
          </a:p>
        </p:txBody>
      </p:sp>
      <p:sp>
        <p:nvSpPr>
          <p:cNvPr id="255" name="Google Shape;255;p34"/>
          <p:cNvSpPr/>
          <p:nvPr/>
        </p:nvSpPr>
        <p:spPr>
          <a:xfrm>
            <a:off x="891564" y="233172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✉</a:t>
            </a:r>
            <a:endParaRPr sz="1100"/>
          </a:p>
        </p:txBody>
      </p:sp>
      <p:sp>
        <p:nvSpPr>
          <p:cNvPr id="256" name="Google Shape;256;p34"/>
          <p:cNvSpPr txBox="1"/>
          <p:nvPr/>
        </p:nvSpPr>
        <p:spPr>
          <a:xfrm>
            <a:off x="1645964" y="233172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Notifications:</a:t>
            </a:r>
            <a:endParaRPr sz="1100"/>
          </a:p>
        </p:txBody>
      </p:sp>
      <p:sp>
        <p:nvSpPr>
          <p:cNvPr id="257" name="Google Shape;257;p34"/>
          <p:cNvSpPr txBox="1"/>
          <p:nvPr/>
        </p:nvSpPr>
        <p:spPr>
          <a:xfrm>
            <a:off x="1645964" y="264033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Android Notifications Manager</a:t>
            </a:r>
            <a:endParaRPr sz="1100"/>
          </a:p>
        </p:txBody>
      </p:sp>
      <p:sp>
        <p:nvSpPr>
          <p:cNvPr id="258" name="Google Shape;258;p34"/>
          <p:cNvSpPr/>
          <p:nvPr/>
        </p:nvSpPr>
        <p:spPr>
          <a:xfrm>
            <a:off x="4937892" y="233172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sz="1100"/>
          </a:p>
        </p:txBody>
      </p:sp>
      <p:sp>
        <p:nvSpPr>
          <p:cNvPr id="259" name="Google Shape;259;p34"/>
          <p:cNvSpPr txBox="1"/>
          <p:nvPr/>
        </p:nvSpPr>
        <p:spPr>
          <a:xfrm>
            <a:off x="5692292" y="233172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Database:</a:t>
            </a:r>
            <a:endParaRPr sz="1100"/>
          </a:p>
        </p:txBody>
      </p:sp>
      <p:sp>
        <p:nvSpPr>
          <p:cNvPr id="260" name="Google Shape;260;p34"/>
          <p:cNvSpPr txBox="1"/>
          <p:nvPr/>
        </p:nvSpPr>
        <p:spPr>
          <a:xfrm>
            <a:off x="5692292" y="264033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Room (Local Storage)</a:t>
            </a:r>
            <a:endParaRPr sz="1100"/>
          </a:p>
        </p:txBody>
      </p:sp>
      <p:sp>
        <p:nvSpPr>
          <p:cNvPr id="261" name="Google Shape;261;p34"/>
          <p:cNvSpPr/>
          <p:nvPr/>
        </p:nvSpPr>
        <p:spPr>
          <a:xfrm>
            <a:off x="891564" y="356616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1100"/>
          </a:p>
        </p:txBody>
      </p:sp>
      <p:sp>
        <p:nvSpPr>
          <p:cNvPr id="262" name="Google Shape;262;p34"/>
          <p:cNvSpPr txBox="1"/>
          <p:nvPr/>
        </p:nvSpPr>
        <p:spPr>
          <a:xfrm>
            <a:off x="1645964" y="356616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Maps &amp; Location:</a:t>
            </a:r>
            <a:endParaRPr sz="1100"/>
          </a:p>
        </p:txBody>
      </p:sp>
      <p:sp>
        <p:nvSpPr>
          <p:cNvPr id="263" name="Google Shape;263;p34"/>
          <p:cNvSpPr txBox="1"/>
          <p:nvPr/>
        </p:nvSpPr>
        <p:spPr>
          <a:xfrm>
            <a:off x="1645964" y="387477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Google Maps SDK, Location Services</a:t>
            </a:r>
            <a:endParaRPr sz="1100"/>
          </a:p>
        </p:txBody>
      </p:sp>
      <p:sp>
        <p:nvSpPr>
          <p:cNvPr id="264" name="Google Shape;264;p34"/>
          <p:cNvSpPr/>
          <p:nvPr/>
        </p:nvSpPr>
        <p:spPr>
          <a:xfrm>
            <a:off x="4937892" y="356616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100"/>
          </a:p>
        </p:txBody>
      </p:sp>
      <p:sp>
        <p:nvSpPr>
          <p:cNvPr id="265" name="Google Shape;265;p34"/>
          <p:cNvSpPr txBox="1"/>
          <p:nvPr/>
        </p:nvSpPr>
        <p:spPr>
          <a:xfrm>
            <a:off x="5692292" y="356616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Background Tasks:</a:t>
            </a:r>
            <a:endParaRPr sz="1100"/>
          </a:p>
        </p:txBody>
      </p:sp>
      <p:sp>
        <p:nvSpPr>
          <p:cNvPr id="266" name="Google Shape;266;p34"/>
          <p:cNvSpPr txBox="1"/>
          <p:nvPr/>
        </p:nvSpPr>
        <p:spPr>
          <a:xfrm>
            <a:off x="5692292" y="387477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WorkManager &amp; AlarmManager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72" name="Google Shape;272;p3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73" name="Google Shape;273;p3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Scope – Functional Requirements</a:t>
            </a:r>
            <a:endParaRPr sz="1100"/>
          </a:p>
        </p:txBody>
      </p:sp>
      <p:sp>
        <p:nvSpPr>
          <p:cNvPr id="277" name="Google Shape;277;p35"/>
          <p:cNvSpPr/>
          <p:nvPr/>
        </p:nvSpPr>
        <p:spPr>
          <a:xfrm>
            <a:off x="480073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Visual medicine reminders with pill images</a:t>
            </a:r>
            <a:endParaRPr sz="1100"/>
          </a:p>
        </p:txBody>
      </p:sp>
      <p:sp>
        <p:nvSpPr>
          <p:cNvPr id="278" name="Google Shape;278;p35"/>
          <p:cNvSpPr/>
          <p:nvPr/>
        </p:nvSpPr>
        <p:spPr>
          <a:xfrm>
            <a:off x="2263200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279" name="Google Shape;279;p35"/>
          <p:cNvSpPr/>
          <p:nvPr/>
        </p:nvSpPr>
        <p:spPr>
          <a:xfrm>
            <a:off x="4800728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Daily activity and hydration reminders</a:t>
            </a:r>
            <a:endParaRPr sz="1100"/>
          </a:p>
        </p:txBody>
      </p:sp>
      <p:sp>
        <p:nvSpPr>
          <p:cNvPr id="280" name="Google Shape;280;p35"/>
          <p:cNvSpPr/>
          <p:nvPr/>
        </p:nvSpPr>
        <p:spPr>
          <a:xfrm>
            <a:off x="6583856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281" name="Google Shape;281;p35"/>
          <p:cNvSpPr/>
          <p:nvPr/>
        </p:nvSpPr>
        <p:spPr>
          <a:xfrm>
            <a:off x="480073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Emergency SOS with calling and alerts</a:t>
            </a:r>
            <a:endParaRPr sz="1100"/>
          </a:p>
        </p:txBody>
      </p:sp>
      <p:sp>
        <p:nvSpPr>
          <p:cNvPr id="282" name="Google Shape;282;p35"/>
          <p:cNvSpPr/>
          <p:nvPr/>
        </p:nvSpPr>
        <p:spPr>
          <a:xfrm>
            <a:off x="2263200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283" name="Google Shape;283;p35"/>
          <p:cNvSpPr/>
          <p:nvPr/>
        </p:nvSpPr>
        <p:spPr>
          <a:xfrm>
            <a:off x="4800728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Wheelchair-friendly navigation (basic)</a:t>
            </a:r>
            <a:endParaRPr sz="1100"/>
          </a:p>
        </p:txBody>
      </p:sp>
      <p:sp>
        <p:nvSpPr>
          <p:cNvPr id="284" name="Google Shape;284;p35"/>
          <p:cNvSpPr/>
          <p:nvPr/>
        </p:nvSpPr>
        <p:spPr>
          <a:xfrm>
            <a:off x="6583856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100"/>
          </a:p>
        </p:txBody>
      </p:sp>
      <p:sp>
        <p:nvSpPr>
          <p:cNvPr id="285" name="Google Shape;285;p35"/>
          <p:cNvSpPr/>
          <p:nvPr/>
        </p:nvSpPr>
        <p:spPr>
          <a:xfrm>
            <a:off x="480073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Quick access shortcuts (contacts, videos)</a:t>
            </a:r>
            <a:endParaRPr sz="1100"/>
          </a:p>
        </p:txBody>
      </p:sp>
      <p:sp>
        <p:nvSpPr>
          <p:cNvPr id="286" name="Google Shape;286;p35"/>
          <p:cNvSpPr/>
          <p:nvPr/>
        </p:nvSpPr>
        <p:spPr>
          <a:xfrm>
            <a:off x="2263200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100"/>
          </a:p>
        </p:txBody>
      </p:sp>
      <p:sp>
        <p:nvSpPr>
          <p:cNvPr id="287" name="Google Shape;287;p35"/>
          <p:cNvSpPr/>
          <p:nvPr/>
        </p:nvSpPr>
        <p:spPr>
          <a:xfrm>
            <a:off x="4800728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Health vitals recording (manual entry)</a:t>
            </a:r>
            <a:endParaRPr sz="1100"/>
          </a:p>
        </p:txBody>
      </p:sp>
      <p:sp>
        <p:nvSpPr>
          <p:cNvPr id="288" name="Google Shape;288;p35"/>
          <p:cNvSpPr/>
          <p:nvPr/>
        </p:nvSpPr>
        <p:spPr>
          <a:xfrm>
            <a:off x="6583856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94" name="Google Shape;294;p3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95" name="Google Shape;295;p3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Scope – Non-Functional Requirements</a:t>
            </a:r>
            <a:endParaRPr sz="1100"/>
          </a:p>
        </p:txBody>
      </p:sp>
      <p:sp>
        <p:nvSpPr>
          <p:cNvPr id="299" name="Google Shape;299;p36"/>
          <p:cNvSpPr/>
          <p:nvPr/>
        </p:nvSpPr>
        <p:spPr>
          <a:xfrm>
            <a:off x="480073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High usability with minimal interaction</a:t>
            </a:r>
            <a:endParaRPr sz="1100"/>
          </a:p>
        </p:txBody>
      </p:sp>
      <p:sp>
        <p:nvSpPr>
          <p:cNvPr id="300" name="Google Shape;300;p36"/>
          <p:cNvSpPr/>
          <p:nvPr/>
        </p:nvSpPr>
        <p:spPr>
          <a:xfrm>
            <a:off x="2263200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301" name="Google Shape;301;p36"/>
          <p:cNvSpPr/>
          <p:nvPr/>
        </p:nvSpPr>
        <p:spPr>
          <a:xfrm>
            <a:off x="4800728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Accessibility-first UI (large buttons, contrast)</a:t>
            </a:r>
            <a:endParaRPr sz="1100"/>
          </a:p>
        </p:txBody>
      </p:sp>
      <p:sp>
        <p:nvSpPr>
          <p:cNvPr id="302" name="Google Shape;302;p36"/>
          <p:cNvSpPr/>
          <p:nvPr/>
        </p:nvSpPr>
        <p:spPr>
          <a:xfrm>
            <a:off x="6583856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303" name="Google Shape;303;p36"/>
          <p:cNvSpPr/>
          <p:nvPr/>
        </p:nvSpPr>
        <p:spPr>
          <a:xfrm>
            <a:off x="480073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Offline-first operation</a:t>
            </a:r>
            <a:endParaRPr sz="1100"/>
          </a:p>
        </p:txBody>
      </p:sp>
      <p:sp>
        <p:nvSpPr>
          <p:cNvPr id="304" name="Google Shape;304;p36"/>
          <p:cNvSpPr/>
          <p:nvPr/>
        </p:nvSpPr>
        <p:spPr>
          <a:xfrm>
            <a:off x="2263200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305" name="Google Shape;305;p36"/>
          <p:cNvSpPr/>
          <p:nvPr/>
        </p:nvSpPr>
        <p:spPr>
          <a:xfrm>
            <a:off x="4800728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Secure and privacy-focused data handling</a:t>
            </a:r>
            <a:endParaRPr sz="1100"/>
          </a:p>
        </p:txBody>
      </p:sp>
      <p:sp>
        <p:nvSpPr>
          <p:cNvPr id="306" name="Google Shape;306;p36"/>
          <p:cNvSpPr/>
          <p:nvPr/>
        </p:nvSpPr>
        <p:spPr>
          <a:xfrm>
            <a:off x="6583856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100"/>
          </a:p>
        </p:txBody>
      </p:sp>
      <p:sp>
        <p:nvSpPr>
          <p:cNvPr id="307" name="Google Shape;307;p36"/>
          <p:cNvSpPr/>
          <p:nvPr/>
        </p:nvSpPr>
        <p:spPr>
          <a:xfrm>
            <a:off x="480073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Modular and scalable design</a:t>
            </a:r>
            <a:endParaRPr sz="1100"/>
          </a:p>
        </p:txBody>
      </p:sp>
      <p:sp>
        <p:nvSpPr>
          <p:cNvPr id="308" name="Google Shape;308;p36"/>
          <p:cNvSpPr/>
          <p:nvPr/>
        </p:nvSpPr>
        <p:spPr>
          <a:xfrm>
            <a:off x="2263200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100"/>
          </a:p>
        </p:txBody>
      </p:sp>
      <p:sp>
        <p:nvSpPr>
          <p:cNvPr id="309" name="Google Shape;309;p36"/>
          <p:cNvSpPr/>
          <p:nvPr/>
        </p:nvSpPr>
        <p:spPr>
          <a:xfrm>
            <a:off x="4800728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Timely reminders and emergency response</a:t>
            </a:r>
            <a:endParaRPr sz="1100"/>
          </a:p>
        </p:txBody>
      </p:sp>
      <p:sp>
        <p:nvSpPr>
          <p:cNvPr id="310" name="Google Shape;310;p36"/>
          <p:cNvSpPr/>
          <p:nvPr/>
        </p:nvSpPr>
        <p:spPr>
          <a:xfrm>
            <a:off x="6583856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16" name="Google Shape;316;p37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17" name="Google Shape;317;p37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Overview of Implementation</a:t>
            </a:r>
            <a:endParaRPr sz="1100"/>
          </a:p>
        </p:txBody>
      </p:sp>
      <p:sp>
        <p:nvSpPr>
          <p:cNvPr id="321" name="Google Shape;321;p37"/>
          <p:cNvSpPr/>
          <p:nvPr/>
        </p:nvSpPr>
        <p:spPr>
          <a:xfrm>
            <a:off x="480073" y="1028700"/>
            <a:ext cx="4114910" cy="48006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480073" y="1028700"/>
            <a:ext cx="4114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Input to the System</a:t>
            </a:r>
            <a:endParaRPr sz="1100"/>
          </a:p>
        </p:txBody>
      </p:sp>
      <p:sp>
        <p:nvSpPr>
          <p:cNvPr id="323" name="Google Shape;323;p37"/>
          <p:cNvSpPr/>
          <p:nvPr/>
        </p:nvSpPr>
        <p:spPr>
          <a:xfrm>
            <a:off x="4594982" y="1028700"/>
            <a:ext cx="4114910" cy="48006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4594982" y="1028700"/>
            <a:ext cx="4114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Output of the System:</a:t>
            </a:r>
            <a:endParaRPr sz="1100"/>
          </a:p>
        </p:txBody>
      </p:sp>
      <p:sp>
        <p:nvSpPr>
          <p:cNvPr id="325" name="Google Shape;325;p37"/>
          <p:cNvSpPr/>
          <p:nvPr/>
        </p:nvSpPr>
        <p:spPr>
          <a:xfrm>
            <a:off x="480073" y="1508760"/>
            <a:ext cx="411491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617236" y="1645920"/>
            <a:ext cx="390916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Medicine details (name, dosage, image, timing)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Shortcut &amp; Activity Module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contact details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 location for navigation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Activity preferences (water, walk reminders)</a:t>
            </a:r>
            <a:endParaRPr sz="1100"/>
          </a:p>
        </p:txBody>
      </p:sp>
      <p:sp>
        <p:nvSpPr>
          <p:cNvPr id="327" name="Google Shape;327;p37"/>
          <p:cNvSpPr/>
          <p:nvPr/>
        </p:nvSpPr>
        <p:spPr>
          <a:xfrm>
            <a:off x="4594982" y="1508760"/>
            <a:ext cx="411491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4732146" y="1645920"/>
            <a:ext cx="390916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Visual and voice-based reminders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calls and alerts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Activity completion summaries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Navigation routes to accessible locations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Logs and summaries for daily usage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34" name="Google Shape;334;p3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35" name="Google Shape;335;p3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Module Diagram / Workflow</a:t>
            </a:r>
            <a:endParaRPr sz="1100"/>
          </a:p>
        </p:txBody>
      </p:sp>
      <p:sp>
        <p:nvSpPr>
          <p:cNvPr id="339" name="Google Shape;339;p38"/>
          <p:cNvSpPr txBox="1"/>
          <p:nvPr/>
        </p:nvSpPr>
        <p:spPr>
          <a:xfrm>
            <a:off x="274327" y="75438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Major Modules:</a:t>
            </a:r>
            <a:endParaRPr sz="1100"/>
          </a:p>
        </p:txBody>
      </p:sp>
      <p:sp>
        <p:nvSpPr>
          <p:cNvPr id="340" name="Google Shape;340;p38"/>
          <p:cNvSpPr/>
          <p:nvPr/>
        </p:nvSpPr>
        <p:spPr>
          <a:xfrm>
            <a:off x="274327" y="1165860"/>
            <a:ext cx="2743273" cy="54864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274327" y="1165860"/>
            <a:ext cx="27432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Medicine Reminder Module</a:t>
            </a:r>
            <a:endParaRPr sz="1100"/>
          </a:p>
        </p:txBody>
      </p:sp>
      <p:sp>
        <p:nvSpPr>
          <p:cNvPr id="342" name="Google Shape;342;p38"/>
          <p:cNvSpPr/>
          <p:nvPr/>
        </p:nvSpPr>
        <p:spPr>
          <a:xfrm>
            <a:off x="3223346" y="1165860"/>
            <a:ext cx="2743273" cy="54864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3223346" y="1165860"/>
            <a:ext cx="27432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Shortcut &amp; Activity Module</a:t>
            </a:r>
            <a:endParaRPr sz="1100"/>
          </a:p>
        </p:txBody>
      </p:sp>
      <p:sp>
        <p:nvSpPr>
          <p:cNvPr id="344" name="Google Shape;344;p38"/>
          <p:cNvSpPr/>
          <p:nvPr/>
        </p:nvSpPr>
        <p:spPr>
          <a:xfrm>
            <a:off x="6172365" y="1165860"/>
            <a:ext cx="2743273" cy="54864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6172365" y="1165860"/>
            <a:ext cx="27432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Emergency SOS Module</a:t>
            </a:r>
            <a:endParaRPr sz="1100"/>
          </a:p>
        </p:txBody>
      </p:sp>
      <p:sp>
        <p:nvSpPr>
          <p:cNvPr id="346" name="Google Shape;346;p38"/>
          <p:cNvSpPr/>
          <p:nvPr/>
        </p:nvSpPr>
        <p:spPr>
          <a:xfrm>
            <a:off x="1371637" y="1851660"/>
            <a:ext cx="2949019" cy="54864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1371637" y="1851660"/>
            <a:ext cx="29490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Daily Activity &amp; Hydration Module</a:t>
            </a:r>
            <a:endParaRPr sz="1100"/>
          </a:p>
        </p:txBody>
      </p:sp>
      <p:sp>
        <p:nvSpPr>
          <p:cNvPr id="348" name="Google Shape;348;p38"/>
          <p:cNvSpPr/>
          <p:nvPr/>
        </p:nvSpPr>
        <p:spPr>
          <a:xfrm>
            <a:off x="4526401" y="1851660"/>
            <a:ext cx="2949019" cy="54864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4526401" y="1851660"/>
            <a:ext cx="29490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Wheelchair-Friendly Navigation Module</a:t>
            </a:r>
            <a:endParaRPr sz="1100"/>
          </a:p>
        </p:txBody>
      </p:sp>
      <p:sp>
        <p:nvSpPr>
          <p:cNvPr id="350" name="Google Shape;350;p38"/>
          <p:cNvSpPr txBox="1"/>
          <p:nvPr/>
        </p:nvSpPr>
        <p:spPr>
          <a:xfrm>
            <a:off x="274327" y="267462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Workflow:</a:t>
            </a:r>
            <a:endParaRPr sz="1100"/>
          </a:p>
        </p:txBody>
      </p:sp>
      <p:sp>
        <p:nvSpPr>
          <p:cNvPr id="351" name="Google Shape;351;p38"/>
          <p:cNvSpPr/>
          <p:nvPr/>
        </p:nvSpPr>
        <p:spPr>
          <a:xfrm>
            <a:off x="274327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F1B7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sz="1100"/>
          </a:p>
        </p:txBody>
      </p:sp>
      <p:sp>
        <p:nvSpPr>
          <p:cNvPr id="352" name="Google Shape;352;p38"/>
          <p:cNvSpPr/>
          <p:nvPr/>
        </p:nvSpPr>
        <p:spPr>
          <a:xfrm>
            <a:off x="2400364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E26F7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Assistive Platform</a:t>
            </a:r>
            <a:endParaRPr sz="1100"/>
          </a:p>
        </p:txBody>
      </p:sp>
      <p:sp>
        <p:nvSpPr>
          <p:cNvPr id="353" name="Google Shape;353;p38"/>
          <p:cNvSpPr/>
          <p:nvPr/>
        </p:nvSpPr>
        <p:spPr>
          <a:xfrm>
            <a:off x="4526401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C433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Processing</a:t>
            </a:r>
            <a:endParaRPr sz="1100"/>
          </a:p>
        </p:txBody>
      </p:sp>
      <p:sp>
        <p:nvSpPr>
          <p:cNvPr id="354" name="Google Shape;354;p38"/>
          <p:cNvSpPr/>
          <p:nvPr/>
        </p:nvSpPr>
        <p:spPr>
          <a:xfrm>
            <a:off x="6652437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6E10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 Output</a:t>
            </a:r>
            <a:endParaRPr sz="1100"/>
          </a:p>
        </p:txBody>
      </p:sp>
      <p:sp>
        <p:nvSpPr>
          <p:cNvPr id="355" name="Google Shape;355;p38"/>
          <p:cNvSpPr txBox="1"/>
          <p:nvPr/>
        </p:nvSpPr>
        <p:spPr>
          <a:xfrm>
            <a:off x="0" y="4320540"/>
            <a:ext cx="9144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Diagram 1.1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61" name="Google Shape;361;p39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62" name="Google Shape;362;p39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 Set Description</a:t>
            </a:r>
            <a:endParaRPr sz="1100"/>
          </a:p>
        </p:txBody>
      </p:sp>
      <p:sp>
        <p:nvSpPr>
          <p:cNvPr id="366" name="Google Shape;366;p39"/>
          <p:cNvSpPr txBox="1"/>
          <p:nvPr/>
        </p:nvSpPr>
        <p:spPr>
          <a:xfrm>
            <a:off x="480073" y="82296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 used includes:</a:t>
            </a:r>
            <a:endParaRPr sz="1100"/>
          </a:p>
        </p:txBody>
      </p:sp>
      <p:sp>
        <p:nvSpPr>
          <p:cNvPr id="367" name="Google Shape;367;p39"/>
          <p:cNvSpPr txBox="1"/>
          <p:nvPr/>
        </p:nvSpPr>
        <p:spPr>
          <a:xfrm>
            <a:off x="685818" y="1200150"/>
            <a:ext cx="7544001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User-entered medicine schedules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Reminder logs (taken / skipped)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contact information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Location data for wheelchair-friendly navigation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large external datasets are required</a:t>
            </a:r>
            <a:endParaRPr sz="1100"/>
          </a:p>
        </p:txBody>
      </p:sp>
      <p:sp>
        <p:nvSpPr>
          <p:cNvPr id="368" name="Google Shape;368;p39"/>
          <p:cNvSpPr txBox="1"/>
          <p:nvPr/>
        </p:nvSpPr>
        <p:spPr>
          <a:xfrm>
            <a:off x="480073" y="301752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All data is:</a:t>
            </a:r>
            <a:endParaRPr sz="1100"/>
          </a:p>
        </p:txBody>
      </p:sp>
      <p:sp>
        <p:nvSpPr>
          <p:cNvPr id="369" name="Google Shape;369;p39"/>
          <p:cNvSpPr txBox="1"/>
          <p:nvPr/>
        </p:nvSpPr>
        <p:spPr>
          <a:xfrm>
            <a:off x="685818" y="3394710"/>
            <a:ext cx="754400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Stored locally on the device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Used only for application functionality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shared without user permission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75" name="Google Shape;375;p40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76" name="Google Shape;376;p40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0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0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0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380" name="Google Shape;380;p40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100"/>
          </a:p>
        </p:txBody>
      </p:sp>
      <p:pic>
        <p:nvPicPr>
          <p:cNvPr descr="image1.png" id="381" name="Google Shape;38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454" y="1165860"/>
            <a:ext cx="956416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.png" id="382" name="Google Shape;38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060" y="1165860"/>
            <a:ext cx="2476915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3.png" id="383" name="Google Shape;38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1205" y="1165860"/>
            <a:ext cx="911584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4.png" id="384" name="Google Shape;38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9978" y="1165860"/>
            <a:ext cx="927257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.png" id="385" name="Google Shape;38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4424" y="1165860"/>
            <a:ext cx="2856060" cy="197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91" name="Google Shape;391;p41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92" name="Google Shape;392;p41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1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1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1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396" name="Google Shape;396;p41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100"/>
          </a:p>
        </p:txBody>
      </p:sp>
      <p:pic>
        <p:nvPicPr>
          <p:cNvPr descr="image6.png" id="397" name="Google Shape;3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84" y="1165860"/>
            <a:ext cx="640863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7.png" id="398" name="Google Shape;39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128" y="1165860"/>
            <a:ext cx="667991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8.png" id="399" name="Google Shape;39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8300" y="1165860"/>
            <a:ext cx="2336784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png" id="400" name="Google Shape;400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42310" y="1165860"/>
            <a:ext cx="2286633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0.png" id="401" name="Google Shape;401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6168" y="1165860"/>
            <a:ext cx="2292701" cy="139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07" name="Google Shape;407;p42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08" name="Google Shape;408;p42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2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2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412" name="Google Shape;412;p42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image11.png" id="413" name="Google Shape;4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427" y="1165860"/>
            <a:ext cx="1478651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2.png" id="414" name="Google Shape;41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281" y="1165860"/>
            <a:ext cx="158196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3.png" id="415" name="Google Shape;41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8455" y="1165860"/>
            <a:ext cx="1479329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4.png" id="416" name="Google Shape;41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4988" y="1165860"/>
            <a:ext cx="1545559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22" name="Google Shape;422;p43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23" name="Google Shape;423;p43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3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3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427" name="Google Shape;427;p43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image15.png" id="428" name="Google Shape;4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67" y="1165860"/>
            <a:ext cx="153263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6.png" id="429" name="Google Shape;42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1210" y="1165860"/>
            <a:ext cx="1459313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7.png" id="430" name="Google Shape;43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7725" y="1165860"/>
            <a:ext cx="1476237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8.png" id="431" name="Google Shape;43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31165" y="1165860"/>
            <a:ext cx="15114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9.png" id="432" name="Google Shape;432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79797" y="1165860"/>
            <a:ext cx="1512809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38" name="Google Shape;438;p44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39" name="Google Shape;439;p44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4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4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43" name="Google Shape;443;p44"/>
          <p:cNvSpPr txBox="1"/>
          <p:nvPr/>
        </p:nvSpPr>
        <p:spPr>
          <a:xfrm>
            <a:off x="548655" y="1028700"/>
            <a:ext cx="452640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Sign-In with a</a:t>
            </a:r>
            <a:br>
              <a:rPr b="0" i="0" lang="en" sz="23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" sz="23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one-time connect code</a:t>
            </a:r>
            <a:endParaRPr sz="1100"/>
          </a:p>
        </p:txBody>
      </p:sp>
      <p:sp>
        <p:nvSpPr>
          <p:cNvPr id="444" name="Google Shape;444;p44"/>
          <p:cNvSpPr txBox="1"/>
          <p:nvPr/>
        </p:nvSpPr>
        <p:spPr>
          <a:xfrm>
            <a:off x="548655" y="2057400"/>
            <a:ext cx="4389237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Both users sign in with any Google account - no OTP, no hard-coded test numbers.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The guardian creates the elder's profile and gets a six-digit code.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Entering that code once on the elder's phone links the two accounts.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Each code works only once and expires after seven days.</a:t>
            </a:r>
            <a:endParaRPr sz="1100"/>
          </a:p>
        </p:txBody>
      </p:sp>
      <p:pic>
        <p:nvPicPr>
          <p:cNvPr descr="ui2.png" id="445" name="Google Shape;4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0801" y="891540"/>
            <a:ext cx="1666494" cy="370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.png" id="446" name="Google Shape;4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8219" y="891540"/>
            <a:ext cx="1666494" cy="370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52" name="Google Shape;452;p4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53" name="Google Shape;453;p4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5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57" name="Google Shape;457;p45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100"/>
          </a:p>
        </p:txBody>
      </p:sp>
      <p:pic>
        <p:nvPicPr>
          <p:cNvPr descr="ui3.png" id="458" name="Google Shape;4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792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4.png" id="459" name="Google Shape;45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23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5.png" id="460" name="Google Shape;46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9855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66" name="Google Shape;466;p4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67" name="Google Shape;467;p4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6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71" name="Google Shape;471;p46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ui6.png" id="472" name="Google Shape;47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792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7.png" id="473" name="Google Shape;47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23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8.png" id="474" name="Google Shape;47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9855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80" name="Google Shape;480;p47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81" name="Google Shape;481;p47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7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7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7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85" name="Google Shape;485;p47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ui9.png" id="486" name="Google Shape;4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792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0.png" id="487" name="Google Shape;4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23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1.png" id="488" name="Google Shape;48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9855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The CareCompanion project not only addresses significant societal needs but also stands as a robust demonstration of modern mobile application development.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Tackles a crucial social issue by enhancing the independence and safety of elderly and disabled users.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Prioritizes accessibility, safety, and intuitive ease of use, ensuring a positive user experience.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Showcases practical application of advanced Android development concepts and best practices.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Built with a modular architecture for future expansion, making it a suitable and impactful final-year engineering project.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9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05" name="Google Shape;505;p49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06" name="Google Shape;506;p49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9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9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100"/>
          </a:p>
        </p:txBody>
      </p:sp>
      <p:sp>
        <p:nvSpPr>
          <p:cNvPr id="510" name="Google Shape;510;p49"/>
          <p:cNvSpPr txBox="1"/>
          <p:nvPr/>
        </p:nvSpPr>
        <p:spPr>
          <a:xfrm>
            <a:off x="342909" y="788670"/>
            <a:ext cx="8435565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[1] E. Amouzadeh, M. N. A. Rashid, and R. Mohd, "Optimizing mobile app design for older adults: A systematic review of age-friendly design principles," Aging Clinical and Experimental Research, vol. 37, no. 1, pp. 1–18, 2025, doi: 10.1007/s40520-025-03157-7.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[2] M. Awan, A. M. Raza, and S. U. Khan, "Usability barriers for elderly users in smartphone app usage: An analytical hierarchical process-based prioritization," Scientific Programming, vol. 2021, pp. 1–14, 2021, doi: 10.1155/2021/5598523.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[3] S. Wickramathilaka, P. Gamage, and S. Perera, "Adaptive and accessible user interfaces for senior citizens using model-driven engineering," Automated Software Engineering, vol. 32, no. 1, pp. 1–25, 2025, doi: 10.1007/s10515-025-00547-z.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[4] J. Abascal and C. Nicolle, "Moving towards inclusive design guidelines for mobile applications for older adults," IEEE Computer, vol. 54, no. 3, pp. 62–70, Mar. 2021, doi: 10.1109/MC.2021.3051519.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[5] R. Pak and A. McLaughlin, "Designing displays and interfaces for older adults," IEEE Reviews in Biomedical Engineering, vol. 14, pp. 289–302, 2021, doi: 10.1109/RBME.2020.3042376.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[6] J. Zhou, M. Rau, and G. Salvendy, "Age-related differences in mobile phone usage and usability," IEEE Transactions on Human-Machine Systems, vol. 51, no. 4, pp. 364–375, Aug. 2021, doi: 10.1109/THMS.2021.3079275.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[7] A. Holzinger, G. Searle, and A. Nischelwitzer, "On some aspects of improving mobile applications for the elderly," IEEE Access, vol. 9, pp. 101734–101746, 2021, doi: 10.1109/ACCESS.2021.3097654.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16" name="Google Shape;516;p50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17" name="Google Shape;517;p50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0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0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0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100"/>
          </a:p>
        </p:txBody>
      </p:sp>
      <p:sp>
        <p:nvSpPr>
          <p:cNvPr id="521" name="Google Shape;521;p50"/>
          <p:cNvSpPr txBox="1"/>
          <p:nvPr/>
        </p:nvSpPr>
        <p:spPr>
          <a:xfrm>
            <a:off x="342909" y="788670"/>
            <a:ext cx="8435565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[8] L. Chen, Y. Zhang, and X. Wang, "Design and evaluation of an elderly-friendly mobile health application," IEEE Journal of Biomedical and Health Informatics, vol. 26, no. 6, pp. 2875–2884, Jun. 2022, doi: 10.1109/JBHI.2022.3147652.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[9] S. Park and J. Kim, "Factors affecting smartphone adoption and continued use among older adults," IEEE Access, vol. 10, pp. 21456–21467, 2022, doi: 10.1109/ACCESS.2022.3156784.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[10] M. Al-Mahmud, M. H. Mahmud, and S. M. S. Islam, "Assistive mobile applications for elderly healthcare: A systematic review," IEEE Access, vol. 11, pp. 10945–10960, 2023, doi: 10.1109/ACCESS.2023.3241987.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27" name="Google Shape;527;p51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28" name="Google Shape;528;p51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1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1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1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32" name="Google Shape;532;p51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Medisafe – Medication Reminder App</a:t>
            </a:r>
            <a:endParaRPr sz="1100"/>
          </a:p>
        </p:txBody>
      </p:sp>
      <p:sp>
        <p:nvSpPr>
          <p:cNvPr id="533" name="Google Shape;533;p51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 / iOS</a:t>
            </a:r>
            <a:endParaRPr sz="1100"/>
          </a:p>
        </p:txBody>
      </p:sp>
      <p:sp>
        <p:nvSpPr>
          <p:cNvPr id="534" name="Google Shape;534;p51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Medicine reminders</a:t>
            </a:r>
            <a:endParaRPr sz="1100"/>
          </a:p>
        </p:txBody>
      </p:sp>
      <p:sp>
        <p:nvSpPr>
          <p:cNvPr id="535" name="Google Shape;535;p51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36" name="Google Shape;536;p51"/>
          <p:cNvSpPr txBox="1"/>
          <p:nvPr/>
        </p:nvSpPr>
        <p:spPr>
          <a:xfrm>
            <a:off x="548655" y="1954530"/>
            <a:ext cx="788691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Time-based medicine reminders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Basic adherence tracking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Notification alerts</a:t>
            </a:r>
            <a:endParaRPr sz="1100"/>
          </a:p>
        </p:txBody>
      </p:sp>
      <p:sp>
        <p:nvSpPr>
          <p:cNvPr id="537" name="Google Shape;537;p51"/>
          <p:cNvSpPr txBox="1"/>
          <p:nvPr/>
        </p:nvSpPr>
        <p:spPr>
          <a:xfrm>
            <a:off x="342909" y="277749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38" name="Google Shape;538;p51"/>
          <p:cNvSpPr txBox="1"/>
          <p:nvPr/>
        </p:nvSpPr>
        <p:spPr>
          <a:xfrm>
            <a:off x="548655" y="3051810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Text-based reminders only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visual medicine identification (pill images)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caregiver-controlled configuration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emergency SOS integration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activity or hydration reminders</a:t>
            </a:r>
            <a:endParaRPr sz="1100"/>
          </a:p>
        </p:txBody>
      </p:sp>
      <p:sp>
        <p:nvSpPr>
          <p:cNvPr id="539" name="Google Shape;539;p51"/>
          <p:cNvSpPr txBox="1"/>
          <p:nvPr/>
        </p:nvSpPr>
        <p:spPr>
          <a:xfrm>
            <a:off x="342909" y="435483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Focuses only on medicine reminders, not holistic elderly care.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45" name="Google Shape;545;p52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46" name="Google Shape;546;p52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2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2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2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50" name="Google Shape;550;p52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MyTherapy – Pill Reminder &amp; Health Tracker</a:t>
            </a:r>
            <a:endParaRPr sz="1100"/>
          </a:p>
        </p:txBody>
      </p:sp>
      <p:sp>
        <p:nvSpPr>
          <p:cNvPr id="551" name="Google Shape;551;p52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 / iOS</a:t>
            </a:r>
            <a:endParaRPr sz="1100"/>
          </a:p>
        </p:txBody>
      </p:sp>
      <p:sp>
        <p:nvSpPr>
          <p:cNvPr id="552" name="Google Shape;552;p52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Medication and habit tracking</a:t>
            </a:r>
            <a:endParaRPr sz="1100"/>
          </a:p>
        </p:txBody>
      </p:sp>
      <p:sp>
        <p:nvSpPr>
          <p:cNvPr id="553" name="Google Shape;553;p52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54" name="Google Shape;554;p52"/>
          <p:cNvSpPr txBox="1"/>
          <p:nvPr/>
        </p:nvSpPr>
        <p:spPr>
          <a:xfrm>
            <a:off x="548655" y="1954530"/>
            <a:ext cx="788691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Pill reminders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Basic health tracking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Simple activity reminders</a:t>
            </a:r>
            <a:endParaRPr sz="1100"/>
          </a:p>
        </p:txBody>
      </p:sp>
      <p:sp>
        <p:nvSpPr>
          <p:cNvPr id="555" name="Google Shape;555;p52"/>
          <p:cNvSpPr txBox="1"/>
          <p:nvPr/>
        </p:nvSpPr>
        <p:spPr>
          <a:xfrm>
            <a:off x="342909" y="277749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56" name="Google Shape;556;p52"/>
          <p:cNvSpPr txBox="1"/>
          <p:nvPr/>
        </p:nvSpPr>
        <p:spPr>
          <a:xfrm>
            <a:off x="548655" y="3051810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Complex UI for elderly users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caregiver–elder role separation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visual shortcuts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features are missing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wheelchair navigation support</a:t>
            </a:r>
            <a:endParaRPr sz="1100"/>
          </a:p>
        </p:txBody>
      </p:sp>
      <p:sp>
        <p:nvSpPr>
          <p:cNvPr id="557" name="Google Shape;557;p52"/>
          <p:cNvSpPr txBox="1"/>
          <p:nvPr/>
        </p:nvSpPr>
        <p:spPr>
          <a:xfrm>
            <a:off x="342909" y="435483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Multi-feature app but not accessibility-first or caregiver-driven.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3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63" name="Google Shape;563;p53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64" name="Google Shape;564;p53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3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3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3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68" name="Google Shape;568;p53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Assistant</a:t>
            </a:r>
            <a:endParaRPr sz="1100"/>
          </a:p>
        </p:txBody>
      </p:sp>
      <p:sp>
        <p:nvSpPr>
          <p:cNvPr id="569" name="Google Shape;569;p53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100"/>
          </a:p>
        </p:txBody>
      </p:sp>
      <p:sp>
        <p:nvSpPr>
          <p:cNvPr id="570" name="Google Shape;570;p53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Voice-based digital assistant</a:t>
            </a:r>
            <a:endParaRPr sz="1100"/>
          </a:p>
        </p:txBody>
      </p:sp>
      <p:sp>
        <p:nvSpPr>
          <p:cNvPr id="571" name="Google Shape;571;p53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72" name="Google Shape;572;p53"/>
          <p:cNvSpPr txBox="1"/>
          <p:nvPr/>
        </p:nvSpPr>
        <p:spPr>
          <a:xfrm>
            <a:off x="548655" y="1954530"/>
            <a:ext cx="788691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Voice commands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Calling and app opening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General reminders</a:t>
            </a:r>
            <a:endParaRPr sz="1100"/>
          </a:p>
        </p:txBody>
      </p:sp>
      <p:sp>
        <p:nvSpPr>
          <p:cNvPr id="573" name="Google Shape;573;p53"/>
          <p:cNvSpPr txBox="1"/>
          <p:nvPr/>
        </p:nvSpPr>
        <p:spPr>
          <a:xfrm>
            <a:off x="342909" y="277749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74" name="Google Shape;574;p53"/>
          <p:cNvSpPr txBox="1"/>
          <p:nvPr/>
        </p:nvSpPr>
        <p:spPr>
          <a:xfrm>
            <a:off x="548655" y="3051810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designed specifically for elderly users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Requires learning voice commands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 monitoring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medicine visual confirmation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emergency-focused design</a:t>
            </a:r>
            <a:endParaRPr sz="1100"/>
          </a:p>
        </p:txBody>
      </p:sp>
      <p:sp>
        <p:nvSpPr>
          <p:cNvPr id="575" name="Google Shape;575;p53"/>
          <p:cNvSpPr txBox="1"/>
          <p:nvPr/>
        </p:nvSpPr>
        <p:spPr>
          <a:xfrm>
            <a:off x="342909" y="435483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Generic assistant, not an assistive care solution.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4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81" name="Google Shape;581;p54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82" name="Google Shape;582;p54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4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4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4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86" name="Google Shape;586;p54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Red Panic Button / SOS Emergency Apps</a:t>
            </a:r>
            <a:endParaRPr sz="1100"/>
          </a:p>
        </p:txBody>
      </p:sp>
      <p:sp>
        <p:nvSpPr>
          <p:cNvPr id="587" name="Google Shape;587;p54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100"/>
          </a:p>
        </p:txBody>
      </p:sp>
      <p:sp>
        <p:nvSpPr>
          <p:cNvPr id="588" name="Google Shape;588;p54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Emergency support</a:t>
            </a:r>
            <a:endParaRPr sz="1100"/>
          </a:p>
        </p:txBody>
      </p:sp>
      <p:sp>
        <p:nvSpPr>
          <p:cNvPr id="589" name="Google Shape;589;p54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90" name="Google Shape;590;p54"/>
          <p:cNvSpPr txBox="1"/>
          <p:nvPr/>
        </p:nvSpPr>
        <p:spPr>
          <a:xfrm>
            <a:off x="548655" y="195453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One-touch SOS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calling and SMS</a:t>
            </a:r>
            <a:endParaRPr sz="1100"/>
          </a:p>
        </p:txBody>
      </p:sp>
      <p:sp>
        <p:nvSpPr>
          <p:cNvPr id="591" name="Google Shape;591;p54"/>
          <p:cNvSpPr txBox="1"/>
          <p:nvPr/>
        </p:nvSpPr>
        <p:spPr>
          <a:xfrm>
            <a:off x="342909" y="2537459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92" name="Google Shape;592;p54"/>
          <p:cNvSpPr txBox="1"/>
          <p:nvPr/>
        </p:nvSpPr>
        <p:spPr>
          <a:xfrm>
            <a:off x="548655" y="2811779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Standalone emergency functionality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routine tracking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medicine or health reminders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 dashboard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accessibility customization</a:t>
            </a:r>
            <a:endParaRPr sz="1100"/>
          </a:p>
        </p:txBody>
      </p:sp>
      <p:sp>
        <p:nvSpPr>
          <p:cNvPr id="593" name="Google Shape;593;p54"/>
          <p:cNvSpPr txBox="1"/>
          <p:nvPr/>
        </p:nvSpPr>
        <p:spPr>
          <a:xfrm>
            <a:off x="342909" y="411480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Effective for emergencies but isolated from daily care routines.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99" name="Google Shape;599;p5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600" name="Google Shape;600;p5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5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604" name="Google Shape;604;p55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Maps</a:t>
            </a:r>
            <a:endParaRPr sz="1100"/>
          </a:p>
        </p:txBody>
      </p:sp>
      <p:sp>
        <p:nvSpPr>
          <p:cNvPr id="605" name="Google Shape;605;p55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100"/>
          </a:p>
        </p:txBody>
      </p:sp>
      <p:sp>
        <p:nvSpPr>
          <p:cNvPr id="606" name="Google Shape;606;p55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Navigation</a:t>
            </a:r>
            <a:endParaRPr sz="1100"/>
          </a:p>
        </p:txBody>
      </p:sp>
      <p:sp>
        <p:nvSpPr>
          <p:cNvPr id="607" name="Google Shape;607;p55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608" name="Google Shape;608;p55"/>
          <p:cNvSpPr txBox="1"/>
          <p:nvPr/>
        </p:nvSpPr>
        <p:spPr>
          <a:xfrm>
            <a:off x="548655" y="195453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Location-based navigation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Route planning</a:t>
            </a:r>
            <a:endParaRPr sz="1100"/>
          </a:p>
        </p:txBody>
      </p:sp>
      <p:sp>
        <p:nvSpPr>
          <p:cNvPr id="609" name="Google Shape;609;p55"/>
          <p:cNvSpPr txBox="1"/>
          <p:nvPr/>
        </p:nvSpPr>
        <p:spPr>
          <a:xfrm>
            <a:off x="342909" y="2537459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610" name="Google Shape;610;p55"/>
          <p:cNvSpPr txBox="1"/>
          <p:nvPr/>
        </p:nvSpPr>
        <p:spPr>
          <a:xfrm>
            <a:off x="548655" y="2811779"/>
            <a:ext cx="78869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Does not reliably indicate wheelchair accessibility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accessibility tagging by caregivers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integrated with elderly assistive workflows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Requires multiple steps and user interaction</a:t>
            </a:r>
            <a:endParaRPr sz="1100"/>
          </a:p>
        </p:txBody>
      </p:sp>
      <p:sp>
        <p:nvSpPr>
          <p:cNvPr id="611" name="Google Shape;611;p55"/>
          <p:cNvSpPr txBox="1"/>
          <p:nvPr/>
        </p:nvSpPr>
        <p:spPr>
          <a:xfrm>
            <a:off x="342909" y="387477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General navigation app, not designed for disabled accessibility support.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617" name="Google Shape;617;p5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618" name="Google Shape;618;p5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6"/>
          <p:cNvSpPr txBox="1"/>
          <p:nvPr/>
        </p:nvSpPr>
        <p:spPr>
          <a:xfrm>
            <a:off x="0" y="1920240"/>
            <a:ext cx="91440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