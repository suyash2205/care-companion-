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9"/>
    <p:sldId id="257" r:id="rId8"/>
    <p:sldId id="258" r:id="rId7"/>
    <p:sldId id="259" r:id="rId6"/>
    <p:sldId id="260" r:id="rId5"/>
    <p:sldId id="261" r:id="rId4"/>
    <p:sldId id="262" r:id="rId3"/>
    <p:sldId id="263" r:id="rId2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arcellus" panose="020B0604020202020204" charset="0"/>
      <p:regular r:id="rId15"/>
    </p:embeddedFont>
    <p:embeddedFont>
      <p:font typeface="Fira Sans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oJhWYU73jGqpePY36uknbuIJF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C42F0A8C-1AB1-43D6-BED5-D7B6EA3BAF06}">
  <a:tblStyle styleId="{C42F0A8C-1AB1-43D6-BED5-D7B6EA3BAF0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62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customschemas.google.com/relationships/presentationmetadata" Target="meta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Relationship Id="rId48" Type="http://schemas.openxmlformats.org/officeDocument/2006/relationships/slide" Target="slides/slide32.xml"/><Relationship Id="rId49" Type="http://schemas.openxmlformats.org/officeDocument/2006/relationships/slide" Target="slides/slide33.xml"/><Relationship Id="rId50" Type="http://schemas.openxmlformats.org/officeDocument/2006/relationships/slide" Target="slides/slide34.xml"/><Relationship Id="rId51" Type="http://schemas.openxmlformats.org/officeDocument/2006/relationships/slide" Target="slides/slide35.xml"/><Relationship Id="rId52" Type="http://schemas.openxmlformats.org/officeDocument/2006/relationships/slide" Target="slides/slide36.xml"/><Relationship Id="rId53" Type="http://schemas.openxmlformats.org/officeDocument/2006/relationships/slide" Target="slides/slide37.xml"/><Relationship Id="rId54" Type="http://schemas.openxmlformats.org/officeDocument/2006/relationships/slide" Target="slides/slide38.xml"/><Relationship Id="rId55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24425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3200"/>
              <a:buFont typeface="Marcellus"/>
              <a:buNone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0" y="5680472"/>
            <a:ext cx="838200" cy="1190779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6000"/>
              <a:buFont typeface="Marcellus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838200" y="866274"/>
            <a:ext cx="10515600" cy="82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2530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D4D4C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838200" y="5843197"/>
            <a:ext cx="274320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4038600" y="5843197"/>
            <a:ext cx="4114800" cy="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0169610" y="5862996"/>
            <a:ext cx="2016210" cy="496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3F3F3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/>
          <p:nvPr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"/>
          <p:cNvSpPr/>
          <p:nvPr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"/>
          <p:cNvSpPr/>
          <p:nvPr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" name="Google Shape;9;p4" descr="Graphical user interface, text, application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018520" y="387803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Picture 3" descr="C:\Users\ISLAB\Downloads\KJSCE\K J Somaiya College of Engineering.pn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87803"/>
            <a:ext cx="19812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4" name="Google Shape;134;p25"/>
          <p:cNvSpPr txBox="1"/>
          <p:nvPr/>
        </p:nvSpPr>
        <p:spPr>
          <a:xfrm>
            <a:off x="640097" y="2194560"/>
            <a:ext cx="1005866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2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CareCompanion</a:t>
            </a:r>
            <a:endParaRPr sz="1466"/>
          </a:p>
        </p:txBody>
      </p:sp>
      <p:sp>
        <p:nvSpPr>
          <p:cNvPr id="135" name="Google Shape;135;p25"/>
          <p:cNvSpPr txBox="1"/>
          <p:nvPr/>
        </p:nvSpPr>
        <p:spPr>
          <a:xfrm>
            <a:off x="640097" y="3474720"/>
            <a:ext cx="100586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8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Assistive Companion Mobile Application for Elderly and Disabled Users</a:t>
            </a:r>
            <a:endParaRPr sz="1466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5" name="Google Shape;145;p26"/>
          <p:cNvSpPr txBox="1"/>
          <p:nvPr/>
        </p:nvSpPr>
        <p:spPr>
          <a:xfrm>
            <a:off x="0" y="1371600"/>
            <a:ext cx="121920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2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Group ID - 6</a:t>
            </a:r>
            <a:endParaRPr sz="1466"/>
          </a:p>
        </p:txBody>
      </p:sp>
      <p:sp>
        <p:nvSpPr>
          <p:cNvPr id="146" name="Google Shape;146;p26"/>
          <p:cNvSpPr txBox="1"/>
          <p:nvPr/>
        </p:nvSpPr>
        <p:spPr>
          <a:xfrm>
            <a:off x="0" y="2011680"/>
            <a:ext cx="121920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6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Devanshi Pandey  16014023016  EXCP</a:t>
            </a:r>
            <a:endParaRPr sz="1466"/>
          </a:p>
        </p:txBody>
      </p:sp>
      <p:sp>
        <p:nvSpPr>
          <p:cNvPr id="147" name="Google Shape;147;p26"/>
          <p:cNvSpPr txBox="1"/>
          <p:nvPr/>
        </p:nvSpPr>
        <p:spPr>
          <a:xfrm>
            <a:off x="0" y="2514600"/>
            <a:ext cx="121920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6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Suyash Humne    16014223085  AIDS</a:t>
            </a:r>
            <a:endParaRPr sz="1466"/>
          </a:p>
        </p:txBody>
      </p:sp>
      <p:sp>
        <p:nvSpPr>
          <p:cNvPr id="148" name="Google Shape;148;p26"/>
          <p:cNvSpPr txBox="1"/>
          <p:nvPr/>
        </p:nvSpPr>
        <p:spPr>
          <a:xfrm>
            <a:off x="0" y="3017520"/>
            <a:ext cx="121920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6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Deon Menezes    16014223030  AIDS</a:t>
            </a:r>
            <a:endParaRPr sz="1466"/>
          </a:p>
        </p:txBody>
      </p:sp>
      <p:sp>
        <p:nvSpPr>
          <p:cNvPr id="149" name="Google Shape;149;p26"/>
          <p:cNvSpPr txBox="1"/>
          <p:nvPr/>
        </p:nvSpPr>
        <p:spPr>
          <a:xfrm>
            <a:off x="1097309" y="4023360"/>
            <a:ext cx="100586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Project Guide:  Sonali Wankhede  (IT/AIDS)</a:t>
            </a:r>
            <a:endParaRPr sz="1466"/>
          </a:p>
        </p:txBody>
      </p:sp>
      <p:sp>
        <p:nvSpPr>
          <p:cNvPr id="150" name="Google Shape;150;p26"/>
          <p:cNvSpPr txBox="1"/>
          <p:nvPr/>
        </p:nvSpPr>
        <p:spPr>
          <a:xfrm>
            <a:off x="1097309" y="4526280"/>
            <a:ext cx="100586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Project Co-Guide:  Balwant Kumar Singh  (EXCP)</a:t>
            </a:r>
            <a:endParaRPr sz="146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0" name="Google Shape;160;p27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Introduction / Background</a:t>
            </a:r>
            <a:endParaRPr sz="1466"/>
          </a:p>
        </p:txBody>
      </p:sp>
      <p:sp>
        <p:nvSpPr>
          <p:cNvPr id="161" name="Google Shape;161;p27"/>
          <p:cNvSpPr txBox="1"/>
          <p:nvPr/>
        </p:nvSpPr>
        <p:spPr>
          <a:xfrm>
            <a:off x="1463078" y="1371600"/>
            <a:ext cx="91442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Elderly and disabled individuals face difficulty:</a:t>
            </a:r>
            <a:endParaRPr sz="1466"/>
          </a:p>
        </p:txBody>
      </p:sp>
      <p:sp>
        <p:nvSpPr>
          <p:cNvPr id="162" name="Google Shape;162;p27"/>
          <p:cNvSpPr txBox="1"/>
          <p:nvPr/>
        </p:nvSpPr>
        <p:spPr>
          <a:xfrm>
            <a:off x="2194618" y="1874518"/>
            <a:ext cx="8687032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Remembering daily medicines</a:t>
            </a:r>
            <a:endParaRPr sz="1466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Maintaining regular activity and hydration</a:t>
            </a:r>
            <a:endParaRPr sz="1466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Accessing help during emergencies</a:t>
            </a:r>
            <a:endParaRPr sz="1466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Finding wheelchair-friendly locations</a:t>
            </a:r>
            <a:endParaRPr sz="1466"/>
          </a:p>
        </p:txBody>
      </p:sp>
      <p:sp>
        <p:nvSpPr>
          <p:cNvPr id="163" name="Google Shape;163;p27"/>
          <p:cNvSpPr txBox="1"/>
          <p:nvPr/>
        </p:nvSpPr>
        <p:spPr>
          <a:xfrm>
            <a:off x="0" y="4297680"/>
            <a:ext cx="121920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Caregivers cannot monitor continuously</a:t>
            </a:r>
            <a:endParaRPr sz="1466"/>
          </a:p>
        </p:txBody>
      </p:sp>
      <p:sp>
        <p:nvSpPr>
          <p:cNvPr id="164" name="Google Shape;164;p27"/>
          <p:cNvSpPr txBox="1"/>
          <p:nvPr/>
        </p:nvSpPr>
        <p:spPr>
          <a:xfrm>
            <a:off x="0" y="4937760"/>
            <a:ext cx="121920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Hence there is a need for a simple, accessible, integrated solution</a:t>
            </a:r>
            <a:endParaRPr sz="1466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4" name="Google Shape;174;p28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sz="1466"/>
          </a:p>
        </p:txBody>
      </p:sp>
      <p:sp>
        <p:nvSpPr>
          <p:cNvPr id="175" name="Google Shape;175;p28"/>
          <p:cNvSpPr txBox="1"/>
          <p:nvPr/>
        </p:nvSpPr>
        <p:spPr>
          <a:xfrm>
            <a:off x="914424" y="1280160"/>
            <a:ext cx="10515880" cy="48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Elderly and disabled users face difficulty managing daily healthcare tasks such as medicines and activities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Challenges include remembering medicines, maintaining hydration, and accessing emergency help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Existing mobile applications solve these problems individually, not in an integrated manner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Most apps are not designed with accessibility as a priority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Users struggle with small text, complex navigation, and lack of voice/visual assistance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Hence, there is a need for a simple, accessible, and unified assistive mobile solution</a:t>
            </a:r>
            <a:endParaRPr sz="1466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5" name="Google Shape;185;p29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Objectives of the Project</a:t>
            </a:r>
            <a:endParaRPr sz="1466"/>
          </a:p>
        </p:txBody>
      </p:sp>
      <p:sp>
        <p:nvSpPr>
          <p:cNvPr id="186" name="Google Shape;186;p29"/>
          <p:cNvSpPr txBox="1"/>
          <p:nvPr/>
        </p:nvSpPr>
        <p:spPr>
          <a:xfrm>
            <a:off x="2286061" y="1554480"/>
            <a:ext cx="822982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Develop assistive Android application</a:t>
            </a:r>
            <a:endParaRPr sz="1466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Provide medicine &amp; activity reminders</a:t>
            </a:r>
            <a:endParaRPr sz="1466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Enable caregiver monitoring</a:t>
            </a:r>
            <a:endParaRPr sz="1466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Implement emergency SOS</a:t>
            </a:r>
            <a:endParaRPr sz="1466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Maintain health vitals records</a:t>
            </a:r>
            <a:endParaRPr sz="1466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Ensure accessibility-first UI</a:t>
            </a:r>
            <a:endParaRPr sz="146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6" name="Google Shape;196;p30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Objectives of the Project</a:t>
            </a:r>
            <a:endParaRPr sz="1466"/>
          </a:p>
        </p:txBody>
      </p:sp>
      <p:sp>
        <p:nvSpPr>
          <p:cNvPr id="197" name="Google Shape;197;p30"/>
          <p:cNvSpPr txBox="1"/>
          <p:nvPr/>
        </p:nvSpPr>
        <p:spPr>
          <a:xfrm>
            <a:off x="1828849" y="1097280"/>
            <a:ext cx="91442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CareCompanion is an Android-based assistive application that:</a:t>
            </a:r>
            <a:endParaRPr sz="1466"/>
          </a:p>
        </p:txBody>
      </p:sp>
      <p:sp>
        <p:nvSpPr>
          <p:cNvPr id="198" name="Google Shape;198;p30"/>
          <p:cNvSpPr txBox="1"/>
          <p:nvPr/>
        </p:nvSpPr>
        <p:spPr>
          <a:xfrm>
            <a:off x="1371636" y="1828800"/>
            <a:ext cx="548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1.</a:t>
            </a:r>
            <a:endParaRPr sz="1466"/>
          </a:p>
        </p:txBody>
      </p:sp>
      <p:sp>
        <p:nvSpPr>
          <p:cNvPr id="199" name="Google Shape;199;p30"/>
          <p:cNvSpPr/>
          <p:nvPr/>
        </p:nvSpPr>
        <p:spPr>
          <a:xfrm>
            <a:off x="2011733" y="1828800"/>
            <a:ext cx="8961358" cy="68580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Integrates multiple assistive features into one app.</a:t>
            </a:r>
            <a:endParaRPr sz="1466"/>
          </a:p>
        </p:txBody>
      </p:sp>
      <p:sp>
        <p:nvSpPr>
          <p:cNvPr id="200" name="Google Shape;200;p30"/>
          <p:cNvSpPr txBox="1"/>
          <p:nvPr/>
        </p:nvSpPr>
        <p:spPr>
          <a:xfrm>
            <a:off x="1371636" y="2788920"/>
            <a:ext cx="548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2.</a:t>
            </a:r>
            <a:endParaRPr sz="1466"/>
          </a:p>
        </p:txBody>
      </p:sp>
      <p:sp>
        <p:nvSpPr>
          <p:cNvPr id="201" name="Google Shape;201;p30"/>
          <p:cNvSpPr/>
          <p:nvPr/>
        </p:nvSpPr>
        <p:spPr>
          <a:xfrm>
            <a:off x="2011733" y="2788920"/>
            <a:ext cx="8961358" cy="68580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Uses visual cues, voice assistance, reminders, and safety mechanisms.</a:t>
            </a:r>
            <a:endParaRPr sz="1466"/>
          </a:p>
        </p:txBody>
      </p:sp>
      <p:sp>
        <p:nvSpPr>
          <p:cNvPr id="202" name="Google Shape;202;p30"/>
          <p:cNvSpPr txBox="1"/>
          <p:nvPr/>
        </p:nvSpPr>
        <p:spPr>
          <a:xfrm>
            <a:off x="1371636" y="3749038"/>
            <a:ext cx="548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3.</a:t>
            </a:r>
            <a:endParaRPr sz="1466"/>
          </a:p>
        </p:txBody>
      </p:sp>
      <p:sp>
        <p:nvSpPr>
          <p:cNvPr id="203" name="Google Shape;203;p30"/>
          <p:cNvSpPr/>
          <p:nvPr/>
        </p:nvSpPr>
        <p:spPr>
          <a:xfrm>
            <a:off x="2011733" y="3749038"/>
            <a:ext cx="8961358" cy="68580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designed with elderly and disabled users as the primary focus.</a:t>
            </a:r>
            <a:endParaRPr sz="1466"/>
          </a:p>
        </p:txBody>
      </p:sp>
      <p:sp>
        <p:nvSpPr>
          <p:cNvPr id="204" name="Google Shape;204;p30"/>
          <p:cNvSpPr txBox="1"/>
          <p:nvPr/>
        </p:nvSpPr>
        <p:spPr>
          <a:xfrm>
            <a:off x="1371636" y="4709160"/>
            <a:ext cx="5486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4.</a:t>
            </a:r>
            <a:endParaRPr sz="1466"/>
          </a:p>
        </p:txBody>
      </p:sp>
      <p:sp>
        <p:nvSpPr>
          <p:cNvPr id="205" name="Google Shape;205;p30"/>
          <p:cNvSpPr/>
          <p:nvPr/>
        </p:nvSpPr>
        <p:spPr>
          <a:xfrm>
            <a:off x="2011733" y="4709160"/>
            <a:ext cx="8961358" cy="685800"/>
          </a:xfrm>
          <a:prstGeom prst="roundRect">
            <a:avLst>
              <a:gd fmla="val 16667" name="adj"/>
            </a:avLst>
          </a:prstGeom>
          <a:solidFill>
            <a:srgbClr val="9B1C2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Follows a modular architecture for scalability and maintainability.</a:t>
            </a:r>
            <a:endParaRPr sz="1466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5" name="Google Shape;215;p31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Literature Review</a:t>
            </a:r>
            <a:endParaRPr sz="1466"/>
          </a:p>
        </p:txBody>
      </p:sp>
      <p:graphicFrame>
        <p:nvGraphicFramePr>
          <p:cNvPr id="216" name="Google Shape;216;p31"/>
          <p:cNvGraphicFramePr/>
          <p:nvPr/>
        </p:nvGraphicFramePr>
        <p:xfrm>
          <a:off x="274326" y="1078992"/>
          <a:ext cx="4000000" cy="4000000"/>
        </p:xfrm>
        <a:graphic>
          <a:graphicData uri="http://schemas.openxmlformats.org/drawingml/2006/table">
            <a:tbl>
              <a:tblPr bandRow="1" firstRow="1">
                <a:noFill/>
                <a:tableStyleId>{C42F0A8C-1AB1-43D6-BED5-D7B6EA3BAF06}</a:tableStyleId>
              </a:tblPr>
              <a:tblGrid>
                <a:gridCol w="1828833"/>
                <a:gridCol w="2377500"/>
                <a:gridCol w="3749133"/>
                <a:gridCol w="3749133"/>
              </a:tblGrid>
              <a:tr h="7445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Proposed Solution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Gap Identified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9B1C2E"/>
                    </a:solidFill>
                  </a:tcPr>
                </a:tc>
              </a:tr>
              <a:tr h="7445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 Amouzadeh et al. (2025)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Optimizing Mobile App Design for Older Adults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Identified age-friendly UI principles such as large icons, simplified navigation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Lacks a unified, real-world mobile app combining reminders, emergency support, and caregiver control in one system.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7445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M. Awan et al. (2021)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Usability Barriers for Elderly Users in Smartphone App Usage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Prioritized major usability barriers — small text, complex interfaces, lack of intuitive navigation.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propose a complete assistive mobile solution or caregiver-controlled system.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</a:tr>
              <a:tr h="7445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J. Abascal and C. Nicolle (2021)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Moving Towards Inclusive Design Guidelines for Mobile Apps for Older Adults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Inclusive design guidelines: accessibility, simplified interactions, adaptive interfaces.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Guidelines are theoretical and lack validation through a practical healthcare-oriented mobile application.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7445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A. Holzinger et al. (2021)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 Improving Mobile Applications for the Elderly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interfaces, reduced interaction steps, context-aware assistance.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address healthcare tasks such as medicine adherence, emergency alerts, or caregiver monitoring.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</a:tr>
              <a:tr h="7445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L. Chen et al. (2022)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 and Evaluation of an Elderly-Friendly Mobile Health Application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 health app focusing on health monitoring and basic reminders for elderly users.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 caregiver involvement; lacks features like SOS emergency support, wheelchair assistance, and configurable shortcuts.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74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S. Wickramathilaka et al. (2025)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and Accessible UIs for Senior Citizens via Model-Driven Engineering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UI generation techniques that adjust interfaces based on elderly user needs.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66">
                          <a:solidFill>
                            <a:srgbClr val="10101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Focuses mainly on UI adaptation; doesn't integrate full elderly-care workflows such as medicine tracking, caregiver dashboards, and emergency response.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A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6" name="Google Shape;226;p32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Solutions</a:t>
            </a:r>
            <a:endParaRPr sz="1466"/>
          </a:p>
        </p:txBody>
      </p:sp>
      <p:graphicFrame>
        <p:nvGraphicFramePr>
          <p:cNvPr id="227" name="Google Shape;227;p32"/>
          <p:cNvGraphicFramePr/>
          <p:nvPr/>
        </p:nvGraphicFramePr>
        <p:xfrm>
          <a:off x="457212" y="1078992"/>
          <a:ext cx="4000000" cy="4000000"/>
        </p:xfrm>
        <a:graphic>
          <a:graphicData uri="http://schemas.openxmlformats.org/drawingml/2006/table">
            <a:tbl>
              <a:tblPr bandRow="1" firstRow="1">
                <a:noFill/>
                <a:tableStyleId>{C42F0A8C-1AB1-43D6-BED5-D7B6EA3BAF06}</a:tableStyleId>
              </a:tblPr>
              <a:tblGrid>
                <a:gridCol w="2743266"/>
                <a:gridCol w="2126000"/>
                <a:gridCol w="2126000"/>
                <a:gridCol w="2126000"/>
                <a:gridCol w="2126000"/>
              </a:tblGrid>
              <a:tr h="640066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Feature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Medisafe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MyTherapy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SOS Apps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Google Assistant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6400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66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Caregiver Configuration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6400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66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Emergency SOS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2EA8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✓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66">
                          <a:solidFill>
                            <a:srgbClr val="10101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Partial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6400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66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Activity &amp; Water Reminders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2EA83A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✓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66">
                          <a:solidFill>
                            <a:srgbClr val="10101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Partial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6400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66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Shortcuts for Elderly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6400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66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Wheelchair Assistance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6400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66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Health Vitals Records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466">
                          <a:solidFill>
                            <a:srgbClr val="10101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Partial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  <a:tr h="640066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66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Single Integrated Platform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rgbClr val="9B1C2E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X</a:t>
                      </a:r>
                      <a:endParaRPr sz="1466"/>
                    </a:p>
                  </a:txBody>
                  <a:tcPr marT="34300" marB="34300" marR="68600" marL="68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7" name="Google Shape;237;p33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Solutions</a:t>
            </a:r>
            <a:endParaRPr sz="1466"/>
          </a:p>
        </p:txBody>
      </p:sp>
      <p:sp>
        <p:nvSpPr>
          <p:cNvPr id="238" name="Google Shape;238;p33"/>
          <p:cNvSpPr txBox="1"/>
          <p:nvPr/>
        </p:nvSpPr>
        <p:spPr>
          <a:xfrm>
            <a:off x="457212" y="2468880"/>
            <a:ext cx="112474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No single app provides integrated healthcare +</a:t>
            </a:r>
            <a:br>
              <a:rPr b="0" i="0" lang="en" sz="36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" sz="36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accessibility + caregiver control</a:t>
            </a:r>
            <a:endParaRPr sz="1466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8" name="Google Shape;248;p34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Methodology / Approach</a:t>
            </a:r>
            <a:endParaRPr sz="1466"/>
          </a:p>
        </p:txBody>
      </p:sp>
      <p:sp>
        <p:nvSpPr>
          <p:cNvPr id="249" name="Google Shape;249;p34"/>
          <p:cNvSpPr/>
          <p:nvPr/>
        </p:nvSpPr>
        <p:spPr>
          <a:xfrm>
            <a:off x="1188752" y="1463040"/>
            <a:ext cx="822981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sz="1466"/>
          </a:p>
        </p:txBody>
      </p:sp>
      <p:sp>
        <p:nvSpPr>
          <p:cNvPr id="250" name="Google Shape;250;p34"/>
          <p:cNvSpPr txBox="1"/>
          <p:nvPr/>
        </p:nvSpPr>
        <p:spPr>
          <a:xfrm>
            <a:off x="2194618" y="146304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Platform:</a:t>
            </a:r>
            <a:endParaRPr sz="1466"/>
          </a:p>
        </p:txBody>
      </p:sp>
      <p:sp>
        <p:nvSpPr>
          <p:cNvPr id="251" name="Google Shape;251;p34"/>
          <p:cNvSpPr txBox="1"/>
          <p:nvPr/>
        </p:nvSpPr>
        <p:spPr>
          <a:xfrm>
            <a:off x="2194618" y="187452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Android (Android Studio)</a:t>
            </a:r>
            <a:endParaRPr sz="1466"/>
          </a:p>
        </p:txBody>
      </p:sp>
      <p:sp>
        <p:nvSpPr>
          <p:cNvPr id="252" name="Google Shape;252;p34"/>
          <p:cNvSpPr/>
          <p:nvPr/>
        </p:nvSpPr>
        <p:spPr>
          <a:xfrm>
            <a:off x="6583856" y="1463040"/>
            <a:ext cx="822981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&lt;/&gt;</a:t>
            </a:r>
            <a:endParaRPr sz="1466"/>
          </a:p>
        </p:txBody>
      </p:sp>
      <p:sp>
        <p:nvSpPr>
          <p:cNvPr id="253" name="Google Shape;253;p34"/>
          <p:cNvSpPr txBox="1"/>
          <p:nvPr/>
        </p:nvSpPr>
        <p:spPr>
          <a:xfrm>
            <a:off x="7589722" y="146304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Programming Language:</a:t>
            </a:r>
            <a:endParaRPr sz="1466"/>
          </a:p>
        </p:txBody>
      </p:sp>
      <p:sp>
        <p:nvSpPr>
          <p:cNvPr id="254" name="Google Shape;254;p34"/>
          <p:cNvSpPr txBox="1"/>
          <p:nvPr/>
        </p:nvSpPr>
        <p:spPr>
          <a:xfrm>
            <a:off x="7589722" y="187452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Kotlin (Jetpack Compose)</a:t>
            </a:r>
            <a:endParaRPr sz="1466"/>
          </a:p>
        </p:txBody>
      </p:sp>
      <p:sp>
        <p:nvSpPr>
          <p:cNvPr id="255" name="Google Shape;255;p34"/>
          <p:cNvSpPr/>
          <p:nvPr/>
        </p:nvSpPr>
        <p:spPr>
          <a:xfrm>
            <a:off x="1188752" y="3108960"/>
            <a:ext cx="822981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✉</a:t>
            </a:r>
            <a:endParaRPr sz="1466"/>
          </a:p>
        </p:txBody>
      </p:sp>
      <p:sp>
        <p:nvSpPr>
          <p:cNvPr id="256" name="Google Shape;256;p34"/>
          <p:cNvSpPr txBox="1"/>
          <p:nvPr/>
        </p:nvSpPr>
        <p:spPr>
          <a:xfrm>
            <a:off x="2194618" y="310896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Notifications:</a:t>
            </a:r>
            <a:endParaRPr sz="1466"/>
          </a:p>
        </p:txBody>
      </p:sp>
      <p:sp>
        <p:nvSpPr>
          <p:cNvPr id="257" name="Google Shape;257;p34"/>
          <p:cNvSpPr txBox="1"/>
          <p:nvPr/>
        </p:nvSpPr>
        <p:spPr>
          <a:xfrm>
            <a:off x="2194618" y="352044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Firebase Cloud Messaging + Notification Manager</a:t>
            </a:r>
            <a:endParaRPr sz="1466"/>
          </a:p>
        </p:txBody>
      </p:sp>
      <p:sp>
        <p:nvSpPr>
          <p:cNvPr id="258" name="Google Shape;258;p34"/>
          <p:cNvSpPr/>
          <p:nvPr/>
        </p:nvSpPr>
        <p:spPr>
          <a:xfrm>
            <a:off x="6583856" y="3108960"/>
            <a:ext cx="822981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endParaRPr sz="1466"/>
          </a:p>
        </p:txBody>
      </p:sp>
      <p:sp>
        <p:nvSpPr>
          <p:cNvPr id="259" name="Google Shape;259;p34"/>
          <p:cNvSpPr txBox="1"/>
          <p:nvPr/>
        </p:nvSpPr>
        <p:spPr>
          <a:xfrm>
            <a:off x="7589722" y="310896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Database:</a:t>
            </a:r>
            <a:endParaRPr sz="1466"/>
          </a:p>
        </p:txBody>
      </p:sp>
      <p:sp>
        <p:nvSpPr>
          <p:cNvPr id="260" name="Google Shape;260;p34"/>
          <p:cNvSpPr txBox="1"/>
          <p:nvPr/>
        </p:nvSpPr>
        <p:spPr>
          <a:xfrm>
            <a:off x="7589722" y="352044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Supabase / PostgreSQL with row-level security</a:t>
            </a:r>
            <a:endParaRPr sz="1466"/>
          </a:p>
        </p:txBody>
      </p:sp>
      <p:sp>
        <p:nvSpPr>
          <p:cNvPr id="261" name="Google Shape;261;p34"/>
          <p:cNvSpPr/>
          <p:nvPr/>
        </p:nvSpPr>
        <p:spPr>
          <a:xfrm>
            <a:off x="1188752" y="4754880"/>
            <a:ext cx="822981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sz="1466"/>
          </a:p>
        </p:txBody>
      </p:sp>
      <p:sp>
        <p:nvSpPr>
          <p:cNvPr id="262" name="Google Shape;262;p34"/>
          <p:cNvSpPr txBox="1"/>
          <p:nvPr/>
        </p:nvSpPr>
        <p:spPr>
          <a:xfrm>
            <a:off x="2194618" y="475488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Maps &amp; Location:</a:t>
            </a:r>
            <a:endParaRPr sz="1466"/>
          </a:p>
        </p:txBody>
      </p:sp>
      <p:sp>
        <p:nvSpPr>
          <p:cNvPr id="263" name="Google Shape;263;p34"/>
          <p:cNvSpPr txBox="1"/>
          <p:nvPr/>
        </p:nvSpPr>
        <p:spPr>
          <a:xfrm>
            <a:off x="2194618" y="516636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Google Maps SDK, Location Services</a:t>
            </a:r>
            <a:endParaRPr sz="1466"/>
          </a:p>
        </p:txBody>
      </p:sp>
      <p:sp>
        <p:nvSpPr>
          <p:cNvPr id="264" name="Google Shape;264;p34"/>
          <p:cNvSpPr/>
          <p:nvPr/>
        </p:nvSpPr>
        <p:spPr>
          <a:xfrm>
            <a:off x="6583856" y="4754880"/>
            <a:ext cx="822981" cy="822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B1C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1466"/>
          </a:p>
        </p:txBody>
      </p:sp>
      <p:sp>
        <p:nvSpPr>
          <p:cNvPr id="265" name="Google Shape;265;p34"/>
          <p:cNvSpPr txBox="1"/>
          <p:nvPr/>
        </p:nvSpPr>
        <p:spPr>
          <a:xfrm>
            <a:off x="7589722" y="475488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Background Tasks:</a:t>
            </a:r>
            <a:endParaRPr sz="1466"/>
          </a:p>
        </p:txBody>
      </p:sp>
      <p:sp>
        <p:nvSpPr>
          <p:cNvPr id="266" name="Google Shape;266;p34"/>
          <p:cNvSpPr txBox="1"/>
          <p:nvPr/>
        </p:nvSpPr>
        <p:spPr>
          <a:xfrm>
            <a:off x="7589722" y="5166360"/>
            <a:ext cx="411490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9B1C2E"/>
                </a:solidFill>
                <a:latin typeface="Calibri"/>
                <a:ea typeface="Calibri"/>
                <a:cs typeface="Calibri"/>
                <a:sym typeface="Calibri"/>
              </a:rPr>
              <a:t>WorkManager &amp; AlarmManager</a:t>
            </a:r>
            <a:endParaRPr sz="1466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8" name="Google Shape;498;p48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Technologies Used</a:t>
            </a:r>
            <a:endParaRPr sz="1466"/>
          </a:p>
        </p:txBody>
      </p:sp>
      <p:sp>
        <p:nvSpPr>
          <p:cNvPr id="499" name="Rounded Rectangle 498"/>
          <p:cNvSpPr/>
          <p:nvPr/>
        </p:nvSpPr>
        <p:spPr>
          <a:xfrm>
            <a:off x="646176" y="128016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Language &amp; UI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Kotlin · Jetpack Compose · Material 3</a:t>
            </a:r>
          </a:p>
        </p:txBody>
      </p:sp>
      <p:sp>
        <p:nvSpPr>
          <p:cNvPr id="500" name="Oval 499"/>
          <p:cNvSpPr/>
          <p:nvPr/>
        </p:nvSpPr>
        <p:spPr>
          <a:xfrm>
            <a:off x="3023616" y="107899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01" name="Rounded Rectangle 500"/>
          <p:cNvSpPr/>
          <p:nvPr/>
        </p:nvSpPr>
        <p:spPr>
          <a:xfrm>
            <a:off x="6400800" y="128016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Architecture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MVVM · Hilt · Navigation Compose</a:t>
            </a:r>
          </a:p>
        </p:txBody>
      </p:sp>
      <p:sp>
        <p:nvSpPr>
          <p:cNvPr id="502" name="Oval 501"/>
          <p:cNvSpPr/>
          <p:nvPr/>
        </p:nvSpPr>
        <p:spPr>
          <a:xfrm>
            <a:off x="8778240" y="107899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03" name="Rounded Rectangle 502"/>
          <p:cNvSpPr/>
          <p:nvPr/>
        </p:nvSpPr>
        <p:spPr>
          <a:xfrm>
            <a:off x="646176" y="292608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Backend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Supabase (PostgreSQL) · Row-level security</a:t>
            </a:r>
          </a:p>
        </p:txBody>
      </p:sp>
      <p:sp>
        <p:nvSpPr>
          <p:cNvPr id="504" name="Oval 503"/>
          <p:cNvSpPr/>
          <p:nvPr/>
        </p:nvSpPr>
        <p:spPr>
          <a:xfrm>
            <a:off x="3023616" y="269443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505" name="Rounded Rectangle 504"/>
          <p:cNvSpPr/>
          <p:nvPr/>
        </p:nvSpPr>
        <p:spPr>
          <a:xfrm>
            <a:off x="6400800" y="292608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Authentication &amp; Push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Firebase Auth · Google Sign-In · Cloud Messaging</a:t>
            </a:r>
          </a:p>
        </p:txBody>
      </p:sp>
      <p:sp>
        <p:nvSpPr>
          <p:cNvPr id="506" name="Oval 505"/>
          <p:cNvSpPr/>
          <p:nvPr/>
        </p:nvSpPr>
        <p:spPr>
          <a:xfrm>
            <a:off x="8778240" y="269443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507" name="Rounded Rectangle 506"/>
          <p:cNvSpPr/>
          <p:nvPr/>
        </p:nvSpPr>
        <p:spPr>
          <a:xfrm>
            <a:off x="646176" y="457200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Scheduling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AlarmManager · WorkManager · Boot receiver</a:t>
            </a:r>
          </a:p>
        </p:txBody>
      </p:sp>
      <p:sp>
        <p:nvSpPr>
          <p:cNvPr id="508" name="Oval 507"/>
          <p:cNvSpPr/>
          <p:nvPr/>
        </p:nvSpPr>
        <p:spPr>
          <a:xfrm>
            <a:off x="3023616" y="434035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509" name="Rounded Rectangle 508"/>
          <p:cNvSpPr/>
          <p:nvPr/>
        </p:nvSpPr>
        <p:spPr>
          <a:xfrm>
            <a:off x="6400800" y="457200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Testing &amp; Build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JUnit · Robolectric · Gradle · Target API 36</a:t>
            </a:r>
          </a:p>
        </p:txBody>
      </p:sp>
      <p:sp>
        <p:nvSpPr>
          <p:cNvPr id="510" name="Oval 509"/>
          <p:cNvSpPr/>
          <p:nvPr/>
        </p:nvSpPr>
        <p:spPr>
          <a:xfrm>
            <a:off x="8778240" y="434035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Google Shape;276;p35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Scope – Functional Requirements</a:t>
            </a:r>
            <a:endParaRPr sz="1466"/>
          </a:p>
        </p:txBody>
      </p:sp>
      <p:sp>
        <p:nvSpPr>
          <p:cNvPr id="277" name="Google Shape;277;p35"/>
          <p:cNvSpPr/>
          <p:nvPr/>
        </p:nvSpPr>
        <p:spPr>
          <a:xfrm>
            <a:off x="640097" y="128016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Visual medicine reminders with pill images</a:t>
            </a:r>
            <a:endParaRPr sz="1466"/>
          </a:p>
        </p:txBody>
      </p:sp>
      <p:sp>
        <p:nvSpPr>
          <p:cNvPr id="278" name="Google Shape;278;p35"/>
          <p:cNvSpPr/>
          <p:nvPr/>
        </p:nvSpPr>
        <p:spPr>
          <a:xfrm>
            <a:off x="3017600" y="1078992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466"/>
          </a:p>
        </p:txBody>
      </p:sp>
      <p:sp>
        <p:nvSpPr>
          <p:cNvPr id="279" name="Google Shape;279;p35"/>
          <p:cNvSpPr/>
          <p:nvPr/>
        </p:nvSpPr>
        <p:spPr>
          <a:xfrm>
            <a:off x="6400970" y="128016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Daily activity and hydration reminders</a:t>
            </a:r>
            <a:endParaRPr sz="1466"/>
          </a:p>
        </p:txBody>
      </p:sp>
      <p:sp>
        <p:nvSpPr>
          <p:cNvPr id="280" name="Google Shape;280;p35"/>
          <p:cNvSpPr/>
          <p:nvPr/>
        </p:nvSpPr>
        <p:spPr>
          <a:xfrm>
            <a:off x="8778474" y="1078992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466"/>
          </a:p>
        </p:txBody>
      </p:sp>
      <p:sp>
        <p:nvSpPr>
          <p:cNvPr id="281" name="Google Shape;281;p35"/>
          <p:cNvSpPr/>
          <p:nvPr/>
        </p:nvSpPr>
        <p:spPr>
          <a:xfrm>
            <a:off x="640097" y="292608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Emergency SOS with calling and alerts</a:t>
            </a:r>
            <a:endParaRPr sz="1466"/>
          </a:p>
        </p:txBody>
      </p:sp>
      <p:sp>
        <p:nvSpPr>
          <p:cNvPr id="282" name="Google Shape;282;p35"/>
          <p:cNvSpPr/>
          <p:nvPr/>
        </p:nvSpPr>
        <p:spPr>
          <a:xfrm>
            <a:off x="3017600" y="2697480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466"/>
          </a:p>
        </p:txBody>
      </p:sp>
      <p:sp>
        <p:nvSpPr>
          <p:cNvPr id="283" name="Google Shape;283;p35"/>
          <p:cNvSpPr/>
          <p:nvPr/>
        </p:nvSpPr>
        <p:spPr>
          <a:xfrm>
            <a:off x="6400970" y="292608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Wheelchair-friendly navigation (basic)</a:t>
            </a:r>
            <a:endParaRPr sz="1466"/>
          </a:p>
        </p:txBody>
      </p:sp>
      <p:sp>
        <p:nvSpPr>
          <p:cNvPr id="284" name="Google Shape;284;p35"/>
          <p:cNvSpPr/>
          <p:nvPr/>
        </p:nvSpPr>
        <p:spPr>
          <a:xfrm>
            <a:off x="8778474" y="2697480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466"/>
          </a:p>
        </p:txBody>
      </p:sp>
      <p:sp>
        <p:nvSpPr>
          <p:cNvPr id="285" name="Google Shape;285;p35"/>
          <p:cNvSpPr/>
          <p:nvPr/>
        </p:nvSpPr>
        <p:spPr>
          <a:xfrm>
            <a:off x="640097" y="457200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Quick access shortcuts (contacts, videos)</a:t>
            </a:r>
            <a:endParaRPr sz="1466"/>
          </a:p>
        </p:txBody>
      </p:sp>
      <p:sp>
        <p:nvSpPr>
          <p:cNvPr id="286" name="Google Shape;286;p35"/>
          <p:cNvSpPr/>
          <p:nvPr/>
        </p:nvSpPr>
        <p:spPr>
          <a:xfrm>
            <a:off x="3017600" y="4343400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466"/>
          </a:p>
        </p:txBody>
      </p:sp>
      <p:sp>
        <p:nvSpPr>
          <p:cNvPr id="287" name="Google Shape;287;p35"/>
          <p:cNvSpPr/>
          <p:nvPr/>
        </p:nvSpPr>
        <p:spPr>
          <a:xfrm>
            <a:off x="6400970" y="457200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Health vitals recording (manual entry)</a:t>
            </a:r>
            <a:endParaRPr sz="1466"/>
          </a:p>
        </p:txBody>
      </p:sp>
      <p:sp>
        <p:nvSpPr>
          <p:cNvPr id="288" name="Google Shape;288;p35"/>
          <p:cNvSpPr/>
          <p:nvPr/>
        </p:nvSpPr>
        <p:spPr>
          <a:xfrm>
            <a:off x="8778474" y="4343400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466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8" name="Google Shape;298;p36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Scope – Non-Functional Requirements</a:t>
            </a:r>
            <a:endParaRPr sz="1466"/>
          </a:p>
        </p:txBody>
      </p:sp>
      <p:sp>
        <p:nvSpPr>
          <p:cNvPr id="299" name="Google Shape;299;p36"/>
          <p:cNvSpPr/>
          <p:nvPr/>
        </p:nvSpPr>
        <p:spPr>
          <a:xfrm>
            <a:off x="640097" y="128016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High usability with minimal interaction</a:t>
            </a:r>
            <a:endParaRPr sz="1466"/>
          </a:p>
        </p:txBody>
      </p:sp>
      <p:sp>
        <p:nvSpPr>
          <p:cNvPr id="300" name="Google Shape;300;p36"/>
          <p:cNvSpPr/>
          <p:nvPr/>
        </p:nvSpPr>
        <p:spPr>
          <a:xfrm>
            <a:off x="3017600" y="1078992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466"/>
          </a:p>
        </p:txBody>
      </p:sp>
      <p:sp>
        <p:nvSpPr>
          <p:cNvPr id="301" name="Google Shape;301;p36"/>
          <p:cNvSpPr/>
          <p:nvPr/>
        </p:nvSpPr>
        <p:spPr>
          <a:xfrm>
            <a:off x="6400970" y="128016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Accessibility-first UI (large buttons, contrast)</a:t>
            </a:r>
            <a:endParaRPr sz="1466"/>
          </a:p>
        </p:txBody>
      </p:sp>
      <p:sp>
        <p:nvSpPr>
          <p:cNvPr id="302" name="Google Shape;302;p36"/>
          <p:cNvSpPr/>
          <p:nvPr/>
        </p:nvSpPr>
        <p:spPr>
          <a:xfrm>
            <a:off x="8778474" y="1078992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466"/>
          </a:p>
        </p:txBody>
      </p:sp>
      <p:sp>
        <p:nvSpPr>
          <p:cNvPr id="303" name="Google Shape;303;p36"/>
          <p:cNvSpPr/>
          <p:nvPr/>
        </p:nvSpPr>
        <p:spPr>
          <a:xfrm>
            <a:off x="640097" y="292608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Offline-first operation</a:t>
            </a:r>
            <a:endParaRPr sz="1466"/>
          </a:p>
        </p:txBody>
      </p:sp>
      <p:sp>
        <p:nvSpPr>
          <p:cNvPr id="304" name="Google Shape;304;p36"/>
          <p:cNvSpPr/>
          <p:nvPr/>
        </p:nvSpPr>
        <p:spPr>
          <a:xfrm>
            <a:off x="3017600" y="2697480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466"/>
          </a:p>
        </p:txBody>
      </p:sp>
      <p:sp>
        <p:nvSpPr>
          <p:cNvPr id="305" name="Google Shape;305;p36"/>
          <p:cNvSpPr/>
          <p:nvPr/>
        </p:nvSpPr>
        <p:spPr>
          <a:xfrm>
            <a:off x="6400970" y="292608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Secure and privacy-focused data handling</a:t>
            </a:r>
            <a:endParaRPr sz="1466"/>
          </a:p>
        </p:txBody>
      </p:sp>
      <p:sp>
        <p:nvSpPr>
          <p:cNvPr id="306" name="Google Shape;306;p36"/>
          <p:cNvSpPr/>
          <p:nvPr/>
        </p:nvSpPr>
        <p:spPr>
          <a:xfrm>
            <a:off x="8778474" y="2697480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466"/>
          </a:p>
        </p:txBody>
      </p:sp>
      <p:sp>
        <p:nvSpPr>
          <p:cNvPr id="307" name="Google Shape;307;p36"/>
          <p:cNvSpPr/>
          <p:nvPr/>
        </p:nvSpPr>
        <p:spPr>
          <a:xfrm>
            <a:off x="640097" y="457200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Modular and scalable design</a:t>
            </a:r>
            <a:endParaRPr sz="1466"/>
          </a:p>
        </p:txBody>
      </p:sp>
      <p:sp>
        <p:nvSpPr>
          <p:cNvPr id="308" name="Google Shape;308;p36"/>
          <p:cNvSpPr/>
          <p:nvPr/>
        </p:nvSpPr>
        <p:spPr>
          <a:xfrm>
            <a:off x="3017600" y="4343400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466"/>
          </a:p>
        </p:txBody>
      </p:sp>
      <p:sp>
        <p:nvSpPr>
          <p:cNvPr id="309" name="Google Shape;309;p36"/>
          <p:cNvSpPr/>
          <p:nvPr/>
        </p:nvSpPr>
        <p:spPr>
          <a:xfrm>
            <a:off x="6400970" y="4572000"/>
            <a:ext cx="5120776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Timely reminders and emergency response</a:t>
            </a:r>
            <a:endParaRPr sz="1466"/>
          </a:p>
        </p:txBody>
      </p:sp>
      <p:sp>
        <p:nvSpPr>
          <p:cNvPr id="310" name="Google Shape;310;p36"/>
          <p:cNvSpPr/>
          <p:nvPr/>
        </p:nvSpPr>
        <p:spPr>
          <a:xfrm>
            <a:off x="8778474" y="4343400"/>
            <a:ext cx="457212" cy="457200"/>
          </a:xfrm>
          <a:prstGeom prst="ellipse">
            <a:avLst/>
          </a:prstGeom>
          <a:solidFill>
            <a:srgbClr val="10101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466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20" name="Google Shape;320;p37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Overview of Implementation</a:t>
            </a:r>
            <a:endParaRPr sz="1466"/>
          </a:p>
        </p:txBody>
      </p:sp>
      <p:sp>
        <p:nvSpPr>
          <p:cNvPr id="321" name="Google Shape;321;p37"/>
          <p:cNvSpPr/>
          <p:nvPr/>
        </p:nvSpPr>
        <p:spPr>
          <a:xfrm>
            <a:off x="640097" y="1371600"/>
            <a:ext cx="5486546" cy="64008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7"/>
          <p:cNvSpPr txBox="1"/>
          <p:nvPr/>
        </p:nvSpPr>
        <p:spPr>
          <a:xfrm>
            <a:off x="640097" y="1371600"/>
            <a:ext cx="54865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Input to the System</a:t>
            </a:r>
            <a:endParaRPr sz="1466"/>
          </a:p>
        </p:txBody>
      </p:sp>
      <p:sp>
        <p:nvSpPr>
          <p:cNvPr id="323" name="Google Shape;323;p37"/>
          <p:cNvSpPr/>
          <p:nvPr/>
        </p:nvSpPr>
        <p:spPr>
          <a:xfrm>
            <a:off x="6126642" y="1371600"/>
            <a:ext cx="5486546" cy="64008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6126642" y="1371600"/>
            <a:ext cx="548654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Output of the System:</a:t>
            </a:r>
            <a:endParaRPr sz="1466"/>
          </a:p>
        </p:txBody>
      </p:sp>
      <p:sp>
        <p:nvSpPr>
          <p:cNvPr id="325" name="Google Shape;325;p37"/>
          <p:cNvSpPr/>
          <p:nvPr/>
        </p:nvSpPr>
        <p:spPr>
          <a:xfrm>
            <a:off x="640097" y="2011680"/>
            <a:ext cx="5486546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7"/>
          <p:cNvSpPr txBox="1"/>
          <p:nvPr/>
        </p:nvSpPr>
        <p:spPr>
          <a:xfrm>
            <a:off x="822981" y="2194560"/>
            <a:ext cx="5212218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Medicine details (name, dosage, image, timing)</a:t>
            </a:r>
            <a:endParaRPr sz="1466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Shortcut &amp; Activity Module</a:t>
            </a:r>
            <a:endParaRPr sz="1466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contact details</a:t>
            </a:r>
            <a:endParaRPr sz="1466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User location for navigation</a:t>
            </a:r>
            <a:endParaRPr sz="1466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Activity preferences (water, walk reminders)</a:t>
            </a:r>
            <a:endParaRPr sz="1466"/>
          </a:p>
        </p:txBody>
      </p:sp>
      <p:sp>
        <p:nvSpPr>
          <p:cNvPr id="327" name="Google Shape;327;p37"/>
          <p:cNvSpPr/>
          <p:nvPr/>
        </p:nvSpPr>
        <p:spPr>
          <a:xfrm>
            <a:off x="6126642" y="2011680"/>
            <a:ext cx="5486546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010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7"/>
          <p:cNvSpPr txBox="1"/>
          <p:nvPr/>
        </p:nvSpPr>
        <p:spPr>
          <a:xfrm>
            <a:off x="6309528" y="2194560"/>
            <a:ext cx="5212218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Visual and voice-based reminders</a:t>
            </a:r>
            <a:endParaRPr sz="1466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calls and alerts</a:t>
            </a:r>
            <a:endParaRPr sz="1466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Activity completion summaries</a:t>
            </a:r>
            <a:endParaRPr sz="1466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Navigation routes to accessible locations</a:t>
            </a:r>
            <a:endParaRPr sz="1466"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Logs and summaries for daily usage</a:t>
            </a:r>
            <a:endParaRPr sz="1466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8" name="Google Shape;338;p38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Module Diagram / Workflow</a:t>
            </a:r>
            <a:endParaRPr sz="1466"/>
          </a:p>
        </p:txBody>
      </p:sp>
      <p:sp>
        <p:nvSpPr>
          <p:cNvPr id="339" name="Google Shape;339;p38"/>
          <p:cNvSpPr txBox="1"/>
          <p:nvPr/>
        </p:nvSpPr>
        <p:spPr>
          <a:xfrm>
            <a:off x="365769" y="1078992"/>
            <a:ext cx="5486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Major Modules:</a:t>
            </a:r>
            <a:endParaRPr sz="1466"/>
          </a:p>
        </p:txBody>
      </p:sp>
      <p:sp>
        <p:nvSpPr>
          <p:cNvPr id="340" name="Google Shape;340;p38"/>
          <p:cNvSpPr/>
          <p:nvPr/>
        </p:nvSpPr>
        <p:spPr>
          <a:xfrm>
            <a:off x="365769" y="1554480"/>
            <a:ext cx="3657697" cy="73152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8"/>
          <p:cNvSpPr txBox="1"/>
          <p:nvPr/>
        </p:nvSpPr>
        <p:spPr>
          <a:xfrm>
            <a:off x="365769" y="1554480"/>
            <a:ext cx="3657697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Medicine Reminder Module</a:t>
            </a:r>
            <a:endParaRPr sz="1466"/>
          </a:p>
        </p:txBody>
      </p:sp>
      <p:sp>
        <p:nvSpPr>
          <p:cNvPr id="342" name="Google Shape;342;p38"/>
          <p:cNvSpPr/>
          <p:nvPr/>
        </p:nvSpPr>
        <p:spPr>
          <a:xfrm>
            <a:off x="4297794" y="1554480"/>
            <a:ext cx="3657697" cy="73152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8"/>
          <p:cNvSpPr txBox="1"/>
          <p:nvPr/>
        </p:nvSpPr>
        <p:spPr>
          <a:xfrm>
            <a:off x="4297794" y="1554480"/>
            <a:ext cx="3657697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Shortcut &amp; Activity Module</a:t>
            </a:r>
            <a:endParaRPr sz="1466"/>
          </a:p>
        </p:txBody>
      </p:sp>
      <p:sp>
        <p:nvSpPr>
          <p:cNvPr id="344" name="Google Shape;344;p38"/>
          <p:cNvSpPr/>
          <p:nvPr/>
        </p:nvSpPr>
        <p:spPr>
          <a:xfrm>
            <a:off x="8229820" y="1554480"/>
            <a:ext cx="3657697" cy="731520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8"/>
          <p:cNvSpPr txBox="1"/>
          <p:nvPr/>
        </p:nvSpPr>
        <p:spPr>
          <a:xfrm>
            <a:off x="8229820" y="1554480"/>
            <a:ext cx="3657697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Emergency SOS Module</a:t>
            </a:r>
            <a:endParaRPr sz="1466"/>
          </a:p>
        </p:txBody>
      </p:sp>
      <p:sp>
        <p:nvSpPr>
          <p:cNvPr id="346" name="Google Shape;346;p38"/>
          <p:cNvSpPr/>
          <p:nvPr/>
        </p:nvSpPr>
        <p:spPr>
          <a:xfrm>
            <a:off x="1828849" y="2468880"/>
            <a:ext cx="3932025" cy="73152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8"/>
          <p:cNvSpPr txBox="1"/>
          <p:nvPr/>
        </p:nvSpPr>
        <p:spPr>
          <a:xfrm>
            <a:off x="1828849" y="2468880"/>
            <a:ext cx="393202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Daily Activity &amp; Hydration Module</a:t>
            </a:r>
            <a:endParaRPr sz="1466"/>
          </a:p>
        </p:txBody>
      </p:sp>
      <p:sp>
        <p:nvSpPr>
          <p:cNvPr id="348" name="Google Shape;348;p38"/>
          <p:cNvSpPr/>
          <p:nvPr/>
        </p:nvSpPr>
        <p:spPr>
          <a:xfrm>
            <a:off x="6035201" y="2468880"/>
            <a:ext cx="3932025" cy="731520"/>
          </a:xfrm>
          <a:prstGeom prst="rect">
            <a:avLst/>
          </a:prstGeom>
          <a:solidFill>
            <a:srgbClr val="6E10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8"/>
          <p:cNvSpPr txBox="1"/>
          <p:nvPr/>
        </p:nvSpPr>
        <p:spPr>
          <a:xfrm>
            <a:off x="6035201" y="2468880"/>
            <a:ext cx="393202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Wheelchair-Friendly Navigation Module</a:t>
            </a:r>
            <a:endParaRPr sz="1466"/>
          </a:p>
        </p:txBody>
      </p:sp>
      <p:sp>
        <p:nvSpPr>
          <p:cNvPr id="350" name="Google Shape;350;p38"/>
          <p:cNvSpPr txBox="1"/>
          <p:nvPr/>
        </p:nvSpPr>
        <p:spPr>
          <a:xfrm>
            <a:off x="365769" y="3566160"/>
            <a:ext cx="5486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Workflow:</a:t>
            </a:r>
            <a:endParaRPr sz="1466"/>
          </a:p>
        </p:txBody>
      </p:sp>
      <p:sp>
        <p:nvSpPr>
          <p:cNvPr id="351" name="Google Shape;351;p38"/>
          <p:cNvSpPr/>
          <p:nvPr/>
        </p:nvSpPr>
        <p:spPr>
          <a:xfrm>
            <a:off x="365769" y="4206240"/>
            <a:ext cx="3017600" cy="1371600"/>
          </a:xfrm>
          <a:prstGeom prst="chevron">
            <a:avLst>
              <a:gd fmla="val 50000" name="adj"/>
            </a:avLst>
          </a:prstGeom>
          <a:solidFill>
            <a:srgbClr val="F1B7B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Input</a:t>
            </a:r>
            <a:endParaRPr sz="1466"/>
          </a:p>
        </p:txBody>
      </p:sp>
      <p:sp>
        <p:nvSpPr>
          <p:cNvPr id="352" name="Google Shape;352;p38"/>
          <p:cNvSpPr/>
          <p:nvPr/>
        </p:nvSpPr>
        <p:spPr>
          <a:xfrm>
            <a:off x="3200485" y="4206240"/>
            <a:ext cx="3017600" cy="1371600"/>
          </a:xfrm>
          <a:prstGeom prst="chevron">
            <a:avLst>
              <a:gd fmla="val 50000" name="adj"/>
            </a:avLst>
          </a:prstGeom>
          <a:solidFill>
            <a:srgbClr val="E26F7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Assistive Platform</a:t>
            </a:r>
            <a:endParaRPr sz="1466"/>
          </a:p>
        </p:txBody>
      </p:sp>
      <p:sp>
        <p:nvSpPr>
          <p:cNvPr id="353" name="Google Shape;353;p38"/>
          <p:cNvSpPr/>
          <p:nvPr/>
        </p:nvSpPr>
        <p:spPr>
          <a:xfrm>
            <a:off x="6035201" y="4206240"/>
            <a:ext cx="3017600" cy="1371600"/>
          </a:xfrm>
          <a:prstGeom prst="chevron">
            <a:avLst>
              <a:gd fmla="val 50000" name="adj"/>
            </a:avLst>
          </a:prstGeom>
          <a:solidFill>
            <a:srgbClr val="C433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 Processing</a:t>
            </a:r>
            <a:endParaRPr sz="1466"/>
          </a:p>
        </p:txBody>
      </p:sp>
      <p:sp>
        <p:nvSpPr>
          <p:cNvPr id="354" name="Google Shape;354;p38"/>
          <p:cNvSpPr/>
          <p:nvPr/>
        </p:nvSpPr>
        <p:spPr>
          <a:xfrm>
            <a:off x="8869916" y="4206240"/>
            <a:ext cx="3017600" cy="1371600"/>
          </a:xfrm>
          <a:prstGeom prst="chevron">
            <a:avLst>
              <a:gd fmla="val 50000" name="adj"/>
            </a:avLst>
          </a:prstGeom>
          <a:solidFill>
            <a:srgbClr val="6E10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Notification Output</a:t>
            </a:r>
            <a:endParaRPr sz="1466"/>
          </a:p>
        </p:txBody>
      </p:sp>
      <p:sp>
        <p:nvSpPr>
          <p:cNvPr id="355" name="Google Shape;355;p38"/>
          <p:cNvSpPr txBox="1"/>
          <p:nvPr/>
        </p:nvSpPr>
        <p:spPr>
          <a:xfrm>
            <a:off x="0" y="5760720"/>
            <a:ext cx="121920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Diagram 1.1</a:t>
            </a:r>
            <a:endParaRPr sz="1466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5" name="Google Shape;365;p39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Data Set Description</a:t>
            </a:r>
            <a:endParaRPr sz="1466"/>
          </a:p>
        </p:txBody>
      </p:sp>
      <p:sp>
        <p:nvSpPr>
          <p:cNvPr id="366" name="Google Shape;366;p39"/>
          <p:cNvSpPr txBox="1"/>
          <p:nvPr/>
        </p:nvSpPr>
        <p:spPr>
          <a:xfrm>
            <a:off x="640097" y="1097280"/>
            <a:ext cx="5486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Data used includes:</a:t>
            </a:r>
            <a:endParaRPr sz="1466"/>
          </a:p>
        </p:txBody>
      </p:sp>
      <p:sp>
        <p:nvSpPr>
          <p:cNvPr id="367" name="Google Shape;367;p39"/>
          <p:cNvSpPr txBox="1"/>
          <p:nvPr/>
        </p:nvSpPr>
        <p:spPr>
          <a:xfrm>
            <a:off x="914424" y="1600200"/>
            <a:ext cx="10058668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User-entered medicine schedules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Reminder logs (taken / skipped)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contact information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Location data for wheelchair-friendly navigation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large external datasets are required</a:t>
            </a:r>
            <a:endParaRPr sz="1466"/>
          </a:p>
        </p:txBody>
      </p:sp>
      <p:sp>
        <p:nvSpPr>
          <p:cNvPr id="368" name="Google Shape;368;p39"/>
          <p:cNvSpPr txBox="1"/>
          <p:nvPr/>
        </p:nvSpPr>
        <p:spPr>
          <a:xfrm>
            <a:off x="640097" y="4023360"/>
            <a:ext cx="54865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All data is:</a:t>
            </a:r>
            <a:endParaRPr sz="1466"/>
          </a:p>
        </p:txBody>
      </p:sp>
      <p:sp>
        <p:nvSpPr>
          <p:cNvPr id="369" name="Google Shape;369;p39"/>
          <p:cNvSpPr txBox="1"/>
          <p:nvPr/>
        </p:nvSpPr>
        <p:spPr>
          <a:xfrm>
            <a:off x="914424" y="4526280"/>
            <a:ext cx="1005866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Stored locally on the device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Used only for application functionality</a:t>
            </a:r>
            <a:endParaRPr sz="1466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 shared without user permission</a:t>
            </a:r>
            <a:endParaRPr sz="1466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9" name="Google Shape;379;p40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466"/>
          </a:p>
        </p:txBody>
      </p:sp>
      <p:sp>
        <p:nvSpPr>
          <p:cNvPr id="380" name="Google Shape;380;p40"/>
          <p:cNvSpPr txBox="1"/>
          <p:nvPr/>
        </p:nvSpPr>
        <p:spPr>
          <a:xfrm>
            <a:off x="457212" y="1078992"/>
            <a:ext cx="7315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 App:</a:t>
            </a:r>
            <a:endParaRPr sz="1466"/>
          </a:p>
        </p:txBody>
      </p:sp>
      <p:pic>
        <p:nvPicPr>
          <p:cNvPr descr="image1.png" id="381" name="Google Shape;381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272" y="1554480"/>
            <a:ext cx="1275221" cy="263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.png" id="382" name="Google Shape;38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9413" y="1554480"/>
            <a:ext cx="3302553" cy="263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3.png" id="383" name="Google Shape;38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4940" y="1554480"/>
            <a:ext cx="1215445" cy="263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4.png" id="384" name="Google Shape;38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3304" y="1554480"/>
            <a:ext cx="1236342" cy="26378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5.png" id="385" name="Google Shape;385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2565" y="1554480"/>
            <a:ext cx="3808080" cy="2637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95" name="Google Shape;395;p41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466"/>
          </a:p>
        </p:txBody>
      </p:sp>
      <p:sp>
        <p:nvSpPr>
          <p:cNvPr id="396" name="Google Shape;396;p41"/>
          <p:cNvSpPr txBox="1"/>
          <p:nvPr/>
        </p:nvSpPr>
        <p:spPr>
          <a:xfrm>
            <a:off x="457212" y="1078992"/>
            <a:ext cx="7315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 App:</a:t>
            </a:r>
            <a:endParaRPr sz="1466"/>
          </a:p>
        </p:txBody>
      </p:sp>
      <p:pic>
        <p:nvPicPr>
          <p:cNvPr descr="image6.png" id="397" name="Google Shape;39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6778" y="1554480"/>
            <a:ext cx="854484" cy="186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7.png" id="398" name="Google Shape;39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170" y="1554480"/>
            <a:ext cx="890654" cy="186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8.png" id="399" name="Google Shape;39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7733" y="1554480"/>
            <a:ext cx="3115712" cy="186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9.png" id="400" name="Google Shape;40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56413" y="1554480"/>
            <a:ext cx="3048844" cy="18639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0.png" id="401" name="Google Shape;401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88224" y="1554480"/>
            <a:ext cx="3056934" cy="1863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1" name="Google Shape;411;p42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466"/>
          </a:p>
        </p:txBody>
      </p:sp>
      <p:sp>
        <p:nvSpPr>
          <p:cNvPr id="412" name="Google Shape;412;p42"/>
          <p:cNvSpPr txBox="1"/>
          <p:nvPr/>
        </p:nvSpPr>
        <p:spPr>
          <a:xfrm>
            <a:off x="457212" y="1078992"/>
            <a:ext cx="7315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466"/>
          </a:p>
        </p:txBody>
      </p:sp>
      <p:pic>
        <p:nvPicPr>
          <p:cNvPr descr="image11.png" id="413" name="Google Shape;413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4569" y="1554480"/>
            <a:ext cx="1971534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2.png" id="414" name="Google Shape;41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9041" y="1554480"/>
            <a:ext cx="2109290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3.png" id="415" name="Google Shape;41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1273" y="1554480"/>
            <a:ext cx="1972438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4.png" id="416" name="Google Shape;41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6650" y="1554480"/>
            <a:ext cx="2060745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6" name="Google Shape;426;p43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 Previously</a:t>
            </a:r>
            <a:endParaRPr sz="1466"/>
          </a:p>
        </p:txBody>
      </p:sp>
      <p:sp>
        <p:nvSpPr>
          <p:cNvPr id="427" name="Google Shape;427;p43"/>
          <p:cNvSpPr txBox="1"/>
          <p:nvPr/>
        </p:nvSpPr>
        <p:spPr>
          <a:xfrm>
            <a:off x="457212" y="1078992"/>
            <a:ext cx="7315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466"/>
          </a:p>
        </p:txBody>
      </p:sp>
      <p:pic>
        <p:nvPicPr>
          <p:cNvPr descr="image15.png" id="428" name="Google Shape;428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5156" y="1554480"/>
            <a:ext cx="2043517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6.png" id="429" name="Google Shape;42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1613" y="1554480"/>
            <a:ext cx="1945750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7.png" id="430" name="Google Shape;43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0300" y="1554480"/>
            <a:ext cx="1968316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8.png" id="431" name="Google Shape;43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1553" y="1554480"/>
            <a:ext cx="2015237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19.png" id="432" name="Google Shape;43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39729" y="1554480"/>
            <a:ext cx="2017078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2" name="Google Shape;442;p44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466"/>
          </a:p>
        </p:txBody>
      </p:sp>
      <p:sp>
        <p:nvSpPr>
          <p:cNvPr id="443" name="Google Shape;443;p44"/>
          <p:cNvSpPr txBox="1"/>
          <p:nvPr/>
        </p:nvSpPr>
        <p:spPr>
          <a:xfrm>
            <a:off x="731540" y="1371600"/>
            <a:ext cx="6035201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Google Sign-In with a</a:t>
            </a:r>
            <a:br>
              <a:rPr b="0" i="0" lang="en" sz="30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0" i="0" lang="en" sz="30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one-time connect code</a:t>
            </a:r>
            <a:endParaRPr sz="1466"/>
          </a:p>
        </p:txBody>
      </p:sp>
      <p:sp>
        <p:nvSpPr>
          <p:cNvPr id="444" name="Google Shape;444;p44"/>
          <p:cNvSpPr txBox="1"/>
          <p:nvPr/>
        </p:nvSpPr>
        <p:spPr>
          <a:xfrm>
            <a:off x="731540" y="2743200"/>
            <a:ext cx="5852316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Both users sign in with any Google account - no OTP, no hard-coded test numbers.</a:t>
            </a:r>
            <a:endParaRPr sz="1466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The guardian creates the elder's profile and gets a six-digit code.</a:t>
            </a:r>
            <a:endParaRPr sz="1466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Entering that code once on the elder's phone links the two accounts.</a:t>
            </a:r>
            <a:endParaRPr sz="1466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Each code works only once and expires after seven days.</a:t>
            </a:r>
            <a:endParaRPr sz="1466"/>
          </a:p>
        </p:txBody>
      </p:sp>
      <p:pic>
        <p:nvPicPr>
          <p:cNvPr descr="ui2.png" id="445" name="Google Shape;44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41068" y="1188720"/>
            <a:ext cx="2221992" cy="4937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1.png" id="446" name="Google Shape;44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292" y="1188720"/>
            <a:ext cx="2221992" cy="493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6" name="Google Shape;456;p45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466"/>
          </a:p>
        </p:txBody>
      </p:sp>
      <p:sp>
        <p:nvSpPr>
          <p:cNvPr id="457" name="Google Shape;457;p45"/>
          <p:cNvSpPr txBox="1"/>
          <p:nvPr/>
        </p:nvSpPr>
        <p:spPr>
          <a:xfrm>
            <a:off x="457212" y="1078992"/>
            <a:ext cx="7315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Elder App:</a:t>
            </a:r>
            <a:endParaRPr sz="1466"/>
          </a:p>
        </p:txBody>
      </p:sp>
      <p:pic>
        <p:nvPicPr>
          <p:cNvPr descr="ui3.png" id="458" name="Google Shape;45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0389" y="1554480"/>
            <a:ext cx="1975104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4.png" id="459" name="Google Shape;45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8430" y="1554480"/>
            <a:ext cx="1975104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5.png" id="460" name="Google Shape;46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6473" y="1554480"/>
            <a:ext cx="1975104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0" name="Google Shape;470;p46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466"/>
          </a:p>
        </p:txBody>
      </p:sp>
      <p:sp>
        <p:nvSpPr>
          <p:cNvPr id="471" name="Google Shape;471;p46"/>
          <p:cNvSpPr txBox="1"/>
          <p:nvPr/>
        </p:nvSpPr>
        <p:spPr>
          <a:xfrm>
            <a:off x="457212" y="1078992"/>
            <a:ext cx="7315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466"/>
          </a:p>
        </p:txBody>
      </p:sp>
      <p:pic>
        <p:nvPicPr>
          <p:cNvPr descr="ui6.png" id="472" name="Google Shape;47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0389" y="1554480"/>
            <a:ext cx="1975104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7.png" id="473" name="Google Shape;47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8430" y="1554480"/>
            <a:ext cx="1975104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8.png" id="474" name="Google Shape;47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6473" y="1554480"/>
            <a:ext cx="1975104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4" name="Google Shape;484;p47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Work Implemented</a:t>
            </a:r>
            <a:endParaRPr sz="1466"/>
          </a:p>
        </p:txBody>
      </p:sp>
      <p:sp>
        <p:nvSpPr>
          <p:cNvPr id="485" name="Google Shape;485;p47"/>
          <p:cNvSpPr txBox="1"/>
          <p:nvPr/>
        </p:nvSpPr>
        <p:spPr>
          <a:xfrm>
            <a:off x="457212" y="1078992"/>
            <a:ext cx="73153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66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Guardian App:</a:t>
            </a:r>
            <a:endParaRPr sz="1466"/>
          </a:p>
        </p:txBody>
      </p:sp>
      <p:pic>
        <p:nvPicPr>
          <p:cNvPr descr="ui9.png" id="486" name="Google Shape;486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0389" y="1554480"/>
            <a:ext cx="1975104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10.png" id="487" name="Google Shape;48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8430" y="1554480"/>
            <a:ext cx="1975104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11.png" id="488" name="Google Shape;48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6473" y="1554480"/>
            <a:ext cx="1975104" cy="43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8" name="Google Shape;498;p48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Status of Work Completed</a:t>
            </a:r>
            <a:endParaRPr sz="1466"/>
          </a:p>
        </p:txBody>
      </p:sp>
      <p:sp>
        <p:nvSpPr>
          <p:cNvPr id="499" name="Rounded Rectangle 498"/>
          <p:cNvSpPr/>
          <p:nvPr/>
        </p:nvSpPr>
        <p:spPr>
          <a:xfrm>
            <a:off x="646176" y="1365504"/>
            <a:ext cx="5486400" cy="646176"/>
          </a:xfrm>
          <a:prstGeom prst="roundRect">
            <a:avLst/>
          </a:prstGeom>
          <a:solidFill>
            <a:srgbClr val="9B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33" b="1">
                <a:solidFill>
                  <a:srgbClr val="FFFFFF"/>
                </a:solidFill>
                <a:latin typeface="Georgia"/>
              </a:rPr>
              <a:t>Features Delivered</a:t>
            </a:r>
          </a:p>
        </p:txBody>
      </p:sp>
      <p:sp>
        <p:nvSpPr>
          <p:cNvPr id="500" name="Rounded Rectangle 499"/>
          <p:cNvSpPr/>
          <p:nvPr/>
        </p:nvSpPr>
        <p:spPr>
          <a:xfrm>
            <a:off x="646176" y="2011680"/>
            <a:ext cx="54864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Google Sign-In replacing phone OTP, for both roles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Single-use invite codes binding an elder's device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Guardian: medicines, schedules, reminders, vitals,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   adherence, contacts, family access, SOS monitor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Elder: home, medicines, contacts, vitals, videos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Four languages, three text sizes, high contrast</a:t>
            </a:r>
          </a:p>
        </p:txBody>
      </p:sp>
      <p:sp>
        <p:nvSpPr>
          <p:cNvPr id="501" name="Rounded Rectangle 500"/>
          <p:cNvSpPr/>
          <p:nvPr/>
        </p:nvSpPr>
        <p:spPr>
          <a:xfrm>
            <a:off x="6132576" y="1365504"/>
            <a:ext cx="5486400" cy="646176"/>
          </a:xfrm>
          <a:prstGeom prst="roundRect">
            <a:avLst/>
          </a:prstGeom>
          <a:solidFill>
            <a:srgbClr val="9B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33" b="1">
                <a:solidFill>
                  <a:srgbClr val="FFFFFF"/>
                </a:solidFill>
                <a:latin typeface="Georgia"/>
              </a:rPr>
              <a:t>Engineering &amp; Quality</a:t>
            </a:r>
          </a:p>
        </p:txBody>
      </p:sp>
      <p:sp>
        <p:nvSpPr>
          <p:cNvPr id="502" name="Rounded Rectangle 501"/>
          <p:cNvSpPr/>
          <p:nvPr/>
        </p:nvSpPr>
        <p:spPr>
          <a:xfrm>
            <a:off x="6132576" y="2011680"/>
            <a:ext cx="54864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Backend live: 17 tables, 33 access policies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Three-path reminder arming (app, worker, boot)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Offline adherence queue with later sync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Fail-honest SOS with user-mediated fallback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142 automated tests · Lint clean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Play-ready: API 36, signed build, no restricted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   permissions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8" name="Google Shape;498;p48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Implementation Results and Discussion</a:t>
            </a:r>
            <a:endParaRPr sz="1466"/>
          </a:p>
        </p:txBody>
      </p:sp>
      <p:sp>
        <p:nvSpPr>
          <p:cNvPr id="499" name="Rounded Rectangle 498"/>
          <p:cNvSpPr/>
          <p:nvPr/>
        </p:nvSpPr>
        <p:spPr>
          <a:xfrm>
            <a:off x="646176" y="128016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66" b="1">
                <a:solidFill>
                  <a:srgbClr val="9B1C2E"/>
                </a:solidFill>
                <a:latin typeface="Georgia"/>
              </a:rPr>
              <a:t>20 sp vs 13 sp</a:t>
            </a:r>
          </a:p>
          <a:p>
            <a:pPr algn="ctr"/>
            <a:r>
              <a:rPr sz="1466">
                <a:solidFill>
                  <a:srgbClr val="101010"/>
                </a:solidFill>
                <a:latin typeface="Calibri"/>
              </a:rPr>
              <a:t>Median text size: elder vs guardian interface</a:t>
            </a:r>
          </a:p>
        </p:txBody>
      </p:sp>
      <p:sp>
        <p:nvSpPr>
          <p:cNvPr id="500" name="Rounded Rectangle 499"/>
          <p:cNvSpPr/>
          <p:nvPr/>
        </p:nvSpPr>
        <p:spPr>
          <a:xfrm>
            <a:off x="6400800" y="128016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66" b="1">
                <a:solidFill>
                  <a:srgbClr val="9B1C2E"/>
                </a:solidFill>
                <a:latin typeface="Georgia"/>
              </a:rPr>
              <a:t>64 dp minimum</a:t>
            </a:r>
          </a:p>
          <a:p>
            <a:pPr algn="ctr"/>
            <a:r>
              <a:rPr sz="1466">
                <a:solidFill>
                  <a:srgbClr val="101010"/>
                </a:solidFill>
                <a:latin typeface="Calibri"/>
              </a:rPr>
              <a:t>Every primary control, against a 48 dp standard</a:t>
            </a:r>
          </a:p>
        </p:txBody>
      </p:sp>
      <p:sp>
        <p:nvSpPr>
          <p:cNvPr id="501" name="Rounded Rectangle 500"/>
          <p:cNvSpPr/>
          <p:nvPr/>
        </p:nvSpPr>
        <p:spPr>
          <a:xfrm>
            <a:off x="646176" y="292608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66" b="1">
                <a:solidFill>
                  <a:srgbClr val="9B1C2E"/>
                </a:solidFill>
                <a:latin typeface="Georgia"/>
              </a:rPr>
              <a:t>1 tap</a:t>
            </a:r>
          </a:p>
          <a:p>
            <a:pPr algn="ctr"/>
            <a:r>
              <a:rPr sz="1466">
                <a:solidFill>
                  <a:srgbClr val="101010"/>
                </a:solidFill>
                <a:latin typeface="Calibri"/>
              </a:rPr>
              <a:t>To raise an emergency alarm</a:t>
            </a:r>
          </a:p>
        </p:txBody>
      </p:sp>
      <p:sp>
        <p:nvSpPr>
          <p:cNvPr id="502" name="Rounded Rectangle 501"/>
          <p:cNvSpPr/>
          <p:nvPr/>
        </p:nvSpPr>
        <p:spPr>
          <a:xfrm>
            <a:off x="6400800" y="292608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66" b="1">
                <a:solidFill>
                  <a:srgbClr val="9B1C2E"/>
                </a:solidFill>
                <a:latin typeface="Georgia"/>
              </a:rPr>
              <a:t>3 taps</a:t>
            </a:r>
          </a:p>
          <a:p>
            <a:pPr algn="ctr"/>
            <a:r>
              <a:rPr sz="1466">
                <a:solidFill>
                  <a:srgbClr val="101010"/>
                </a:solidFill>
                <a:latin typeface="Calibri"/>
              </a:rPr>
              <a:t>To confirm a dose from its reminder</a:t>
            </a:r>
          </a:p>
        </p:txBody>
      </p:sp>
      <p:sp>
        <p:nvSpPr>
          <p:cNvPr id="503" name="Rounded Rectangle 502"/>
          <p:cNvSpPr/>
          <p:nvPr/>
        </p:nvSpPr>
        <p:spPr>
          <a:xfrm>
            <a:off x="646176" y="457200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66" b="1">
                <a:solidFill>
                  <a:srgbClr val="9B1C2E"/>
                </a:solidFill>
                <a:latin typeface="Georgia"/>
              </a:rPr>
              <a:t>142 / 142</a:t>
            </a:r>
          </a:p>
          <a:p>
            <a:pPr algn="ctr"/>
            <a:r>
              <a:rPr sz="1466">
                <a:solidFill>
                  <a:srgbClr val="101010"/>
                </a:solidFill>
                <a:latin typeface="Calibri"/>
              </a:rPr>
              <a:t>Automated tests passing · Lint clean</a:t>
            </a:r>
          </a:p>
        </p:txBody>
      </p:sp>
      <p:sp>
        <p:nvSpPr>
          <p:cNvPr id="504" name="Rounded Rectangle 503"/>
          <p:cNvSpPr/>
          <p:nvPr/>
        </p:nvSpPr>
        <p:spPr>
          <a:xfrm>
            <a:off x="6400800" y="457200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66" b="1">
                <a:solidFill>
                  <a:srgbClr val="9B1C2E"/>
                </a:solidFill>
                <a:latin typeface="Georgia"/>
              </a:rPr>
              <a:t>13 defects, 8 silent</a:t>
            </a:r>
          </a:p>
          <a:p>
            <a:pPr algn="ctr"/>
            <a:r>
              <a:rPr sz="1466">
                <a:solidFill>
                  <a:srgbClr val="101010"/>
                </a:solidFill>
                <a:latin typeface="Calibri"/>
              </a:rPr>
              <a:t>Found by audit (62%) — all corrected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8" name="Google Shape;498;p48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Software Test Cases</a:t>
            </a:r>
            <a:endParaRPr sz="1466"/>
          </a:p>
        </p:txBody>
      </p:sp>
      <p:sp>
        <p:nvSpPr>
          <p:cNvPr id="499" name="Rounded Rectangle 498"/>
          <p:cNvSpPr/>
          <p:nvPr/>
        </p:nvSpPr>
        <p:spPr>
          <a:xfrm>
            <a:off x="646176" y="1365504"/>
            <a:ext cx="5486400" cy="646176"/>
          </a:xfrm>
          <a:prstGeom prst="roundRect">
            <a:avLst/>
          </a:prstGeom>
          <a:solidFill>
            <a:srgbClr val="9B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33" b="1">
                <a:solidFill>
                  <a:srgbClr val="FFFFFF"/>
                </a:solidFill>
                <a:latin typeface="Georgia"/>
              </a:rPr>
              <a:t>Reminders &amp; Adherence</a:t>
            </a:r>
          </a:p>
        </p:txBody>
      </p:sp>
      <p:sp>
        <p:nvSpPr>
          <p:cNvPr id="500" name="Rounded Rectangle 499"/>
          <p:cNvSpPr/>
          <p:nvPr/>
        </p:nvSpPr>
        <p:spPr>
          <a:xfrm>
            <a:off x="646176" y="2011680"/>
            <a:ext cx="5486400" cy="2987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TC-01  Reminder fires at the scheduled time — Pass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TC-02  Dose taken early cancels its alarm — Pass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TC-03  Alarms restored after restart — Pass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TC-04  Offline dose queued, synced later — Pass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TC-09  Water / walk reminders delivered — Pass</a:t>
            </a:r>
          </a:p>
        </p:txBody>
      </p:sp>
      <p:sp>
        <p:nvSpPr>
          <p:cNvPr id="501" name="Rounded Rectangle 500"/>
          <p:cNvSpPr/>
          <p:nvPr/>
        </p:nvSpPr>
        <p:spPr>
          <a:xfrm>
            <a:off x="6132576" y="1365504"/>
            <a:ext cx="5486400" cy="646176"/>
          </a:xfrm>
          <a:prstGeom prst="roundRect">
            <a:avLst/>
          </a:prstGeom>
          <a:solidFill>
            <a:srgbClr val="9B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33" b="1">
                <a:solidFill>
                  <a:srgbClr val="FFFFFF"/>
                </a:solidFill>
                <a:latin typeface="Georgia"/>
              </a:rPr>
              <a:t>Emergency, Access &amp; UI</a:t>
            </a:r>
          </a:p>
        </p:txBody>
      </p:sp>
      <p:sp>
        <p:nvSpPr>
          <p:cNvPr id="502" name="Rounded Rectangle 501"/>
          <p:cNvSpPr/>
          <p:nvPr/>
        </p:nvSpPr>
        <p:spPr>
          <a:xfrm>
            <a:off x="6132576" y="2011680"/>
            <a:ext cx="5486400" cy="2987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TC-05  SOS reaches guardian; failure stated — Pass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TC-06  Invite code single-use, 7-day expiry — Pass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TC-07  Elder UI correct in all four languages — Pass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TC-08  Save errors shown on network failure — Pass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TC-10  SOS not silenced by notification toggle — Pass</a:t>
            </a:r>
          </a:p>
        </p:txBody>
      </p:sp>
      <p:sp>
        <p:nvSpPr>
          <p:cNvPr id="503" name="Rounded Rectangle 502"/>
          <p:cNvSpPr/>
          <p:nvPr/>
        </p:nvSpPr>
        <p:spPr>
          <a:xfrm>
            <a:off x="310894" y="5218176"/>
            <a:ext cx="2682240" cy="536448"/>
          </a:xfrm>
          <a:prstGeom prst="roundRect">
            <a:avLst/>
          </a:prstGeom>
          <a:solidFill>
            <a:srgbClr val="9B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33" b="1">
                <a:solidFill>
                  <a:srgbClr val="FFFFFF"/>
                </a:solidFill>
                <a:latin typeface="Calibri"/>
              </a:rPr>
              <a:t>142 automated tests</a:t>
            </a:r>
          </a:p>
        </p:txBody>
      </p:sp>
      <p:sp>
        <p:nvSpPr>
          <p:cNvPr id="504" name="Rounded Rectangle 503"/>
          <p:cNvSpPr/>
          <p:nvPr/>
        </p:nvSpPr>
        <p:spPr>
          <a:xfrm>
            <a:off x="3273552" y="5218176"/>
            <a:ext cx="2682240" cy="536448"/>
          </a:xfrm>
          <a:prstGeom prst="roundRect">
            <a:avLst/>
          </a:prstGeom>
          <a:solidFill>
            <a:srgbClr val="6E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33" b="1">
                <a:solidFill>
                  <a:srgbClr val="FFFFFF"/>
                </a:solidFill>
                <a:latin typeface="Calibri"/>
              </a:rPr>
              <a:t>JVM + Robolectric</a:t>
            </a:r>
          </a:p>
        </p:txBody>
      </p:sp>
      <p:sp>
        <p:nvSpPr>
          <p:cNvPr id="505" name="Rounded Rectangle 504"/>
          <p:cNvSpPr/>
          <p:nvPr/>
        </p:nvSpPr>
        <p:spPr>
          <a:xfrm>
            <a:off x="6236208" y="5218176"/>
            <a:ext cx="2682240" cy="536448"/>
          </a:xfrm>
          <a:prstGeom prst="roundRect">
            <a:avLst/>
          </a:prstGeom>
          <a:solidFill>
            <a:srgbClr val="9B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33" b="1">
                <a:solidFill>
                  <a:srgbClr val="FFFFFF"/>
                </a:solidFill>
                <a:latin typeface="Calibri"/>
              </a:rPr>
              <a:t>No emulator required</a:t>
            </a:r>
          </a:p>
        </p:txBody>
      </p:sp>
      <p:sp>
        <p:nvSpPr>
          <p:cNvPr id="506" name="Rounded Rectangle 505"/>
          <p:cNvSpPr/>
          <p:nvPr/>
        </p:nvSpPr>
        <p:spPr>
          <a:xfrm>
            <a:off x="9198864" y="5218176"/>
            <a:ext cx="2682240" cy="536448"/>
          </a:xfrm>
          <a:prstGeom prst="roundRect">
            <a:avLst/>
          </a:prstGeom>
          <a:solidFill>
            <a:srgbClr val="6E1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33" b="1">
                <a:solidFill>
                  <a:srgbClr val="FFFFFF"/>
                </a:solidFill>
                <a:latin typeface="Calibri"/>
              </a:rPr>
              <a:t>Lint: 0 errors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8" name="Google Shape;498;p48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Status of Research Paper</a:t>
            </a:r>
            <a:endParaRPr sz="1466"/>
          </a:p>
        </p:txBody>
      </p:sp>
      <p:sp>
        <p:nvSpPr>
          <p:cNvPr id="499" name="Rounded Rectangle 498"/>
          <p:cNvSpPr/>
          <p:nvPr/>
        </p:nvSpPr>
        <p:spPr>
          <a:xfrm>
            <a:off x="646176" y="1365504"/>
            <a:ext cx="5486400" cy="646176"/>
          </a:xfrm>
          <a:prstGeom prst="roundRect">
            <a:avLst/>
          </a:prstGeom>
          <a:solidFill>
            <a:srgbClr val="9B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33" b="1">
                <a:solidFill>
                  <a:srgbClr val="FFFFFF"/>
                </a:solidFill>
                <a:latin typeface="Georgia"/>
              </a:rPr>
              <a:t>The Paper</a:t>
            </a:r>
          </a:p>
        </p:txBody>
      </p:sp>
      <p:sp>
        <p:nvSpPr>
          <p:cNvPr id="500" name="Rounded Rectangle 499"/>
          <p:cNvSpPr/>
          <p:nvPr/>
        </p:nvSpPr>
        <p:spPr>
          <a:xfrm>
            <a:off x="646176" y="2011680"/>
            <a:ext cx="54864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Title: CareCompanion: Assistive Companion Mobile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Application for Elderly and Disabled Users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IEEE format · 7 pages · 6 figures · 21 references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Contributions: dual-surface design, secure device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   binding, fail-honest alerting, defect taxonomy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Figures generated from the application source</a:t>
            </a:r>
          </a:p>
        </p:txBody>
      </p:sp>
      <p:sp>
        <p:nvSpPr>
          <p:cNvPr id="501" name="Rounded Rectangle 500"/>
          <p:cNvSpPr/>
          <p:nvPr/>
        </p:nvSpPr>
        <p:spPr>
          <a:xfrm>
            <a:off x="6132576" y="1365504"/>
            <a:ext cx="5486400" cy="646176"/>
          </a:xfrm>
          <a:prstGeom prst="roundRect">
            <a:avLst/>
          </a:prstGeom>
          <a:solidFill>
            <a:srgbClr val="9B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2133" b="1">
                <a:solidFill>
                  <a:srgbClr val="FFFFFF"/>
                </a:solidFill>
                <a:latin typeface="Georgia"/>
              </a:rPr>
              <a:t>Submission</a:t>
            </a:r>
          </a:p>
        </p:txBody>
      </p:sp>
      <p:sp>
        <p:nvSpPr>
          <p:cNvPr id="502" name="Rounded Rectangle 501"/>
          <p:cNvSpPr/>
          <p:nvPr/>
        </p:nvSpPr>
        <p:spPr>
          <a:xfrm>
            <a:off x="6132576" y="2011680"/>
            <a:ext cx="54864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Submitted to ICISS 2027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www.iciss2027.in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Peer review managed through Microsoft CMT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Status: under review</a:t>
            </a:r>
          </a:p>
          <a:p>
            <a:pPr algn="l">
              <a:spcAft>
                <a:spcPts val="400"/>
              </a:spcAft>
            </a:pPr>
            <a:r>
              <a:rPr sz="1466" b="0">
                <a:solidFill>
                  <a:srgbClr val="101010"/>
                </a:solidFill>
                <a:latin typeface="Calibri"/>
              </a:rPr>
              <a:t>• All references verified against Crossref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8" name="Google Shape;498;p48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Future Scope</a:t>
            </a:r>
            <a:endParaRPr sz="1466"/>
          </a:p>
        </p:txBody>
      </p:sp>
      <p:sp>
        <p:nvSpPr>
          <p:cNvPr id="499" name="Rounded Rectangle 498"/>
          <p:cNvSpPr/>
          <p:nvPr/>
        </p:nvSpPr>
        <p:spPr>
          <a:xfrm>
            <a:off x="646176" y="128016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33" b="1">
                <a:solidFill>
                  <a:srgbClr val="9B1C2E"/>
                </a:solidFill>
                <a:latin typeface="Georgia"/>
              </a:rPr>
              <a:t>Medicine Stock Database</a:t>
            </a:r>
          </a:p>
          <a:p>
            <a:pPr algn="ctr"/>
            <a:r>
              <a:rPr sz="1333" b="0">
                <a:solidFill>
                  <a:srgbClr val="101010"/>
                </a:solidFill>
                <a:latin typeface="Calibri"/>
              </a:rPr>
              <a:t>Track quantity in hand; stock falls as doses are taken and the guardian is alerted before a medicine runs out</a:t>
            </a:r>
          </a:p>
        </p:txBody>
      </p:sp>
      <p:sp>
        <p:nvSpPr>
          <p:cNvPr id="500" name="Oval 499"/>
          <p:cNvSpPr/>
          <p:nvPr/>
        </p:nvSpPr>
        <p:spPr>
          <a:xfrm>
            <a:off x="3023616" y="107899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01" name="Rounded Rectangle 500"/>
          <p:cNvSpPr/>
          <p:nvPr/>
        </p:nvSpPr>
        <p:spPr>
          <a:xfrm>
            <a:off x="6400800" y="128016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33" b="1">
                <a:solidFill>
                  <a:srgbClr val="9B1C2E"/>
                </a:solidFill>
                <a:latin typeface="Georgia"/>
              </a:rPr>
              <a:t>AI Voice Assistant</a:t>
            </a:r>
          </a:p>
          <a:p>
            <a:pPr algn="ctr"/>
            <a:r>
              <a:rPr sz="1333" b="0">
                <a:solidFill>
                  <a:srgbClr val="101010"/>
                </a:solidFill>
                <a:latin typeface="Calibri"/>
              </a:rPr>
              <a:t>Speech recognition and a language model let elders confirm doses by speaking in Hindi, Marathi or Gujarati, and the app replies in their language</a:t>
            </a:r>
          </a:p>
        </p:txBody>
      </p:sp>
      <p:sp>
        <p:nvSpPr>
          <p:cNvPr id="502" name="Oval 501"/>
          <p:cNvSpPr/>
          <p:nvPr/>
        </p:nvSpPr>
        <p:spPr>
          <a:xfrm>
            <a:off x="8778240" y="107899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03" name="Rounded Rectangle 502"/>
          <p:cNvSpPr/>
          <p:nvPr/>
        </p:nvSpPr>
        <p:spPr>
          <a:xfrm>
            <a:off x="646176" y="292608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33" b="1">
                <a:solidFill>
                  <a:srgbClr val="9B1C2E"/>
                </a:solidFill>
                <a:latin typeface="Georgia"/>
              </a:rPr>
              <a:t>Conversational Insights</a:t>
            </a:r>
          </a:p>
          <a:p>
            <a:pPr algn="ctr"/>
            <a:r>
              <a:rPr sz="1333" b="0">
                <a:solidFill>
                  <a:srgbClr val="101010"/>
                </a:solidFill>
                <a:latin typeface="Calibri"/>
              </a:rPr>
              <a:t>Guardians ask questions of the care data and receive spoken adherence summaries</a:t>
            </a:r>
          </a:p>
        </p:txBody>
      </p:sp>
      <p:sp>
        <p:nvSpPr>
          <p:cNvPr id="504" name="Oval 503"/>
          <p:cNvSpPr/>
          <p:nvPr/>
        </p:nvSpPr>
        <p:spPr>
          <a:xfrm>
            <a:off x="3023616" y="269443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505" name="Rounded Rectangle 504"/>
          <p:cNvSpPr/>
          <p:nvPr/>
        </p:nvSpPr>
        <p:spPr>
          <a:xfrm>
            <a:off x="6400800" y="292608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33" b="1">
                <a:solidFill>
                  <a:srgbClr val="9B1C2E"/>
                </a:solidFill>
                <a:latin typeface="Georgia"/>
              </a:rPr>
              <a:t>iOS Application</a:t>
            </a:r>
          </a:p>
          <a:p>
            <a:pPr algn="ctr"/>
            <a:r>
              <a:rPr sz="1333" b="0">
                <a:solidFill>
                  <a:srgbClr val="101010"/>
                </a:solidFill>
                <a:latin typeface="Calibri"/>
              </a:rPr>
              <a:t>Extend CareCompanion to iPhone users</a:t>
            </a:r>
          </a:p>
        </p:txBody>
      </p:sp>
      <p:sp>
        <p:nvSpPr>
          <p:cNvPr id="506" name="Oval 505"/>
          <p:cNvSpPr/>
          <p:nvPr/>
        </p:nvSpPr>
        <p:spPr>
          <a:xfrm>
            <a:off x="8778240" y="269443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507" name="Rounded Rectangle 506"/>
          <p:cNvSpPr/>
          <p:nvPr/>
        </p:nvSpPr>
        <p:spPr>
          <a:xfrm>
            <a:off x="646176" y="457200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33" b="1">
                <a:solidFill>
                  <a:srgbClr val="9B1C2E"/>
                </a:solidFill>
                <a:latin typeface="Georgia"/>
              </a:rPr>
              <a:t>Google Play Release</a:t>
            </a:r>
          </a:p>
          <a:p>
            <a:pPr algn="ctr"/>
            <a:r>
              <a:rPr sz="1333" b="0">
                <a:solidFill>
                  <a:srgbClr val="101010"/>
                </a:solidFill>
                <a:latin typeface="Calibri"/>
              </a:rPr>
              <a:t>Publish for public distribution and real-world use</a:t>
            </a:r>
          </a:p>
        </p:txBody>
      </p:sp>
      <p:sp>
        <p:nvSpPr>
          <p:cNvPr id="508" name="Oval 507"/>
          <p:cNvSpPr/>
          <p:nvPr/>
        </p:nvSpPr>
        <p:spPr>
          <a:xfrm>
            <a:off x="3023616" y="434035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509" name="Rounded Rectangle 508"/>
          <p:cNvSpPr/>
          <p:nvPr/>
        </p:nvSpPr>
        <p:spPr>
          <a:xfrm>
            <a:off x="6400800" y="457200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33" b="1">
                <a:solidFill>
                  <a:srgbClr val="9B1C2E"/>
                </a:solidFill>
                <a:latin typeface="Georgia"/>
              </a:rPr>
              <a:t>User Study</a:t>
            </a:r>
          </a:p>
          <a:p>
            <a:pPr algn="ctr"/>
            <a:r>
              <a:rPr sz="1333" b="0">
                <a:solidFill>
                  <a:srgbClr val="101010"/>
                </a:solidFill>
                <a:latin typeface="Calibri"/>
              </a:rPr>
              <a:t>Evaluate with elderly participants and their caregivers</a:t>
            </a:r>
          </a:p>
        </p:txBody>
      </p:sp>
      <p:sp>
        <p:nvSpPr>
          <p:cNvPr id="510" name="Oval 509"/>
          <p:cNvSpPr/>
          <p:nvPr/>
        </p:nvSpPr>
        <p:spPr>
          <a:xfrm>
            <a:off x="8778240" y="434035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8" name="Google Shape;498;p48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sz="1466"/>
          </a:p>
        </p:txBody>
      </p:sp>
      <p:sp>
        <p:nvSpPr>
          <p:cNvPr id="499" name="Google Shape;499;p48"/>
          <p:cNvSpPr txBox="1"/>
          <p:nvPr/>
        </p:nvSpPr>
        <p:spPr>
          <a:xfrm>
            <a:off x="640097" y="1188720"/>
            <a:ext cx="10973092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The CareCompanion project not only addresses significant societal needs but also stands as a robust demonstration of modern mobile application development.</a:t>
            </a:r>
            <a:endParaRPr sz="1466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Tackles a crucial social issue by enhancing the independence and safety of elderly and disabled users.</a:t>
            </a:r>
            <a:endParaRPr sz="1466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Prioritizes accessibility, safety, and intuitive ease of use, ensuring a positive user experience.</a:t>
            </a:r>
            <a:endParaRPr sz="1466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Showcases practical application of advanced Android development concepts and best practices.</a:t>
            </a:r>
            <a:endParaRPr sz="1466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33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Built with a modular architecture for future expansion, making it a suitable and impactful final-year engineering project.</a:t>
            </a:r>
            <a:endParaRPr sz="1466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9" name="Google Shape;509;p49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sz="1466"/>
          </a:p>
        </p:txBody>
      </p:sp>
      <p:sp>
        <p:nvSpPr>
          <p:cNvPr id="510" name="Google Shape;510;p49"/>
          <p:cNvSpPr txBox="1"/>
          <p:nvPr/>
        </p:nvSpPr>
        <p:spPr>
          <a:xfrm>
            <a:off x="457212" y="1078992"/>
            <a:ext cx="1124742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[1] E. Amouzadeh, M. N. A. Rashid, and R. Mohd, "Optimizing mobile app design for older adults: A systematic review of age-friendly design principles," Aging Clinical and Experimental Research, vol. 37, no. 1, pp. 1–18, 2025, doi: 10.1007/s40520-025-03157-7.</a:t>
            </a:r>
            <a:endParaRPr sz="1466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[2] M. Awan, A. M. Raza, and S. U. Khan, "Usability barriers for elderly users in smartphone app usage: An analytical hierarchical process-based prioritization," Scientific Programming, vol. 2021, pp. 1–14, 2021, doi: 10.1155/2021/5598523.</a:t>
            </a:r>
            <a:endParaRPr sz="1466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[3] S. Wickramathilaka, P. Gamage, and S. Perera, "Adaptive and accessible user interfaces for senior citizens using model-driven engineering," Automated Software Engineering, vol. 32, no. 1, pp. 1–25, 2025, doi: 10.1007/s10515-025-00547-z.</a:t>
            </a:r>
            <a:endParaRPr sz="1466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[4] J. Abascal and C. Nicolle, "Moving towards inclusive design guidelines for mobile applications for older adults," IEEE Computer, vol. 54, no. 3, pp. 62–70, Mar. 2021, doi: 10.1109/MC.2021.3051519.</a:t>
            </a:r>
            <a:endParaRPr sz="1466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[5] R. Pak and A. McLaughlin, "Designing displays and interfaces for older adults," IEEE Reviews in Biomedical Engineering, vol. 14, pp. 289–302, 2021, doi: 10.1109/RBME.2020.3042376.</a:t>
            </a:r>
            <a:endParaRPr sz="1466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[6] J. Zhou, M. Rau, and G. Salvendy, "Age-related differences in mobile phone usage and usability," IEEE Transactions on Human-Machine Systems, vol. 51, no. 4, pp. 364–375, Aug. 2021, doi: 10.1109/THMS.2021.3079275.</a:t>
            </a:r>
            <a:endParaRPr sz="1466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[7] A. Holzinger, G. Searle, and A. Nischelwitzer, "On some aspects of improving mobile applications for the elderly," IEEE Access, vol. 9, pp. 101734–101746, 2021, doi: 10.1109/ACCESS.2021.3097654.</a:t>
            </a:r>
            <a:endParaRPr sz="1466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20" name="Google Shape;520;p50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sz="1466"/>
          </a:p>
        </p:txBody>
      </p:sp>
      <p:sp>
        <p:nvSpPr>
          <p:cNvPr id="521" name="Google Shape;521;p50"/>
          <p:cNvSpPr txBox="1"/>
          <p:nvPr/>
        </p:nvSpPr>
        <p:spPr>
          <a:xfrm>
            <a:off x="457212" y="1078992"/>
            <a:ext cx="1124742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[8] L. Chen, Y. Zhang, and X. Wang, "Design and evaluation of an elderly-friendly mobile health application," IEEE Journal of Biomedical and Health Informatics, vol. 26, no. 6, pp. 2875–2884, Jun. 2022, doi: 10.1109/JBHI.2022.3147652.</a:t>
            </a:r>
            <a:endParaRPr sz="1466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[9] S. Park and J. Kim, "Factors affecting smartphone adoption and continued use among older adults," IEEE Access, vol. 10, pp. 21456–21467, 2022, doi: 10.1109/ACCESS.2022.3156784.</a:t>
            </a:r>
            <a:endParaRPr sz="1466"/>
          </a:p>
          <a:p>
            <a:pPr indent="0" lvl="0" marL="0" marR="0" rtl="0" algn="just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[10] M. Al-Mahmud, M. H. Mahmud, and S. M. S. Islam, "Assistive mobile applications for elderly healthcare: A systematic review," IEEE Access, vol. 11, pp. 10945–10960, 2023, doi: 10.1109/ACCESS.2023.3241987.</a:t>
            </a:r>
            <a:endParaRPr sz="1466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1" name="Google Shape;531;p51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466"/>
          </a:p>
        </p:txBody>
      </p:sp>
      <p:sp>
        <p:nvSpPr>
          <p:cNvPr id="532" name="Google Shape;532;p51"/>
          <p:cNvSpPr txBox="1"/>
          <p:nvPr/>
        </p:nvSpPr>
        <p:spPr>
          <a:xfrm>
            <a:off x="457212" y="1078992"/>
            <a:ext cx="109730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Medisafe – Medication Reminder App</a:t>
            </a:r>
            <a:endParaRPr sz="1466"/>
          </a:p>
        </p:txBody>
      </p:sp>
      <p:sp>
        <p:nvSpPr>
          <p:cNvPr id="533" name="Google Shape;533;p51"/>
          <p:cNvSpPr txBox="1"/>
          <p:nvPr/>
        </p:nvSpPr>
        <p:spPr>
          <a:xfrm>
            <a:off x="457212" y="146304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 / iOS</a:t>
            </a:r>
            <a:endParaRPr sz="1466"/>
          </a:p>
        </p:txBody>
      </p:sp>
      <p:sp>
        <p:nvSpPr>
          <p:cNvPr id="534" name="Google Shape;534;p51"/>
          <p:cNvSpPr txBox="1"/>
          <p:nvPr/>
        </p:nvSpPr>
        <p:spPr>
          <a:xfrm>
            <a:off x="457212" y="182880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Medicine reminders</a:t>
            </a:r>
            <a:endParaRPr sz="1466"/>
          </a:p>
        </p:txBody>
      </p:sp>
      <p:sp>
        <p:nvSpPr>
          <p:cNvPr id="535" name="Google Shape;535;p51"/>
          <p:cNvSpPr txBox="1"/>
          <p:nvPr/>
        </p:nvSpPr>
        <p:spPr>
          <a:xfrm>
            <a:off x="457212" y="224028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466"/>
          </a:p>
        </p:txBody>
      </p:sp>
      <p:sp>
        <p:nvSpPr>
          <p:cNvPr id="536" name="Google Shape;536;p51"/>
          <p:cNvSpPr txBox="1"/>
          <p:nvPr/>
        </p:nvSpPr>
        <p:spPr>
          <a:xfrm>
            <a:off x="731540" y="2606040"/>
            <a:ext cx="10515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Time-based medicine reminders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Basic adherence tracking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Notification alerts</a:t>
            </a:r>
            <a:endParaRPr sz="1466"/>
          </a:p>
        </p:txBody>
      </p:sp>
      <p:sp>
        <p:nvSpPr>
          <p:cNvPr id="537" name="Google Shape;537;p51"/>
          <p:cNvSpPr txBox="1"/>
          <p:nvPr/>
        </p:nvSpPr>
        <p:spPr>
          <a:xfrm>
            <a:off x="457212" y="370332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466"/>
          </a:p>
        </p:txBody>
      </p:sp>
      <p:sp>
        <p:nvSpPr>
          <p:cNvPr id="538" name="Google Shape;538;p51"/>
          <p:cNvSpPr txBox="1"/>
          <p:nvPr/>
        </p:nvSpPr>
        <p:spPr>
          <a:xfrm>
            <a:off x="731540" y="4069080"/>
            <a:ext cx="10515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Text-based reminders only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visual medicine identification (pill images)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caregiver-controlled configuration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emergency SOS integration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activity or hydration reminders</a:t>
            </a:r>
            <a:endParaRPr sz="1466"/>
          </a:p>
        </p:txBody>
      </p:sp>
      <p:sp>
        <p:nvSpPr>
          <p:cNvPr id="539" name="Google Shape;539;p51"/>
          <p:cNvSpPr txBox="1"/>
          <p:nvPr/>
        </p:nvSpPr>
        <p:spPr>
          <a:xfrm>
            <a:off x="457212" y="5806440"/>
            <a:ext cx="11247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Focuses only on medicine reminders, not holistic elderly care.</a:t>
            </a:r>
            <a:endParaRPr sz="1466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9" name="Google Shape;549;p52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466"/>
          </a:p>
        </p:txBody>
      </p:sp>
      <p:sp>
        <p:nvSpPr>
          <p:cNvPr id="550" name="Google Shape;550;p52"/>
          <p:cNvSpPr txBox="1"/>
          <p:nvPr/>
        </p:nvSpPr>
        <p:spPr>
          <a:xfrm>
            <a:off x="457212" y="1078992"/>
            <a:ext cx="109730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MyTherapy – Pill Reminder &amp; Health Tracker</a:t>
            </a:r>
            <a:endParaRPr sz="1466"/>
          </a:p>
        </p:txBody>
      </p:sp>
      <p:sp>
        <p:nvSpPr>
          <p:cNvPr id="551" name="Google Shape;551;p52"/>
          <p:cNvSpPr txBox="1"/>
          <p:nvPr/>
        </p:nvSpPr>
        <p:spPr>
          <a:xfrm>
            <a:off x="457212" y="146304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 / iOS</a:t>
            </a:r>
            <a:endParaRPr sz="1466"/>
          </a:p>
        </p:txBody>
      </p:sp>
      <p:sp>
        <p:nvSpPr>
          <p:cNvPr id="552" name="Google Shape;552;p52"/>
          <p:cNvSpPr txBox="1"/>
          <p:nvPr/>
        </p:nvSpPr>
        <p:spPr>
          <a:xfrm>
            <a:off x="457212" y="182880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Medication and habit tracking</a:t>
            </a:r>
            <a:endParaRPr sz="1466"/>
          </a:p>
        </p:txBody>
      </p:sp>
      <p:sp>
        <p:nvSpPr>
          <p:cNvPr id="553" name="Google Shape;553;p52"/>
          <p:cNvSpPr txBox="1"/>
          <p:nvPr/>
        </p:nvSpPr>
        <p:spPr>
          <a:xfrm>
            <a:off x="457212" y="224028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466"/>
          </a:p>
        </p:txBody>
      </p:sp>
      <p:sp>
        <p:nvSpPr>
          <p:cNvPr id="554" name="Google Shape;554;p52"/>
          <p:cNvSpPr txBox="1"/>
          <p:nvPr/>
        </p:nvSpPr>
        <p:spPr>
          <a:xfrm>
            <a:off x="731540" y="2606040"/>
            <a:ext cx="10515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Pill reminders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Basic health tracking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Simple activity reminders</a:t>
            </a:r>
            <a:endParaRPr sz="1466"/>
          </a:p>
        </p:txBody>
      </p:sp>
      <p:sp>
        <p:nvSpPr>
          <p:cNvPr id="555" name="Google Shape;555;p52"/>
          <p:cNvSpPr txBox="1"/>
          <p:nvPr/>
        </p:nvSpPr>
        <p:spPr>
          <a:xfrm>
            <a:off x="457212" y="370332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466"/>
          </a:p>
        </p:txBody>
      </p:sp>
      <p:sp>
        <p:nvSpPr>
          <p:cNvPr id="556" name="Google Shape;556;p52"/>
          <p:cNvSpPr txBox="1"/>
          <p:nvPr/>
        </p:nvSpPr>
        <p:spPr>
          <a:xfrm>
            <a:off x="731540" y="4069080"/>
            <a:ext cx="10515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Complex UI for elderly users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caregiver–elder role separation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visual shortcuts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features are missing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wheelchair navigation support</a:t>
            </a:r>
            <a:endParaRPr sz="1466"/>
          </a:p>
        </p:txBody>
      </p:sp>
      <p:sp>
        <p:nvSpPr>
          <p:cNvPr id="557" name="Google Shape;557;p52"/>
          <p:cNvSpPr txBox="1"/>
          <p:nvPr/>
        </p:nvSpPr>
        <p:spPr>
          <a:xfrm>
            <a:off x="457212" y="5806440"/>
            <a:ext cx="11247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Multi-feature app but not accessibility-first or caregiver-driven.</a:t>
            </a:r>
            <a:endParaRPr sz="1466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7" name="Google Shape;567;p53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466"/>
          </a:p>
        </p:txBody>
      </p:sp>
      <p:sp>
        <p:nvSpPr>
          <p:cNvPr id="568" name="Google Shape;568;p53"/>
          <p:cNvSpPr txBox="1"/>
          <p:nvPr/>
        </p:nvSpPr>
        <p:spPr>
          <a:xfrm>
            <a:off x="457212" y="1078992"/>
            <a:ext cx="109730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Google Assistant</a:t>
            </a:r>
            <a:endParaRPr sz="1466"/>
          </a:p>
        </p:txBody>
      </p:sp>
      <p:sp>
        <p:nvSpPr>
          <p:cNvPr id="569" name="Google Shape;569;p53"/>
          <p:cNvSpPr txBox="1"/>
          <p:nvPr/>
        </p:nvSpPr>
        <p:spPr>
          <a:xfrm>
            <a:off x="457212" y="146304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</a:t>
            </a:r>
            <a:endParaRPr sz="1466"/>
          </a:p>
        </p:txBody>
      </p:sp>
      <p:sp>
        <p:nvSpPr>
          <p:cNvPr id="570" name="Google Shape;570;p53"/>
          <p:cNvSpPr txBox="1"/>
          <p:nvPr/>
        </p:nvSpPr>
        <p:spPr>
          <a:xfrm>
            <a:off x="457212" y="182880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Voice-based digital assistant</a:t>
            </a:r>
            <a:endParaRPr sz="1466"/>
          </a:p>
        </p:txBody>
      </p:sp>
      <p:sp>
        <p:nvSpPr>
          <p:cNvPr id="571" name="Google Shape;571;p53"/>
          <p:cNvSpPr txBox="1"/>
          <p:nvPr/>
        </p:nvSpPr>
        <p:spPr>
          <a:xfrm>
            <a:off x="457212" y="224028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466"/>
          </a:p>
        </p:txBody>
      </p:sp>
      <p:sp>
        <p:nvSpPr>
          <p:cNvPr id="572" name="Google Shape;572;p53"/>
          <p:cNvSpPr txBox="1"/>
          <p:nvPr/>
        </p:nvSpPr>
        <p:spPr>
          <a:xfrm>
            <a:off x="731540" y="2606040"/>
            <a:ext cx="10515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Voice commands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Calling and app opening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General reminders</a:t>
            </a:r>
            <a:endParaRPr sz="1466"/>
          </a:p>
        </p:txBody>
      </p:sp>
      <p:sp>
        <p:nvSpPr>
          <p:cNvPr id="573" name="Google Shape;573;p53"/>
          <p:cNvSpPr txBox="1"/>
          <p:nvPr/>
        </p:nvSpPr>
        <p:spPr>
          <a:xfrm>
            <a:off x="457212" y="370332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466"/>
          </a:p>
        </p:txBody>
      </p:sp>
      <p:sp>
        <p:nvSpPr>
          <p:cNvPr id="574" name="Google Shape;574;p53"/>
          <p:cNvSpPr txBox="1"/>
          <p:nvPr/>
        </p:nvSpPr>
        <p:spPr>
          <a:xfrm>
            <a:off x="731540" y="4069080"/>
            <a:ext cx="10515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 designed specifically for elderly users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Requires learning voice commands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 monitoring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medicine visual confirmation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emergency-focused design</a:t>
            </a:r>
            <a:endParaRPr sz="1466"/>
          </a:p>
        </p:txBody>
      </p:sp>
      <p:sp>
        <p:nvSpPr>
          <p:cNvPr id="575" name="Google Shape;575;p53"/>
          <p:cNvSpPr txBox="1"/>
          <p:nvPr/>
        </p:nvSpPr>
        <p:spPr>
          <a:xfrm>
            <a:off x="457212" y="5806440"/>
            <a:ext cx="11247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Generic assistant, not an assistive care solution.</a:t>
            </a:r>
            <a:endParaRPr sz="1466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5" name="Google Shape;585;p54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466"/>
          </a:p>
        </p:txBody>
      </p:sp>
      <p:sp>
        <p:nvSpPr>
          <p:cNvPr id="586" name="Google Shape;586;p54"/>
          <p:cNvSpPr txBox="1"/>
          <p:nvPr/>
        </p:nvSpPr>
        <p:spPr>
          <a:xfrm>
            <a:off x="457212" y="1078992"/>
            <a:ext cx="109730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Red Panic Button / SOS Emergency Apps</a:t>
            </a:r>
            <a:endParaRPr sz="1466"/>
          </a:p>
        </p:txBody>
      </p:sp>
      <p:sp>
        <p:nvSpPr>
          <p:cNvPr id="587" name="Google Shape;587;p54"/>
          <p:cNvSpPr txBox="1"/>
          <p:nvPr/>
        </p:nvSpPr>
        <p:spPr>
          <a:xfrm>
            <a:off x="457212" y="146304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</a:t>
            </a:r>
            <a:endParaRPr sz="1466"/>
          </a:p>
        </p:txBody>
      </p:sp>
      <p:sp>
        <p:nvSpPr>
          <p:cNvPr id="588" name="Google Shape;588;p54"/>
          <p:cNvSpPr txBox="1"/>
          <p:nvPr/>
        </p:nvSpPr>
        <p:spPr>
          <a:xfrm>
            <a:off x="457212" y="182880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Emergency support</a:t>
            </a:r>
            <a:endParaRPr sz="1466"/>
          </a:p>
        </p:txBody>
      </p:sp>
      <p:sp>
        <p:nvSpPr>
          <p:cNvPr id="589" name="Google Shape;589;p54"/>
          <p:cNvSpPr txBox="1"/>
          <p:nvPr/>
        </p:nvSpPr>
        <p:spPr>
          <a:xfrm>
            <a:off x="457212" y="224028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466"/>
          </a:p>
        </p:txBody>
      </p:sp>
      <p:sp>
        <p:nvSpPr>
          <p:cNvPr id="590" name="Google Shape;590;p54"/>
          <p:cNvSpPr txBox="1"/>
          <p:nvPr/>
        </p:nvSpPr>
        <p:spPr>
          <a:xfrm>
            <a:off x="731540" y="2606040"/>
            <a:ext cx="10515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One-touch SOS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Emergency calling and SMS</a:t>
            </a:r>
            <a:endParaRPr sz="1466"/>
          </a:p>
        </p:txBody>
      </p:sp>
      <p:sp>
        <p:nvSpPr>
          <p:cNvPr id="591" name="Google Shape;591;p54"/>
          <p:cNvSpPr txBox="1"/>
          <p:nvPr/>
        </p:nvSpPr>
        <p:spPr>
          <a:xfrm>
            <a:off x="457212" y="3383278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466"/>
          </a:p>
        </p:txBody>
      </p:sp>
      <p:sp>
        <p:nvSpPr>
          <p:cNvPr id="592" name="Google Shape;592;p54"/>
          <p:cNvSpPr txBox="1"/>
          <p:nvPr/>
        </p:nvSpPr>
        <p:spPr>
          <a:xfrm>
            <a:off x="731540" y="3749038"/>
            <a:ext cx="10515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Standalone emergency functionality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routine tracking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medicine or health reminders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caregiver dashboard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accessibility customization</a:t>
            </a:r>
            <a:endParaRPr sz="1466"/>
          </a:p>
        </p:txBody>
      </p:sp>
      <p:sp>
        <p:nvSpPr>
          <p:cNvPr id="593" name="Google Shape;593;p54"/>
          <p:cNvSpPr txBox="1"/>
          <p:nvPr/>
        </p:nvSpPr>
        <p:spPr>
          <a:xfrm>
            <a:off x="457212" y="5486400"/>
            <a:ext cx="11247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Effective for emergencies but isolated from daily care routines.</a:t>
            </a:r>
            <a:endParaRPr sz="1466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3" name="Google Shape;603;p55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Existing Applications</a:t>
            </a:r>
            <a:endParaRPr sz="1466"/>
          </a:p>
        </p:txBody>
      </p:sp>
      <p:sp>
        <p:nvSpPr>
          <p:cNvPr id="604" name="Google Shape;604;p55"/>
          <p:cNvSpPr txBox="1"/>
          <p:nvPr/>
        </p:nvSpPr>
        <p:spPr>
          <a:xfrm>
            <a:off x="457212" y="1078992"/>
            <a:ext cx="109730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1010"/>
                </a:solidFill>
                <a:latin typeface="Georgia"/>
                <a:ea typeface="Georgia"/>
                <a:cs typeface="Georgia"/>
                <a:sym typeface="Georgia"/>
              </a:rPr>
              <a:t>Google Maps</a:t>
            </a:r>
            <a:endParaRPr sz="1466"/>
          </a:p>
        </p:txBody>
      </p:sp>
      <p:sp>
        <p:nvSpPr>
          <p:cNvPr id="605" name="Google Shape;605;p55"/>
          <p:cNvSpPr txBox="1"/>
          <p:nvPr/>
        </p:nvSpPr>
        <p:spPr>
          <a:xfrm>
            <a:off x="457212" y="146304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Platform: Android</a:t>
            </a:r>
            <a:endParaRPr sz="1466"/>
          </a:p>
        </p:txBody>
      </p:sp>
      <p:sp>
        <p:nvSpPr>
          <p:cNvPr id="606" name="Google Shape;606;p55"/>
          <p:cNvSpPr txBox="1"/>
          <p:nvPr/>
        </p:nvSpPr>
        <p:spPr>
          <a:xfrm>
            <a:off x="457212" y="182880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Purpose: Navigation</a:t>
            </a:r>
            <a:endParaRPr sz="1466"/>
          </a:p>
        </p:txBody>
      </p:sp>
      <p:sp>
        <p:nvSpPr>
          <p:cNvPr id="607" name="Google Shape;607;p55"/>
          <p:cNvSpPr txBox="1"/>
          <p:nvPr/>
        </p:nvSpPr>
        <p:spPr>
          <a:xfrm>
            <a:off x="457212" y="2240280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Features:</a:t>
            </a:r>
            <a:endParaRPr sz="1466"/>
          </a:p>
        </p:txBody>
      </p:sp>
      <p:sp>
        <p:nvSpPr>
          <p:cNvPr id="608" name="Google Shape;608;p55"/>
          <p:cNvSpPr txBox="1"/>
          <p:nvPr/>
        </p:nvSpPr>
        <p:spPr>
          <a:xfrm>
            <a:off x="731540" y="2606040"/>
            <a:ext cx="10515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Location-based navigation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Route planning</a:t>
            </a:r>
            <a:endParaRPr sz="1466"/>
          </a:p>
        </p:txBody>
      </p:sp>
      <p:sp>
        <p:nvSpPr>
          <p:cNvPr id="609" name="Google Shape;609;p55"/>
          <p:cNvSpPr txBox="1"/>
          <p:nvPr/>
        </p:nvSpPr>
        <p:spPr>
          <a:xfrm>
            <a:off x="457212" y="3383278"/>
            <a:ext cx="109730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Limitations:</a:t>
            </a:r>
            <a:endParaRPr sz="1466"/>
          </a:p>
        </p:txBody>
      </p:sp>
      <p:sp>
        <p:nvSpPr>
          <p:cNvPr id="610" name="Google Shape;610;p55"/>
          <p:cNvSpPr txBox="1"/>
          <p:nvPr/>
        </p:nvSpPr>
        <p:spPr>
          <a:xfrm>
            <a:off x="731540" y="3749038"/>
            <a:ext cx="10515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Does not reliably indicate wheelchair accessibility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 accessibility tagging by caregivers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Not integrated with elderly assistive workflows</a:t>
            </a:r>
            <a:endParaRPr sz="1466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• Requires multiple steps and user interaction</a:t>
            </a:r>
            <a:endParaRPr sz="1466"/>
          </a:p>
        </p:txBody>
      </p:sp>
      <p:sp>
        <p:nvSpPr>
          <p:cNvPr id="611" name="Google Shape;611;p55"/>
          <p:cNvSpPr txBox="1"/>
          <p:nvPr/>
        </p:nvSpPr>
        <p:spPr>
          <a:xfrm>
            <a:off x="457212" y="5166360"/>
            <a:ext cx="11247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00" lIns="34275" spcFirstLastPara="1" rIns="34275" wrap="square" tIns="13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66" u="none" cap="none" strike="noStrike">
                <a:solidFill>
                  <a:srgbClr val="101010"/>
                </a:solidFill>
                <a:latin typeface="Calibri"/>
                <a:ea typeface="Calibri"/>
                <a:cs typeface="Calibri"/>
                <a:sym typeface="Calibri"/>
              </a:rPr>
              <a:t>Inference: General navigation app, not designed for disabled accessibility support.</a:t>
            </a:r>
            <a:endParaRPr sz="1466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8" name="Google Shape;498;p48"/>
          <p:cNvSpPr txBox="1"/>
          <p:nvPr/>
        </p:nvSpPr>
        <p:spPr>
          <a:xfrm>
            <a:off x="2468945" y="228600"/>
            <a:ext cx="72239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6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Supporting Documents and Links</a:t>
            </a:r>
            <a:endParaRPr sz="1466"/>
          </a:p>
        </p:txBody>
      </p:sp>
      <p:sp>
        <p:nvSpPr>
          <p:cNvPr id="499" name="Rounded Rectangle 498"/>
          <p:cNvSpPr/>
          <p:nvPr/>
        </p:nvSpPr>
        <p:spPr>
          <a:xfrm>
            <a:off x="646176" y="128016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Source Code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github.com/Suyash2205/Care-Companion-</a:t>
            </a:r>
          </a:p>
        </p:txBody>
      </p:sp>
      <p:sp>
        <p:nvSpPr>
          <p:cNvPr id="500" name="Oval 499"/>
          <p:cNvSpPr/>
          <p:nvPr/>
        </p:nvSpPr>
        <p:spPr>
          <a:xfrm>
            <a:off x="3023616" y="107899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01" name="Rounded Rectangle 500"/>
          <p:cNvSpPr/>
          <p:nvPr/>
        </p:nvSpPr>
        <p:spPr>
          <a:xfrm>
            <a:off x="6400800" y="128016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Release APK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github.com/Suyash2205/Care-Companion-/releases</a:t>
            </a:r>
          </a:p>
        </p:txBody>
      </p:sp>
      <p:sp>
        <p:nvSpPr>
          <p:cNvPr id="502" name="Oval 501"/>
          <p:cNvSpPr/>
          <p:nvPr/>
        </p:nvSpPr>
        <p:spPr>
          <a:xfrm>
            <a:off x="8778240" y="107899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03" name="Rounded Rectangle 502"/>
          <p:cNvSpPr/>
          <p:nvPr/>
        </p:nvSpPr>
        <p:spPr>
          <a:xfrm>
            <a:off x="646176" y="292608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Research Paper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IEEE format — submitted with this presentation</a:t>
            </a:r>
          </a:p>
        </p:txBody>
      </p:sp>
      <p:sp>
        <p:nvSpPr>
          <p:cNvPr id="504" name="Oval 503"/>
          <p:cNvSpPr/>
          <p:nvPr/>
        </p:nvSpPr>
        <p:spPr>
          <a:xfrm>
            <a:off x="3023616" y="269443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505" name="Rounded Rectangle 504"/>
          <p:cNvSpPr/>
          <p:nvPr/>
        </p:nvSpPr>
        <p:spPr>
          <a:xfrm>
            <a:off x="6400800" y="292608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User Manual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PDF — submitted with this presentation</a:t>
            </a:r>
          </a:p>
        </p:txBody>
      </p:sp>
      <p:sp>
        <p:nvSpPr>
          <p:cNvPr id="506" name="Oval 505"/>
          <p:cNvSpPr/>
          <p:nvPr/>
        </p:nvSpPr>
        <p:spPr>
          <a:xfrm>
            <a:off x="8778240" y="269443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507" name="Rounded Rectangle 506"/>
          <p:cNvSpPr/>
          <p:nvPr/>
        </p:nvSpPr>
        <p:spPr>
          <a:xfrm>
            <a:off x="646176" y="457200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Conference Submission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www.iciss2027.in</a:t>
            </a:r>
          </a:p>
        </p:txBody>
      </p:sp>
      <p:sp>
        <p:nvSpPr>
          <p:cNvPr id="508" name="Oval 507"/>
          <p:cNvSpPr/>
          <p:nvPr/>
        </p:nvSpPr>
        <p:spPr>
          <a:xfrm>
            <a:off x="3023616" y="434035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509" name="Rounded Rectangle 508"/>
          <p:cNvSpPr/>
          <p:nvPr/>
        </p:nvSpPr>
        <p:spPr>
          <a:xfrm>
            <a:off x="6400800" y="4572000"/>
            <a:ext cx="5120640" cy="136550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66" b="1">
                <a:solidFill>
                  <a:srgbClr val="9B1C2E"/>
                </a:solidFill>
                <a:latin typeface="Georgia"/>
              </a:rPr>
              <a:t>Demo Video</a:t>
            </a:r>
          </a:p>
          <a:p>
            <a:pPr algn="ctr"/>
            <a:r>
              <a:rPr sz="1466" b="0">
                <a:solidFill>
                  <a:srgbClr val="101010"/>
                </a:solidFill>
                <a:latin typeface="Calibri"/>
              </a:rPr>
              <a:t>To be added before the demonstration</a:t>
            </a:r>
          </a:p>
        </p:txBody>
      </p:sp>
      <p:sp>
        <p:nvSpPr>
          <p:cNvPr id="510" name="Oval 509"/>
          <p:cNvSpPr/>
          <p:nvPr/>
        </p:nvSpPr>
        <p:spPr>
          <a:xfrm>
            <a:off x="8778240" y="4340352"/>
            <a:ext cx="463296" cy="463296"/>
          </a:xfrm>
          <a:prstGeom prst="ellipse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21" name="Google Shape;621;p56"/>
          <p:cNvSpPr txBox="1"/>
          <p:nvPr/>
        </p:nvSpPr>
        <p:spPr>
          <a:xfrm>
            <a:off x="0" y="2560320"/>
            <a:ext cx="121920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700" lIns="34275" spcFirstLastPara="1" rIns="34275" wrap="square" tIns="13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800" u="none" cap="none" strike="noStrike">
                <a:solidFill>
                  <a:srgbClr val="9B1C2E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sz="1466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maiya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Custom</PresentationFormat>
  <Paragraphs>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Times New Roman</vt:lpstr>
      <vt:lpstr>Calibri</vt:lpstr>
      <vt:lpstr>Marcellus</vt:lpstr>
      <vt:lpstr>Fira Sans</vt:lpstr>
      <vt:lpstr>Office Theme</vt:lpstr>
      <vt:lpstr>Title</vt:lpstr>
      <vt:lpstr>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Pushpendra Kumar Dhansoia</dc:creator>
  <cp:lastModifiedBy>Admin</cp:lastModifiedBy>
  <cp:revision>2</cp:revision>
  <dcterms:created xsi:type="dcterms:W3CDTF">2022-02-21T05:08:08Z</dcterms:created>
  <dcterms:modified xsi:type="dcterms:W3CDTF">2026-03-09T05:47:19Z</dcterms:modified>
</cp:coreProperties>
</file>