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88" r:id="rId40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89" r:id="rId41"/>
    <p:sldId id="290" r:id="rId42"/>
    <p:sldId id="291" r:id="rId43"/>
    <p:sldId id="292" r:id="rId44"/>
    <p:sldId id="293" r:id="rId45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94" r:id="rId46"/>
    <p:sldId id="287" r:id="rId3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42F0A8C-1AB1-43D6-BED5-D7B6EA3BAF06}">
  <a:tblStyle styleId="{C42F0A8C-1AB1-43D6-BED5-D7B6EA3BAF0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99542edb8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f99542edb8_2_7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99542edb8_2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f99542edb8_2_86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99542edb8_2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f99542edb8_2_10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99542edb8_2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f99542edb8_2_113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99542edb8_2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f99542edb8_2_123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f99542edb8_2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f99542edb8_2_133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f99542edb8_2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f99542edb8_2_151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f99542edb8_2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f99542edb8_2_161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99542edb8_2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3f99542edb8_2_171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f99542edb8_2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f99542edb8_2_181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f99542edb8_2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3f99542edb8_2_208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f99542edb8_2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g3f99542edb8_2_229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f99542edb8_2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g3f99542edb8_2_25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f99542edb8_2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g3f99542edb8_2_267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f99542edb8_2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g3f99542edb8_2_293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f99542edb8_2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g3f99542edb8_2_306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f99542edb8_2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g3f99542edb8_2_321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f99542edb8_2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g3f99542edb8_2_336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f99542edb8_2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g3f99542edb8_2_35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f99542edb8_2_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g3f99542edb8_2_404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f99542edb8_2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g3f99542edb8_2_36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f99542edb8_2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g3f99542edb8_2_378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f99542edb8_2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g3f99542edb8_2_391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f99542edb8_2_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g3f99542edb8_2_417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f99542edb8_2_4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g3f99542edb8_2_427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f99542edb8_2_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g3f99542edb8_2_437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f99542edb8_2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g3f99542edb8_2_447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f99542edb8_2_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g3f99542edb8_2_464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f99542edb8_2_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g3f99542edb8_2_481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f99542edb8_2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g3f99542edb8_2_498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f99542edb8_2_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g3f99542edb8_2_51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f99542edb8_2_5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g3f99542edb8_2_532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364" y="1597819"/>
            <a:ext cx="5829455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727" y="2914650"/>
            <a:ext cx="4800728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749" y="3305175"/>
            <a:ext cx="5829455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749" y="2180035"/>
            <a:ext cx="5829455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09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6243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9" y="1151335"/>
            <a:ext cx="303022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09" y="1631156"/>
            <a:ext cx="303022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3862" y="1151335"/>
            <a:ext cx="303141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3862" y="1631156"/>
            <a:ext cx="303141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9" y="204788"/>
            <a:ext cx="225629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359" y="204788"/>
            <a:ext cx="3833915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9" y="1076325"/>
            <a:ext cx="225629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52" y="3600450"/>
            <a:ext cx="411491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52" y="459581"/>
            <a:ext cx="411491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52" y="4025503"/>
            <a:ext cx="411491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855" y="-188796"/>
            <a:ext cx="3394472" cy="61723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406" y="1628755"/>
            <a:ext cx="4388644" cy="1543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72" y="142815"/>
            <a:ext cx="4388644" cy="45149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15.png"/><Relationship Id="rId6" Type="http://schemas.openxmlformats.org/officeDocument/2006/relationships/image" Target="../media/image1.png"/><Relationship Id="rId7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image" Target="../media/image18.png"/><Relationship Id="rId5" Type="http://schemas.openxmlformats.org/officeDocument/2006/relationships/image" Target="../media/image5.png"/><Relationship Id="rId6" Type="http://schemas.openxmlformats.org/officeDocument/2006/relationships/image" Target="../media/image26.png"/><Relationship Id="rId7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Relationship Id="rId4" Type="http://schemas.openxmlformats.org/officeDocument/2006/relationships/image" Target="../media/image6.png"/><Relationship Id="rId5" Type="http://schemas.openxmlformats.org/officeDocument/2006/relationships/image" Target="../media/image13.png"/><Relationship Id="rId6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12.png"/><Relationship Id="rId6" Type="http://schemas.openxmlformats.org/officeDocument/2006/relationships/image" Target="../media/image21.png"/><Relationship Id="rId7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Relationship Id="rId4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png"/><Relationship Id="rId4" Type="http://schemas.openxmlformats.org/officeDocument/2006/relationships/image" Target="../media/image27.png"/><Relationship Id="rId5" Type="http://schemas.openxmlformats.org/officeDocument/2006/relationships/image" Target="../media/image2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8.png"/><Relationship Id="rId4" Type="http://schemas.openxmlformats.org/officeDocument/2006/relationships/image" Target="../media/image30.png"/><Relationship Id="rId5" Type="http://schemas.openxmlformats.org/officeDocument/2006/relationships/image" Target="../media/image2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171455" y="102870"/>
            <a:ext cx="1577382" cy="3771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SOMAIYA VIDYAVIHAR UNIVERSITY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K J Somaiya School of Engineering</a:t>
            </a:r>
            <a:endParaRPr sz="1100"/>
          </a:p>
        </p:txBody>
      </p:sp>
      <p:sp>
        <p:nvSpPr>
          <p:cNvPr id="130" name="Google Shape;130;p25"/>
          <p:cNvSpPr/>
          <p:nvPr/>
        </p:nvSpPr>
        <p:spPr>
          <a:xfrm>
            <a:off x="8435565" y="123444"/>
            <a:ext cx="582946" cy="342900"/>
          </a:xfrm>
          <a:prstGeom prst="rect">
            <a:avLst/>
          </a:prstGeom>
          <a:solidFill>
            <a:srgbClr val="163A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Somaiya</a:t>
            </a:r>
            <a:b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sz="1100"/>
          </a:p>
        </p:txBody>
      </p:sp>
      <p:sp>
        <p:nvSpPr>
          <p:cNvPr id="131" name="Google Shape;131;p25"/>
          <p:cNvSpPr/>
          <p:nvPr/>
        </p:nvSpPr>
        <p:spPr>
          <a:xfrm>
            <a:off x="0" y="4697730"/>
            <a:ext cx="411491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5"/>
          <p:cNvSpPr/>
          <p:nvPr/>
        </p:nvSpPr>
        <p:spPr>
          <a:xfrm>
            <a:off x="411491" y="4800600"/>
            <a:ext cx="7818328" cy="34290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5"/>
          <p:cNvSpPr/>
          <p:nvPr/>
        </p:nvSpPr>
        <p:spPr>
          <a:xfrm>
            <a:off x="8229819" y="4697730"/>
            <a:ext cx="914196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5"/>
          <p:cNvSpPr txBox="1"/>
          <p:nvPr/>
        </p:nvSpPr>
        <p:spPr>
          <a:xfrm>
            <a:off x="480073" y="1645920"/>
            <a:ext cx="7544001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4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CareCompanion</a:t>
            </a:r>
            <a:endParaRPr sz="1100"/>
          </a:p>
        </p:txBody>
      </p:sp>
      <p:sp>
        <p:nvSpPr>
          <p:cNvPr id="135" name="Google Shape;135;p25"/>
          <p:cNvSpPr txBox="1"/>
          <p:nvPr/>
        </p:nvSpPr>
        <p:spPr>
          <a:xfrm>
            <a:off x="480073" y="2606040"/>
            <a:ext cx="7544001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100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Assistive Companion Mobile Application for Elderly and Disabled Users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/>
          <p:nvPr/>
        </p:nvSpPr>
        <p:spPr>
          <a:xfrm>
            <a:off x="171455" y="102870"/>
            <a:ext cx="1577382" cy="3771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SOMAIYA VIDYAVIHAR UNIVERSITY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K J Somaiya School of Engineering</a:t>
            </a:r>
            <a:endParaRPr sz="1100"/>
          </a:p>
        </p:txBody>
      </p:sp>
      <p:sp>
        <p:nvSpPr>
          <p:cNvPr id="141" name="Google Shape;141;p26"/>
          <p:cNvSpPr/>
          <p:nvPr/>
        </p:nvSpPr>
        <p:spPr>
          <a:xfrm>
            <a:off x="8435565" y="123444"/>
            <a:ext cx="582946" cy="342900"/>
          </a:xfrm>
          <a:prstGeom prst="rect">
            <a:avLst/>
          </a:prstGeom>
          <a:solidFill>
            <a:srgbClr val="163A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Somaiya</a:t>
            </a:r>
            <a:b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sz="1100"/>
          </a:p>
        </p:txBody>
      </p:sp>
      <p:sp>
        <p:nvSpPr>
          <p:cNvPr id="142" name="Google Shape;142;p26"/>
          <p:cNvSpPr/>
          <p:nvPr/>
        </p:nvSpPr>
        <p:spPr>
          <a:xfrm>
            <a:off x="0" y="4697730"/>
            <a:ext cx="411491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6"/>
          <p:cNvSpPr/>
          <p:nvPr/>
        </p:nvSpPr>
        <p:spPr>
          <a:xfrm>
            <a:off x="411491" y="4800600"/>
            <a:ext cx="7818328" cy="34290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6"/>
          <p:cNvSpPr/>
          <p:nvPr/>
        </p:nvSpPr>
        <p:spPr>
          <a:xfrm>
            <a:off x="8229819" y="4697730"/>
            <a:ext cx="914196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6"/>
          <p:cNvSpPr txBox="1"/>
          <p:nvPr/>
        </p:nvSpPr>
        <p:spPr>
          <a:xfrm>
            <a:off x="0" y="1028700"/>
            <a:ext cx="914401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400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Group ID - 6</a:t>
            </a:r>
            <a:endParaRPr sz="1100"/>
          </a:p>
        </p:txBody>
      </p:sp>
      <p:sp>
        <p:nvSpPr>
          <p:cNvPr id="146" name="Google Shape;146;p26"/>
          <p:cNvSpPr txBox="1"/>
          <p:nvPr/>
        </p:nvSpPr>
        <p:spPr>
          <a:xfrm>
            <a:off x="0" y="1508760"/>
            <a:ext cx="9144015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Devanshi Pandey  16014023016  EXCP</a:t>
            </a:r>
            <a:endParaRPr sz="1100"/>
          </a:p>
        </p:txBody>
      </p:sp>
      <p:sp>
        <p:nvSpPr>
          <p:cNvPr id="147" name="Google Shape;147;p26"/>
          <p:cNvSpPr txBox="1"/>
          <p:nvPr/>
        </p:nvSpPr>
        <p:spPr>
          <a:xfrm>
            <a:off x="0" y="1885950"/>
            <a:ext cx="9144015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Suyash Humne    16014223085  AIDS</a:t>
            </a:r>
            <a:endParaRPr sz="1100"/>
          </a:p>
        </p:txBody>
      </p:sp>
      <p:sp>
        <p:nvSpPr>
          <p:cNvPr id="148" name="Google Shape;148;p26"/>
          <p:cNvSpPr txBox="1"/>
          <p:nvPr/>
        </p:nvSpPr>
        <p:spPr>
          <a:xfrm>
            <a:off x="0" y="2263140"/>
            <a:ext cx="9144015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Deon Menezes    16014223030  AIDS</a:t>
            </a:r>
            <a:endParaRPr sz="1100"/>
          </a:p>
        </p:txBody>
      </p:sp>
      <p:sp>
        <p:nvSpPr>
          <p:cNvPr id="149" name="Google Shape;149;p26"/>
          <p:cNvSpPr txBox="1"/>
          <p:nvPr/>
        </p:nvSpPr>
        <p:spPr>
          <a:xfrm>
            <a:off x="822982" y="3017520"/>
            <a:ext cx="754400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Project Guide:  Sonali Wankhede  (IT/AIDS)</a:t>
            </a:r>
            <a:endParaRPr sz="1100"/>
          </a:p>
        </p:txBody>
      </p:sp>
      <p:sp>
        <p:nvSpPr>
          <p:cNvPr id="150" name="Google Shape;150;p26"/>
          <p:cNvSpPr txBox="1"/>
          <p:nvPr/>
        </p:nvSpPr>
        <p:spPr>
          <a:xfrm>
            <a:off x="822982" y="3394710"/>
            <a:ext cx="754400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Project Co-Guide:  Balwant Kumar Singh  (EXCP)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/>
          <p:nvPr/>
        </p:nvSpPr>
        <p:spPr>
          <a:xfrm>
            <a:off x="171455" y="102870"/>
            <a:ext cx="1577382" cy="3771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SOMAIYA VIDYAVIHAR UNIVERSITY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K J Somaiya School of Engineering</a:t>
            </a:r>
            <a:endParaRPr sz="1100"/>
          </a:p>
        </p:txBody>
      </p:sp>
      <p:sp>
        <p:nvSpPr>
          <p:cNvPr id="156" name="Google Shape;156;p27"/>
          <p:cNvSpPr/>
          <p:nvPr/>
        </p:nvSpPr>
        <p:spPr>
          <a:xfrm>
            <a:off x="8435565" y="123444"/>
            <a:ext cx="582946" cy="342900"/>
          </a:xfrm>
          <a:prstGeom prst="rect">
            <a:avLst/>
          </a:prstGeom>
          <a:solidFill>
            <a:srgbClr val="163A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Somaiya</a:t>
            </a:r>
            <a:b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sz="1100"/>
          </a:p>
        </p:txBody>
      </p:sp>
      <p:sp>
        <p:nvSpPr>
          <p:cNvPr id="157" name="Google Shape;157;p27"/>
          <p:cNvSpPr/>
          <p:nvPr/>
        </p:nvSpPr>
        <p:spPr>
          <a:xfrm>
            <a:off x="0" y="4697730"/>
            <a:ext cx="411491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7"/>
          <p:cNvSpPr/>
          <p:nvPr/>
        </p:nvSpPr>
        <p:spPr>
          <a:xfrm>
            <a:off x="411491" y="4800600"/>
            <a:ext cx="7818328" cy="34290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7"/>
          <p:cNvSpPr/>
          <p:nvPr/>
        </p:nvSpPr>
        <p:spPr>
          <a:xfrm>
            <a:off x="8229819" y="4697730"/>
            <a:ext cx="914196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7"/>
          <p:cNvSpPr txBox="1"/>
          <p:nvPr/>
        </p:nvSpPr>
        <p:spPr>
          <a:xfrm>
            <a:off x="1851709" y="171450"/>
            <a:ext cx="541796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Introduction / Background</a:t>
            </a:r>
            <a:endParaRPr sz="1100"/>
          </a:p>
        </p:txBody>
      </p:sp>
      <p:sp>
        <p:nvSpPr>
          <p:cNvPr id="161" name="Google Shape;161;p27"/>
          <p:cNvSpPr txBox="1"/>
          <p:nvPr/>
        </p:nvSpPr>
        <p:spPr>
          <a:xfrm>
            <a:off x="1097309" y="1028700"/>
            <a:ext cx="685818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Elderly and disabled individuals face difficulty:</a:t>
            </a:r>
            <a:endParaRPr sz="1100"/>
          </a:p>
        </p:txBody>
      </p:sp>
      <p:sp>
        <p:nvSpPr>
          <p:cNvPr id="162" name="Google Shape;162;p27"/>
          <p:cNvSpPr txBox="1"/>
          <p:nvPr/>
        </p:nvSpPr>
        <p:spPr>
          <a:xfrm>
            <a:off x="1645964" y="1405889"/>
            <a:ext cx="6515274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Remembering daily medicines</a:t>
            </a:r>
            <a:endParaRPr sz="1100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Maintaining regular activity and hydration</a:t>
            </a:r>
            <a:endParaRPr sz="1100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Accessing help during emergencies</a:t>
            </a:r>
            <a:endParaRPr sz="1100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Finding wheelchair-friendly locations</a:t>
            </a:r>
            <a:endParaRPr sz="1100"/>
          </a:p>
        </p:txBody>
      </p:sp>
      <p:sp>
        <p:nvSpPr>
          <p:cNvPr id="163" name="Google Shape;163;p27"/>
          <p:cNvSpPr txBox="1"/>
          <p:nvPr/>
        </p:nvSpPr>
        <p:spPr>
          <a:xfrm>
            <a:off x="0" y="3223260"/>
            <a:ext cx="914401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Caregivers cannot monitor continuously</a:t>
            </a:r>
            <a:endParaRPr sz="1100"/>
          </a:p>
        </p:txBody>
      </p:sp>
      <p:sp>
        <p:nvSpPr>
          <p:cNvPr id="164" name="Google Shape;164;p27"/>
          <p:cNvSpPr txBox="1"/>
          <p:nvPr/>
        </p:nvSpPr>
        <p:spPr>
          <a:xfrm>
            <a:off x="0" y="3703320"/>
            <a:ext cx="914401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Hence there is a need for a simple, accessible, integrated solution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/>
          <p:nvPr/>
        </p:nvSpPr>
        <p:spPr>
          <a:xfrm>
            <a:off x="171455" y="102870"/>
            <a:ext cx="1577382" cy="3771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SOMAIYA VIDYAVIHAR UNIVERSITY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K J Somaiya School of Engineering</a:t>
            </a:r>
            <a:endParaRPr sz="1100"/>
          </a:p>
        </p:txBody>
      </p:sp>
      <p:sp>
        <p:nvSpPr>
          <p:cNvPr id="170" name="Google Shape;170;p28"/>
          <p:cNvSpPr/>
          <p:nvPr/>
        </p:nvSpPr>
        <p:spPr>
          <a:xfrm>
            <a:off x="8435565" y="123444"/>
            <a:ext cx="582946" cy="342900"/>
          </a:xfrm>
          <a:prstGeom prst="rect">
            <a:avLst/>
          </a:prstGeom>
          <a:solidFill>
            <a:srgbClr val="163A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Somaiya</a:t>
            </a:r>
            <a:b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sz="1100"/>
          </a:p>
        </p:txBody>
      </p:sp>
      <p:sp>
        <p:nvSpPr>
          <p:cNvPr id="171" name="Google Shape;171;p28"/>
          <p:cNvSpPr/>
          <p:nvPr/>
        </p:nvSpPr>
        <p:spPr>
          <a:xfrm>
            <a:off x="0" y="4697730"/>
            <a:ext cx="411491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8"/>
          <p:cNvSpPr/>
          <p:nvPr/>
        </p:nvSpPr>
        <p:spPr>
          <a:xfrm>
            <a:off x="411491" y="4800600"/>
            <a:ext cx="7818328" cy="34290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8"/>
          <p:cNvSpPr/>
          <p:nvPr/>
        </p:nvSpPr>
        <p:spPr>
          <a:xfrm>
            <a:off x="8229819" y="4697730"/>
            <a:ext cx="914196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8"/>
          <p:cNvSpPr txBox="1"/>
          <p:nvPr/>
        </p:nvSpPr>
        <p:spPr>
          <a:xfrm>
            <a:off x="1851709" y="171450"/>
            <a:ext cx="541796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Problem Statement</a:t>
            </a:r>
            <a:endParaRPr sz="1100"/>
          </a:p>
        </p:txBody>
      </p:sp>
      <p:sp>
        <p:nvSpPr>
          <p:cNvPr id="175" name="Google Shape;175;p28"/>
          <p:cNvSpPr txBox="1"/>
          <p:nvPr/>
        </p:nvSpPr>
        <p:spPr>
          <a:xfrm>
            <a:off x="685818" y="960120"/>
            <a:ext cx="7886910" cy="3634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Elderly and disabled users face difficulty managing daily healthcare tasks such as medicines and activities</a:t>
            </a:r>
            <a:endParaRPr sz="1100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Challenges include remembering medicines, maintaining hydration, and accessing emergency help</a:t>
            </a:r>
            <a:endParaRPr sz="1100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Existing mobile applications solve these problems individually, not in an integrated manner</a:t>
            </a:r>
            <a:endParaRPr sz="1100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Most apps are not designed with accessibility as a priority</a:t>
            </a:r>
            <a:endParaRPr sz="1100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Users struggle with small text, complex navigation, and lack of voice/visual assistance</a:t>
            </a:r>
            <a:endParaRPr sz="1100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Hence, there is a need for a simple, accessible, and unified assistive mobile solution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/>
          <p:nvPr/>
        </p:nvSpPr>
        <p:spPr>
          <a:xfrm>
            <a:off x="171455" y="102870"/>
            <a:ext cx="1577382" cy="3771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SOMAIYA VIDYAVIHAR UNIVERSITY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K J Somaiya School of Engineering</a:t>
            </a:r>
            <a:endParaRPr sz="1100"/>
          </a:p>
        </p:txBody>
      </p:sp>
      <p:sp>
        <p:nvSpPr>
          <p:cNvPr id="181" name="Google Shape;181;p29"/>
          <p:cNvSpPr/>
          <p:nvPr/>
        </p:nvSpPr>
        <p:spPr>
          <a:xfrm>
            <a:off x="8435565" y="123444"/>
            <a:ext cx="582946" cy="342900"/>
          </a:xfrm>
          <a:prstGeom prst="rect">
            <a:avLst/>
          </a:prstGeom>
          <a:solidFill>
            <a:srgbClr val="163A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Somaiya</a:t>
            </a:r>
            <a:b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sz="1100"/>
          </a:p>
        </p:txBody>
      </p:sp>
      <p:sp>
        <p:nvSpPr>
          <p:cNvPr id="182" name="Google Shape;182;p29"/>
          <p:cNvSpPr/>
          <p:nvPr/>
        </p:nvSpPr>
        <p:spPr>
          <a:xfrm>
            <a:off x="0" y="4697730"/>
            <a:ext cx="411491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9"/>
          <p:cNvSpPr/>
          <p:nvPr/>
        </p:nvSpPr>
        <p:spPr>
          <a:xfrm>
            <a:off x="411491" y="4800600"/>
            <a:ext cx="7818328" cy="34290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9"/>
          <p:cNvSpPr/>
          <p:nvPr/>
        </p:nvSpPr>
        <p:spPr>
          <a:xfrm>
            <a:off x="8229819" y="4697730"/>
            <a:ext cx="914196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9"/>
          <p:cNvSpPr txBox="1"/>
          <p:nvPr/>
        </p:nvSpPr>
        <p:spPr>
          <a:xfrm>
            <a:off x="1851709" y="171450"/>
            <a:ext cx="541796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Objectives of the Project</a:t>
            </a:r>
            <a:endParaRPr sz="1100"/>
          </a:p>
        </p:txBody>
      </p:sp>
      <p:sp>
        <p:nvSpPr>
          <p:cNvPr id="186" name="Google Shape;186;p29"/>
          <p:cNvSpPr txBox="1"/>
          <p:nvPr/>
        </p:nvSpPr>
        <p:spPr>
          <a:xfrm>
            <a:off x="1714546" y="1165860"/>
            <a:ext cx="6172365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Develop assistive Android application</a:t>
            </a:r>
            <a:endParaRPr sz="1100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Provide medicine &amp; activity reminders</a:t>
            </a:r>
            <a:endParaRPr sz="1100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Enable caregiver monitoring</a:t>
            </a:r>
            <a:endParaRPr sz="1100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Implement emergency SOS</a:t>
            </a:r>
            <a:endParaRPr sz="1100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Maintain health vitals records</a:t>
            </a:r>
            <a:endParaRPr sz="1100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Ensure accessibility-first UI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/>
          <p:nvPr/>
        </p:nvSpPr>
        <p:spPr>
          <a:xfrm>
            <a:off x="171455" y="102870"/>
            <a:ext cx="1577382" cy="3771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SOMAIYA VIDYAVIHAR UNIVERSITY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K J Somaiya School of Engineering</a:t>
            </a:r>
            <a:endParaRPr sz="1100"/>
          </a:p>
        </p:txBody>
      </p:sp>
      <p:sp>
        <p:nvSpPr>
          <p:cNvPr id="192" name="Google Shape;192;p30"/>
          <p:cNvSpPr/>
          <p:nvPr/>
        </p:nvSpPr>
        <p:spPr>
          <a:xfrm>
            <a:off x="8435565" y="123444"/>
            <a:ext cx="582946" cy="342900"/>
          </a:xfrm>
          <a:prstGeom prst="rect">
            <a:avLst/>
          </a:prstGeom>
          <a:solidFill>
            <a:srgbClr val="163A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Somaiya</a:t>
            </a:r>
            <a:b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sz="1100"/>
          </a:p>
        </p:txBody>
      </p:sp>
      <p:sp>
        <p:nvSpPr>
          <p:cNvPr id="193" name="Google Shape;193;p30"/>
          <p:cNvSpPr/>
          <p:nvPr/>
        </p:nvSpPr>
        <p:spPr>
          <a:xfrm>
            <a:off x="0" y="4697730"/>
            <a:ext cx="411491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30"/>
          <p:cNvSpPr/>
          <p:nvPr/>
        </p:nvSpPr>
        <p:spPr>
          <a:xfrm>
            <a:off x="411491" y="4800600"/>
            <a:ext cx="7818328" cy="34290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30"/>
          <p:cNvSpPr/>
          <p:nvPr/>
        </p:nvSpPr>
        <p:spPr>
          <a:xfrm>
            <a:off x="8229819" y="4697730"/>
            <a:ext cx="914196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30"/>
          <p:cNvSpPr txBox="1"/>
          <p:nvPr/>
        </p:nvSpPr>
        <p:spPr>
          <a:xfrm>
            <a:off x="1851709" y="171450"/>
            <a:ext cx="541796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Objectives of the Project</a:t>
            </a:r>
            <a:endParaRPr sz="1100"/>
          </a:p>
        </p:txBody>
      </p:sp>
      <p:sp>
        <p:nvSpPr>
          <p:cNvPr id="197" name="Google Shape;197;p30"/>
          <p:cNvSpPr txBox="1"/>
          <p:nvPr/>
        </p:nvSpPr>
        <p:spPr>
          <a:xfrm>
            <a:off x="1371637" y="822960"/>
            <a:ext cx="685818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CareCompanion is an Android-based assistive application that:</a:t>
            </a:r>
            <a:endParaRPr sz="1100"/>
          </a:p>
        </p:txBody>
      </p:sp>
      <p:sp>
        <p:nvSpPr>
          <p:cNvPr id="198" name="Google Shape;198;p30"/>
          <p:cNvSpPr txBox="1"/>
          <p:nvPr/>
        </p:nvSpPr>
        <p:spPr>
          <a:xfrm>
            <a:off x="1028727" y="1371600"/>
            <a:ext cx="411491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1.</a:t>
            </a:r>
            <a:endParaRPr sz="1100"/>
          </a:p>
        </p:txBody>
      </p:sp>
      <p:sp>
        <p:nvSpPr>
          <p:cNvPr id="199" name="Google Shape;199;p30"/>
          <p:cNvSpPr/>
          <p:nvPr/>
        </p:nvSpPr>
        <p:spPr>
          <a:xfrm>
            <a:off x="1508800" y="1371600"/>
            <a:ext cx="6721019" cy="514350"/>
          </a:xfrm>
          <a:prstGeom prst="roundRect">
            <a:avLst>
              <a:gd fmla="val 16667" name="adj"/>
            </a:avLst>
          </a:prstGeom>
          <a:solidFill>
            <a:srgbClr val="9B1C2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Integrates multiple assistive features into one app.</a:t>
            </a:r>
            <a:endParaRPr sz="1100"/>
          </a:p>
        </p:txBody>
      </p:sp>
      <p:sp>
        <p:nvSpPr>
          <p:cNvPr id="200" name="Google Shape;200;p30"/>
          <p:cNvSpPr txBox="1"/>
          <p:nvPr/>
        </p:nvSpPr>
        <p:spPr>
          <a:xfrm>
            <a:off x="1028727" y="2091690"/>
            <a:ext cx="411491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2.</a:t>
            </a:r>
            <a:endParaRPr sz="1100"/>
          </a:p>
        </p:txBody>
      </p:sp>
      <p:sp>
        <p:nvSpPr>
          <p:cNvPr id="201" name="Google Shape;201;p30"/>
          <p:cNvSpPr/>
          <p:nvPr/>
        </p:nvSpPr>
        <p:spPr>
          <a:xfrm>
            <a:off x="1508800" y="2091690"/>
            <a:ext cx="6721019" cy="514350"/>
          </a:xfrm>
          <a:prstGeom prst="roundRect">
            <a:avLst>
              <a:gd fmla="val 16667" name="adj"/>
            </a:avLst>
          </a:prstGeom>
          <a:solidFill>
            <a:srgbClr val="9B1C2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Uses visual cues, voice assistance, reminders, and safety mechanisms.</a:t>
            </a:r>
            <a:endParaRPr sz="1100"/>
          </a:p>
        </p:txBody>
      </p:sp>
      <p:sp>
        <p:nvSpPr>
          <p:cNvPr id="202" name="Google Shape;202;p30"/>
          <p:cNvSpPr txBox="1"/>
          <p:nvPr/>
        </p:nvSpPr>
        <p:spPr>
          <a:xfrm>
            <a:off x="1028727" y="2811779"/>
            <a:ext cx="411491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3.</a:t>
            </a:r>
            <a:endParaRPr sz="1100"/>
          </a:p>
        </p:txBody>
      </p:sp>
      <p:sp>
        <p:nvSpPr>
          <p:cNvPr id="203" name="Google Shape;203;p30"/>
          <p:cNvSpPr/>
          <p:nvPr/>
        </p:nvSpPr>
        <p:spPr>
          <a:xfrm>
            <a:off x="1508800" y="2811779"/>
            <a:ext cx="6721019" cy="514350"/>
          </a:xfrm>
          <a:prstGeom prst="roundRect">
            <a:avLst>
              <a:gd fmla="val 16667" name="adj"/>
            </a:avLst>
          </a:prstGeom>
          <a:solidFill>
            <a:srgbClr val="9B1C2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 designed with elderly and disabled users as the primary focus.</a:t>
            </a:r>
            <a:endParaRPr sz="1100"/>
          </a:p>
        </p:txBody>
      </p:sp>
      <p:sp>
        <p:nvSpPr>
          <p:cNvPr id="204" name="Google Shape;204;p30"/>
          <p:cNvSpPr txBox="1"/>
          <p:nvPr/>
        </p:nvSpPr>
        <p:spPr>
          <a:xfrm>
            <a:off x="1028727" y="3531870"/>
            <a:ext cx="411491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4.</a:t>
            </a:r>
            <a:endParaRPr sz="1100"/>
          </a:p>
        </p:txBody>
      </p:sp>
      <p:sp>
        <p:nvSpPr>
          <p:cNvPr id="205" name="Google Shape;205;p30"/>
          <p:cNvSpPr/>
          <p:nvPr/>
        </p:nvSpPr>
        <p:spPr>
          <a:xfrm>
            <a:off x="1508800" y="3531870"/>
            <a:ext cx="6721019" cy="514350"/>
          </a:xfrm>
          <a:prstGeom prst="roundRect">
            <a:avLst>
              <a:gd fmla="val 16667" name="adj"/>
            </a:avLst>
          </a:prstGeom>
          <a:solidFill>
            <a:srgbClr val="9B1C2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Follows a modular architecture for scalability and maintainability.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1"/>
          <p:cNvSpPr/>
          <p:nvPr/>
        </p:nvSpPr>
        <p:spPr>
          <a:xfrm>
            <a:off x="171455" y="102870"/>
            <a:ext cx="1577382" cy="3771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SOMAIYA VIDYAVIHAR UNIVERSITY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K J Somaiya School of Engineering</a:t>
            </a:r>
            <a:endParaRPr sz="1100"/>
          </a:p>
        </p:txBody>
      </p:sp>
      <p:sp>
        <p:nvSpPr>
          <p:cNvPr id="211" name="Google Shape;211;p31"/>
          <p:cNvSpPr/>
          <p:nvPr/>
        </p:nvSpPr>
        <p:spPr>
          <a:xfrm>
            <a:off x="8435565" y="123444"/>
            <a:ext cx="582946" cy="342900"/>
          </a:xfrm>
          <a:prstGeom prst="rect">
            <a:avLst/>
          </a:prstGeom>
          <a:solidFill>
            <a:srgbClr val="163A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Somaiya</a:t>
            </a:r>
            <a:b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sz="1100"/>
          </a:p>
        </p:txBody>
      </p:sp>
      <p:sp>
        <p:nvSpPr>
          <p:cNvPr id="212" name="Google Shape;212;p31"/>
          <p:cNvSpPr/>
          <p:nvPr/>
        </p:nvSpPr>
        <p:spPr>
          <a:xfrm>
            <a:off x="0" y="4697730"/>
            <a:ext cx="411491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31"/>
          <p:cNvSpPr/>
          <p:nvPr/>
        </p:nvSpPr>
        <p:spPr>
          <a:xfrm>
            <a:off x="411491" y="4800600"/>
            <a:ext cx="7818328" cy="34290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31"/>
          <p:cNvSpPr/>
          <p:nvPr/>
        </p:nvSpPr>
        <p:spPr>
          <a:xfrm>
            <a:off x="8229819" y="4697730"/>
            <a:ext cx="914196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31"/>
          <p:cNvSpPr txBox="1"/>
          <p:nvPr/>
        </p:nvSpPr>
        <p:spPr>
          <a:xfrm>
            <a:off x="1851709" y="171450"/>
            <a:ext cx="541796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Literature Review</a:t>
            </a:r>
            <a:endParaRPr sz="1100"/>
          </a:p>
        </p:txBody>
      </p:sp>
      <p:graphicFrame>
        <p:nvGraphicFramePr>
          <p:cNvPr id="216" name="Google Shape;216;p31"/>
          <p:cNvGraphicFramePr/>
          <p:nvPr/>
        </p:nvGraphicFramePr>
        <p:xfrm>
          <a:off x="205745" y="7200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{C42F0A8C-1AB1-43D6-BED5-D7B6EA3BAF06}</a:tableStyleId>
              </a:tblPr>
              <a:tblGrid>
                <a:gridCol w="1371625"/>
                <a:gridCol w="1783125"/>
                <a:gridCol w="2811850"/>
                <a:gridCol w="2811850"/>
              </a:tblGrid>
              <a:tr h="558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Author(s)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9B1C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Title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9B1C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Proposed Solution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9B1C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Research Gap Identified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9B1C2E"/>
                    </a:solidFill>
                  </a:tcPr>
                </a:tc>
              </a:tr>
              <a:tr h="558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0101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E. Amouzadeh et al. (2025)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0101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Optimizing Mobile App Design for Older Adults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0101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Identified age-friendly UI principles such as large icons, simplified navigation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0101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Lacks a unified, real-world mobile app combining reminders, emergency support, and caregiver control in one system.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  <a:tr h="558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0101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M. Awan et al. (2021)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0101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Usability Barriers for Elderly Users in Smartphone App Usage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0101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Prioritized major usability barriers — small text, complex interfaces, lack of intuitive navigation.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0101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Does not propose a complete assistive mobile solution or caregiver-controlled system.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AF0F2"/>
                    </a:solidFill>
                  </a:tcPr>
                </a:tc>
              </a:tr>
              <a:tr h="558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0101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J. Abascal and C. Nicolle (2021)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0101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Moving Towards Inclusive Design Guidelines for Mobile Apps for Older Adults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0101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Inclusive design guidelines: accessibility, simplified interactions, adaptive interfaces.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0101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Guidelines are theoretical and lack validation through a practical healthcare-oriented mobile application.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  <a:tr h="558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0101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A. Holzinger et al. (2021)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0101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 Improving Mobile Applications for the Elderly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0101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Adaptive interfaces, reduced interaction steps, context-aware assistance.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0101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Does not address healthcare tasks such as medicine adherence, emergency alerts, or caregiver monitoring.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AF0F2"/>
                    </a:solidFill>
                  </a:tcPr>
                </a:tc>
              </a:tr>
              <a:tr h="558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0101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L. Chen et al. (2022)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0101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Design and Evaluation of an Elderly-Friendly Mobile Health Application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0101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Mobile health app focusing on health monitoring and basic reminders for elderly users.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0101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Limited caregiver involvement; lacks features like SOS emergency support, wheelchair assistance, and configurable shortcuts.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  <a:tr h="558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0101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 Wickramathilaka et al. (2025)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0101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Adaptive and Accessible UIs for Senior Citizens via Model-Driven Engineering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0101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Adaptive UI generation techniques that adjust interfaces based on elderly user needs.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10101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Focuses mainly on UI adaptation; doesn't integrate full elderly-care workflows such as medicine tracking, caregiver dashboards, and emergency response.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AF0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2"/>
          <p:cNvSpPr/>
          <p:nvPr/>
        </p:nvSpPr>
        <p:spPr>
          <a:xfrm>
            <a:off x="171455" y="102870"/>
            <a:ext cx="1577382" cy="3771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SOMAIYA VIDYAVIHAR UNIVERSITY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K J Somaiya School of Engineering</a:t>
            </a:r>
            <a:endParaRPr sz="1100"/>
          </a:p>
        </p:txBody>
      </p:sp>
      <p:sp>
        <p:nvSpPr>
          <p:cNvPr id="222" name="Google Shape;222;p32"/>
          <p:cNvSpPr/>
          <p:nvPr/>
        </p:nvSpPr>
        <p:spPr>
          <a:xfrm>
            <a:off x="8435565" y="123444"/>
            <a:ext cx="582946" cy="342900"/>
          </a:xfrm>
          <a:prstGeom prst="rect">
            <a:avLst/>
          </a:prstGeom>
          <a:solidFill>
            <a:srgbClr val="163A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Somaiya</a:t>
            </a:r>
            <a:b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sz="1100"/>
          </a:p>
        </p:txBody>
      </p:sp>
      <p:sp>
        <p:nvSpPr>
          <p:cNvPr id="223" name="Google Shape;223;p32"/>
          <p:cNvSpPr/>
          <p:nvPr/>
        </p:nvSpPr>
        <p:spPr>
          <a:xfrm>
            <a:off x="0" y="4697730"/>
            <a:ext cx="411491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32"/>
          <p:cNvSpPr/>
          <p:nvPr/>
        </p:nvSpPr>
        <p:spPr>
          <a:xfrm>
            <a:off x="411491" y="4800600"/>
            <a:ext cx="7818328" cy="34290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32"/>
          <p:cNvSpPr/>
          <p:nvPr/>
        </p:nvSpPr>
        <p:spPr>
          <a:xfrm>
            <a:off x="8229819" y="4697730"/>
            <a:ext cx="914196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32"/>
          <p:cNvSpPr txBox="1"/>
          <p:nvPr/>
        </p:nvSpPr>
        <p:spPr>
          <a:xfrm>
            <a:off x="1851709" y="171450"/>
            <a:ext cx="541796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Existing Solutions</a:t>
            </a:r>
            <a:endParaRPr sz="1100"/>
          </a:p>
        </p:txBody>
      </p:sp>
      <p:graphicFrame>
        <p:nvGraphicFramePr>
          <p:cNvPr id="227" name="Google Shape;227;p32"/>
          <p:cNvGraphicFramePr/>
          <p:nvPr/>
        </p:nvGraphicFramePr>
        <p:xfrm>
          <a:off x="342909" y="7543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{C42F0A8C-1AB1-43D6-BED5-D7B6EA3BAF06}</a:tableStyleId>
              </a:tblPr>
              <a:tblGrid>
                <a:gridCol w="2057450"/>
                <a:gridCol w="1594500"/>
                <a:gridCol w="1594500"/>
                <a:gridCol w="1594500"/>
                <a:gridCol w="1594500"/>
              </a:tblGrid>
              <a:tr h="48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Feature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Medisafe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MyTherapy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SOS Apps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Google Assistant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  <a:tr h="48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Caregiver Configuration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X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X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X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X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  <a:tr h="48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Emergency SOS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X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X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2EA83A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✓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100">
                          <a:solidFill>
                            <a:srgbClr val="10101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Partial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  <a:tr h="48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Activity &amp; Water Reminders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X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2EA83A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✓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X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100">
                          <a:solidFill>
                            <a:srgbClr val="10101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Partial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  <a:tr h="48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Shortcuts for Elderly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X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X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X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X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  <a:tr h="48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Wheelchair Assistance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X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X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X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X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  <a:tr h="48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Health Vitals Records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X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100">
                          <a:solidFill>
                            <a:srgbClr val="10101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Partial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X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X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  <a:tr h="48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Single Integrated Platform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X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X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X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X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3"/>
          <p:cNvSpPr/>
          <p:nvPr/>
        </p:nvSpPr>
        <p:spPr>
          <a:xfrm>
            <a:off x="171455" y="102870"/>
            <a:ext cx="1577382" cy="3771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SOMAIYA VIDYAVIHAR UNIVERSITY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K J Somaiya School of Engineering</a:t>
            </a:r>
            <a:endParaRPr sz="1100"/>
          </a:p>
        </p:txBody>
      </p:sp>
      <p:sp>
        <p:nvSpPr>
          <p:cNvPr id="233" name="Google Shape;233;p33"/>
          <p:cNvSpPr/>
          <p:nvPr/>
        </p:nvSpPr>
        <p:spPr>
          <a:xfrm>
            <a:off x="8435565" y="123444"/>
            <a:ext cx="582946" cy="342900"/>
          </a:xfrm>
          <a:prstGeom prst="rect">
            <a:avLst/>
          </a:prstGeom>
          <a:solidFill>
            <a:srgbClr val="163A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Somaiya</a:t>
            </a:r>
            <a:b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sz="1100"/>
          </a:p>
        </p:txBody>
      </p:sp>
      <p:sp>
        <p:nvSpPr>
          <p:cNvPr id="234" name="Google Shape;234;p33"/>
          <p:cNvSpPr/>
          <p:nvPr/>
        </p:nvSpPr>
        <p:spPr>
          <a:xfrm>
            <a:off x="0" y="4697730"/>
            <a:ext cx="411491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33"/>
          <p:cNvSpPr/>
          <p:nvPr/>
        </p:nvSpPr>
        <p:spPr>
          <a:xfrm>
            <a:off x="411491" y="4800600"/>
            <a:ext cx="7818328" cy="34290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33"/>
          <p:cNvSpPr/>
          <p:nvPr/>
        </p:nvSpPr>
        <p:spPr>
          <a:xfrm>
            <a:off x="8229819" y="4697730"/>
            <a:ext cx="914196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33"/>
          <p:cNvSpPr txBox="1"/>
          <p:nvPr/>
        </p:nvSpPr>
        <p:spPr>
          <a:xfrm>
            <a:off x="1851709" y="171450"/>
            <a:ext cx="541796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Existing Solutions</a:t>
            </a:r>
            <a:endParaRPr sz="1100"/>
          </a:p>
        </p:txBody>
      </p:sp>
      <p:sp>
        <p:nvSpPr>
          <p:cNvPr id="238" name="Google Shape;238;p33"/>
          <p:cNvSpPr txBox="1"/>
          <p:nvPr/>
        </p:nvSpPr>
        <p:spPr>
          <a:xfrm>
            <a:off x="342909" y="1851660"/>
            <a:ext cx="8435565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No single app provides integrated healthcare +</a:t>
            </a:r>
            <a:br>
              <a:rPr b="0" i="0" lang="en" sz="2700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0" i="0" lang="en" sz="2700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accessibility + caregiver control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4"/>
          <p:cNvSpPr/>
          <p:nvPr/>
        </p:nvSpPr>
        <p:spPr>
          <a:xfrm>
            <a:off x="171455" y="102870"/>
            <a:ext cx="1577382" cy="3771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SOMAIYA VIDYAVIHAR UNIVERSITY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K J Somaiya School of Engineering</a:t>
            </a:r>
            <a:endParaRPr sz="1100"/>
          </a:p>
        </p:txBody>
      </p:sp>
      <p:sp>
        <p:nvSpPr>
          <p:cNvPr id="244" name="Google Shape;244;p34"/>
          <p:cNvSpPr/>
          <p:nvPr/>
        </p:nvSpPr>
        <p:spPr>
          <a:xfrm>
            <a:off x="8435565" y="123444"/>
            <a:ext cx="582946" cy="342900"/>
          </a:xfrm>
          <a:prstGeom prst="rect">
            <a:avLst/>
          </a:prstGeom>
          <a:solidFill>
            <a:srgbClr val="163A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Somaiya</a:t>
            </a:r>
            <a:b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sz="1100"/>
          </a:p>
        </p:txBody>
      </p:sp>
      <p:sp>
        <p:nvSpPr>
          <p:cNvPr id="245" name="Google Shape;245;p34"/>
          <p:cNvSpPr/>
          <p:nvPr/>
        </p:nvSpPr>
        <p:spPr>
          <a:xfrm>
            <a:off x="0" y="4697730"/>
            <a:ext cx="411491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34"/>
          <p:cNvSpPr/>
          <p:nvPr/>
        </p:nvSpPr>
        <p:spPr>
          <a:xfrm>
            <a:off x="411491" y="4800600"/>
            <a:ext cx="7818328" cy="34290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34"/>
          <p:cNvSpPr/>
          <p:nvPr/>
        </p:nvSpPr>
        <p:spPr>
          <a:xfrm>
            <a:off x="8229819" y="4697730"/>
            <a:ext cx="914196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34"/>
          <p:cNvSpPr txBox="1"/>
          <p:nvPr/>
        </p:nvSpPr>
        <p:spPr>
          <a:xfrm>
            <a:off x="1851709" y="171450"/>
            <a:ext cx="541796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Methodology / Approach</a:t>
            </a:r>
            <a:endParaRPr sz="1100"/>
          </a:p>
        </p:txBody>
      </p:sp>
      <p:sp>
        <p:nvSpPr>
          <p:cNvPr id="249" name="Google Shape;249;p34"/>
          <p:cNvSpPr/>
          <p:nvPr/>
        </p:nvSpPr>
        <p:spPr>
          <a:xfrm>
            <a:off x="891564" y="1097280"/>
            <a:ext cx="617236" cy="6172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9B1C2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📱</a:t>
            </a:r>
            <a:endParaRPr sz="1100"/>
          </a:p>
        </p:txBody>
      </p:sp>
      <p:sp>
        <p:nvSpPr>
          <p:cNvPr id="250" name="Google Shape;250;p34"/>
          <p:cNvSpPr txBox="1"/>
          <p:nvPr/>
        </p:nvSpPr>
        <p:spPr>
          <a:xfrm>
            <a:off x="1645964" y="1097280"/>
            <a:ext cx="3086182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Platform:</a:t>
            </a:r>
            <a:endParaRPr sz="1100"/>
          </a:p>
        </p:txBody>
      </p:sp>
      <p:sp>
        <p:nvSpPr>
          <p:cNvPr id="251" name="Google Shape;251;p34"/>
          <p:cNvSpPr txBox="1"/>
          <p:nvPr/>
        </p:nvSpPr>
        <p:spPr>
          <a:xfrm>
            <a:off x="1645964" y="1405890"/>
            <a:ext cx="3086182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Android (Android Studio)</a:t>
            </a:r>
            <a:endParaRPr sz="1100"/>
          </a:p>
        </p:txBody>
      </p:sp>
      <p:sp>
        <p:nvSpPr>
          <p:cNvPr id="252" name="Google Shape;252;p34"/>
          <p:cNvSpPr/>
          <p:nvPr/>
        </p:nvSpPr>
        <p:spPr>
          <a:xfrm>
            <a:off x="4937892" y="1097280"/>
            <a:ext cx="617236" cy="6172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9B1C2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&lt;/&gt;</a:t>
            </a:r>
            <a:endParaRPr sz="1100"/>
          </a:p>
        </p:txBody>
      </p:sp>
      <p:sp>
        <p:nvSpPr>
          <p:cNvPr id="253" name="Google Shape;253;p34"/>
          <p:cNvSpPr txBox="1"/>
          <p:nvPr/>
        </p:nvSpPr>
        <p:spPr>
          <a:xfrm>
            <a:off x="5692292" y="1097280"/>
            <a:ext cx="3086182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Programming Language:</a:t>
            </a:r>
            <a:endParaRPr sz="1100"/>
          </a:p>
        </p:txBody>
      </p:sp>
      <p:sp>
        <p:nvSpPr>
          <p:cNvPr id="254" name="Google Shape;254;p34"/>
          <p:cNvSpPr txBox="1"/>
          <p:nvPr/>
        </p:nvSpPr>
        <p:spPr>
          <a:xfrm>
            <a:off x="5692292" y="1405890"/>
            <a:ext cx="3086182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Kotlin (Jetpack Compose)</a:t>
            </a:r>
            <a:endParaRPr sz="1100"/>
          </a:p>
        </p:txBody>
      </p:sp>
      <p:sp>
        <p:nvSpPr>
          <p:cNvPr id="255" name="Google Shape;255;p34"/>
          <p:cNvSpPr/>
          <p:nvPr/>
        </p:nvSpPr>
        <p:spPr>
          <a:xfrm>
            <a:off x="891564" y="2331720"/>
            <a:ext cx="617236" cy="6172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9B1C2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✉</a:t>
            </a:r>
            <a:endParaRPr sz="1100"/>
          </a:p>
        </p:txBody>
      </p:sp>
      <p:sp>
        <p:nvSpPr>
          <p:cNvPr id="256" name="Google Shape;256;p34"/>
          <p:cNvSpPr txBox="1"/>
          <p:nvPr/>
        </p:nvSpPr>
        <p:spPr>
          <a:xfrm>
            <a:off x="1645964" y="2331720"/>
            <a:ext cx="3086182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Notifications:</a:t>
            </a:r>
            <a:endParaRPr sz="1100"/>
          </a:p>
        </p:txBody>
      </p:sp>
      <p:sp>
        <p:nvSpPr>
          <p:cNvPr id="257" name="Google Shape;257;p34"/>
          <p:cNvSpPr txBox="1"/>
          <p:nvPr/>
        </p:nvSpPr>
        <p:spPr>
          <a:xfrm>
            <a:off x="1645964" y="2640330"/>
            <a:ext cx="3086182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Firebase Cloud Messaging + Notification Manager</a:t>
            </a:r>
            <a:endParaRPr sz="1100"/>
          </a:p>
        </p:txBody>
      </p:sp>
      <p:sp>
        <p:nvSpPr>
          <p:cNvPr id="258" name="Google Shape;258;p34"/>
          <p:cNvSpPr/>
          <p:nvPr/>
        </p:nvSpPr>
        <p:spPr>
          <a:xfrm>
            <a:off x="4937892" y="2331720"/>
            <a:ext cx="617236" cy="6172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9B1C2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🗄</a:t>
            </a:r>
            <a:endParaRPr sz="1100"/>
          </a:p>
        </p:txBody>
      </p:sp>
      <p:sp>
        <p:nvSpPr>
          <p:cNvPr id="259" name="Google Shape;259;p34"/>
          <p:cNvSpPr txBox="1"/>
          <p:nvPr/>
        </p:nvSpPr>
        <p:spPr>
          <a:xfrm>
            <a:off x="5692292" y="2331720"/>
            <a:ext cx="3086182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Database:</a:t>
            </a:r>
            <a:endParaRPr sz="1100"/>
          </a:p>
        </p:txBody>
      </p:sp>
      <p:sp>
        <p:nvSpPr>
          <p:cNvPr id="260" name="Google Shape;260;p34"/>
          <p:cNvSpPr txBox="1"/>
          <p:nvPr/>
        </p:nvSpPr>
        <p:spPr>
          <a:xfrm>
            <a:off x="5692292" y="2640330"/>
            <a:ext cx="3086182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Supabase / PostgreSQL with row-level security</a:t>
            </a:r>
            <a:endParaRPr sz="1100"/>
          </a:p>
        </p:txBody>
      </p:sp>
      <p:sp>
        <p:nvSpPr>
          <p:cNvPr id="261" name="Google Shape;261;p34"/>
          <p:cNvSpPr/>
          <p:nvPr/>
        </p:nvSpPr>
        <p:spPr>
          <a:xfrm>
            <a:off x="891564" y="3566160"/>
            <a:ext cx="617236" cy="6172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9B1C2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📍</a:t>
            </a:r>
            <a:endParaRPr sz="1100"/>
          </a:p>
        </p:txBody>
      </p:sp>
      <p:sp>
        <p:nvSpPr>
          <p:cNvPr id="262" name="Google Shape;262;p34"/>
          <p:cNvSpPr txBox="1"/>
          <p:nvPr/>
        </p:nvSpPr>
        <p:spPr>
          <a:xfrm>
            <a:off x="1645964" y="3566160"/>
            <a:ext cx="3086182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Maps &amp; Location:</a:t>
            </a:r>
            <a:endParaRPr sz="1100"/>
          </a:p>
        </p:txBody>
      </p:sp>
      <p:sp>
        <p:nvSpPr>
          <p:cNvPr id="263" name="Google Shape;263;p34"/>
          <p:cNvSpPr txBox="1"/>
          <p:nvPr/>
        </p:nvSpPr>
        <p:spPr>
          <a:xfrm>
            <a:off x="1645964" y="3874770"/>
            <a:ext cx="3086182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Google Maps SDK, Location Services</a:t>
            </a:r>
            <a:endParaRPr sz="1100"/>
          </a:p>
        </p:txBody>
      </p:sp>
      <p:sp>
        <p:nvSpPr>
          <p:cNvPr id="264" name="Google Shape;264;p34"/>
          <p:cNvSpPr/>
          <p:nvPr/>
        </p:nvSpPr>
        <p:spPr>
          <a:xfrm>
            <a:off x="4937892" y="3566160"/>
            <a:ext cx="617236" cy="6172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9B1C2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⚙</a:t>
            </a:r>
            <a:endParaRPr sz="1100"/>
          </a:p>
        </p:txBody>
      </p:sp>
      <p:sp>
        <p:nvSpPr>
          <p:cNvPr id="265" name="Google Shape;265;p34"/>
          <p:cNvSpPr txBox="1"/>
          <p:nvPr/>
        </p:nvSpPr>
        <p:spPr>
          <a:xfrm>
            <a:off x="5692292" y="3566160"/>
            <a:ext cx="3086182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Background Tasks:</a:t>
            </a:r>
            <a:endParaRPr sz="1100"/>
          </a:p>
        </p:txBody>
      </p:sp>
      <p:sp>
        <p:nvSpPr>
          <p:cNvPr id="266" name="Google Shape;266;p34"/>
          <p:cNvSpPr txBox="1"/>
          <p:nvPr/>
        </p:nvSpPr>
        <p:spPr>
          <a:xfrm>
            <a:off x="5692292" y="3874770"/>
            <a:ext cx="3086182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WorkManager &amp; AlarmManager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5"/>
          <p:cNvSpPr/>
          <p:nvPr/>
        </p:nvSpPr>
        <p:spPr>
          <a:xfrm>
            <a:off x="171455" y="102870"/>
            <a:ext cx="1577382" cy="3771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SOMAIYA VIDYAVIHAR UNIVERSITY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K J Somaiya School of Engineering</a:t>
            </a:r>
            <a:endParaRPr sz="1100"/>
          </a:p>
        </p:txBody>
      </p:sp>
      <p:sp>
        <p:nvSpPr>
          <p:cNvPr id="272" name="Google Shape;272;p35"/>
          <p:cNvSpPr/>
          <p:nvPr/>
        </p:nvSpPr>
        <p:spPr>
          <a:xfrm>
            <a:off x="8435565" y="123444"/>
            <a:ext cx="582946" cy="342900"/>
          </a:xfrm>
          <a:prstGeom prst="rect">
            <a:avLst/>
          </a:prstGeom>
          <a:solidFill>
            <a:srgbClr val="163A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Somaiya</a:t>
            </a:r>
            <a:b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sz="1100"/>
          </a:p>
        </p:txBody>
      </p:sp>
      <p:sp>
        <p:nvSpPr>
          <p:cNvPr id="273" name="Google Shape;273;p35"/>
          <p:cNvSpPr/>
          <p:nvPr/>
        </p:nvSpPr>
        <p:spPr>
          <a:xfrm>
            <a:off x="0" y="4697730"/>
            <a:ext cx="411491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35"/>
          <p:cNvSpPr/>
          <p:nvPr/>
        </p:nvSpPr>
        <p:spPr>
          <a:xfrm>
            <a:off x="411491" y="4800600"/>
            <a:ext cx="7818328" cy="34290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35"/>
          <p:cNvSpPr/>
          <p:nvPr/>
        </p:nvSpPr>
        <p:spPr>
          <a:xfrm>
            <a:off x="8229819" y="4697730"/>
            <a:ext cx="914196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35"/>
          <p:cNvSpPr txBox="1"/>
          <p:nvPr/>
        </p:nvSpPr>
        <p:spPr>
          <a:xfrm>
            <a:off x="1851709" y="171450"/>
            <a:ext cx="541796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Scope – Functional Requirements</a:t>
            </a:r>
            <a:endParaRPr sz="1100"/>
          </a:p>
        </p:txBody>
      </p:sp>
      <p:sp>
        <p:nvSpPr>
          <p:cNvPr id="277" name="Google Shape;277;p35"/>
          <p:cNvSpPr/>
          <p:nvPr/>
        </p:nvSpPr>
        <p:spPr>
          <a:xfrm>
            <a:off x="480073" y="960120"/>
            <a:ext cx="3840582" cy="1028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10101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Visual medicine reminders with pill images</a:t>
            </a:r>
            <a:endParaRPr sz="1100"/>
          </a:p>
        </p:txBody>
      </p:sp>
      <p:sp>
        <p:nvSpPr>
          <p:cNvPr id="278" name="Google Shape;278;p35"/>
          <p:cNvSpPr/>
          <p:nvPr/>
        </p:nvSpPr>
        <p:spPr>
          <a:xfrm>
            <a:off x="2263200" y="788670"/>
            <a:ext cx="342909" cy="342900"/>
          </a:xfrm>
          <a:prstGeom prst="ellipse">
            <a:avLst/>
          </a:prstGeom>
          <a:solidFill>
            <a:srgbClr val="10101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sz="1100"/>
          </a:p>
        </p:txBody>
      </p:sp>
      <p:sp>
        <p:nvSpPr>
          <p:cNvPr id="279" name="Google Shape;279;p35"/>
          <p:cNvSpPr/>
          <p:nvPr/>
        </p:nvSpPr>
        <p:spPr>
          <a:xfrm>
            <a:off x="4800728" y="960120"/>
            <a:ext cx="3840582" cy="1028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10101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Daily activity and hydration reminders</a:t>
            </a:r>
            <a:endParaRPr sz="1100"/>
          </a:p>
        </p:txBody>
      </p:sp>
      <p:sp>
        <p:nvSpPr>
          <p:cNvPr id="280" name="Google Shape;280;p35"/>
          <p:cNvSpPr/>
          <p:nvPr/>
        </p:nvSpPr>
        <p:spPr>
          <a:xfrm>
            <a:off x="6583856" y="788670"/>
            <a:ext cx="342909" cy="342900"/>
          </a:xfrm>
          <a:prstGeom prst="ellipse">
            <a:avLst/>
          </a:prstGeom>
          <a:solidFill>
            <a:srgbClr val="10101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sz="1100"/>
          </a:p>
        </p:txBody>
      </p:sp>
      <p:sp>
        <p:nvSpPr>
          <p:cNvPr id="281" name="Google Shape;281;p35"/>
          <p:cNvSpPr/>
          <p:nvPr/>
        </p:nvSpPr>
        <p:spPr>
          <a:xfrm>
            <a:off x="480073" y="2194560"/>
            <a:ext cx="3840582" cy="1028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10101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Emergency SOS with calling and alerts</a:t>
            </a:r>
            <a:endParaRPr sz="1100"/>
          </a:p>
        </p:txBody>
      </p:sp>
      <p:sp>
        <p:nvSpPr>
          <p:cNvPr id="282" name="Google Shape;282;p35"/>
          <p:cNvSpPr/>
          <p:nvPr/>
        </p:nvSpPr>
        <p:spPr>
          <a:xfrm>
            <a:off x="2263200" y="2023110"/>
            <a:ext cx="342909" cy="342900"/>
          </a:xfrm>
          <a:prstGeom prst="ellipse">
            <a:avLst/>
          </a:prstGeom>
          <a:solidFill>
            <a:srgbClr val="10101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sz="1100"/>
          </a:p>
        </p:txBody>
      </p:sp>
      <p:sp>
        <p:nvSpPr>
          <p:cNvPr id="283" name="Google Shape;283;p35"/>
          <p:cNvSpPr/>
          <p:nvPr/>
        </p:nvSpPr>
        <p:spPr>
          <a:xfrm>
            <a:off x="4800728" y="2194560"/>
            <a:ext cx="3840582" cy="1028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10101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Wheelchair-friendly navigation (basic)</a:t>
            </a:r>
            <a:endParaRPr sz="1100"/>
          </a:p>
        </p:txBody>
      </p:sp>
      <p:sp>
        <p:nvSpPr>
          <p:cNvPr id="284" name="Google Shape;284;p35"/>
          <p:cNvSpPr/>
          <p:nvPr/>
        </p:nvSpPr>
        <p:spPr>
          <a:xfrm>
            <a:off x="6583856" y="2023110"/>
            <a:ext cx="342909" cy="342900"/>
          </a:xfrm>
          <a:prstGeom prst="ellipse">
            <a:avLst/>
          </a:prstGeom>
          <a:solidFill>
            <a:srgbClr val="10101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sz="1100"/>
          </a:p>
        </p:txBody>
      </p:sp>
      <p:sp>
        <p:nvSpPr>
          <p:cNvPr id="285" name="Google Shape;285;p35"/>
          <p:cNvSpPr/>
          <p:nvPr/>
        </p:nvSpPr>
        <p:spPr>
          <a:xfrm>
            <a:off x="480073" y="3429000"/>
            <a:ext cx="3840582" cy="1028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10101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Quick access shortcuts (contacts, videos)</a:t>
            </a:r>
            <a:endParaRPr sz="1100"/>
          </a:p>
        </p:txBody>
      </p:sp>
      <p:sp>
        <p:nvSpPr>
          <p:cNvPr id="286" name="Google Shape;286;p35"/>
          <p:cNvSpPr/>
          <p:nvPr/>
        </p:nvSpPr>
        <p:spPr>
          <a:xfrm>
            <a:off x="2263200" y="3257550"/>
            <a:ext cx="342909" cy="342900"/>
          </a:xfrm>
          <a:prstGeom prst="ellipse">
            <a:avLst/>
          </a:prstGeom>
          <a:solidFill>
            <a:srgbClr val="10101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sz="1100"/>
          </a:p>
        </p:txBody>
      </p:sp>
      <p:sp>
        <p:nvSpPr>
          <p:cNvPr id="287" name="Google Shape;287;p35"/>
          <p:cNvSpPr/>
          <p:nvPr/>
        </p:nvSpPr>
        <p:spPr>
          <a:xfrm>
            <a:off x="4800728" y="3429000"/>
            <a:ext cx="3840582" cy="1028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10101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Health vitals recording (manual entry)</a:t>
            </a:r>
            <a:endParaRPr sz="1100"/>
          </a:p>
        </p:txBody>
      </p:sp>
      <p:sp>
        <p:nvSpPr>
          <p:cNvPr id="288" name="Google Shape;288;p35"/>
          <p:cNvSpPr/>
          <p:nvPr/>
        </p:nvSpPr>
        <p:spPr>
          <a:xfrm>
            <a:off x="6583856" y="3257550"/>
            <a:ext cx="342909" cy="342900"/>
          </a:xfrm>
          <a:prstGeom prst="ellipse">
            <a:avLst/>
          </a:prstGeom>
          <a:solidFill>
            <a:srgbClr val="10101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6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6"/>
          <p:cNvSpPr/>
          <p:nvPr/>
        </p:nvSpPr>
        <p:spPr>
          <a:xfrm>
            <a:off x="171455" y="102870"/>
            <a:ext cx="1577382" cy="3771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SOMAIYA VIDYAVIHAR UNIVERSITY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K J Somaiya School of Engineering</a:t>
            </a:r>
            <a:endParaRPr sz="1100"/>
          </a:p>
        </p:txBody>
      </p:sp>
      <p:sp>
        <p:nvSpPr>
          <p:cNvPr id="294" name="Google Shape;294;p36"/>
          <p:cNvSpPr/>
          <p:nvPr/>
        </p:nvSpPr>
        <p:spPr>
          <a:xfrm>
            <a:off x="8435565" y="123444"/>
            <a:ext cx="582946" cy="342900"/>
          </a:xfrm>
          <a:prstGeom prst="rect">
            <a:avLst/>
          </a:prstGeom>
          <a:solidFill>
            <a:srgbClr val="163A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Somaiya</a:t>
            </a:r>
            <a:b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sz="1100"/>
          </a:p>
        </p:txBody>
      </p:sp>
      <p:sp>
        <p:nvSpPr>
          <p:cNvPr id="295" name="Google Shape;295;p36"/>
          <p:cNvSpPr/>
          <p:nvPr/>
        </p:nvSpPr>
        <p:spPr>
          <a:xfrm>
            <a:off x="0" y="4697730"/>
            <a:ext cx="411491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36"/>
          <p:cNvSpPr/>
          <p:nvPr/>
        </p:nvSpPr>
        <p:spPr>
          <a:xfrm>
            <a:off x="411491" y="4800600"/>
            <a:ext cx="7818328" cy="34290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6"/>
          <p:cNvSpPr/>
          <p:nvPr/>
        </p:nvSpPr>
        <p:spPr>
          <a:xfrm>
            <a:off x="8229819" y="4697730"/>
            <a:ext cx="914196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6"/>
          <p:cNvSpPr txBox="1"/>
          <p:nvPr/>
        </p:nvSpPr>
        <p:spPr>
          <a:xfrm>
            <a:off x="1851709" y="171450"/>
            <a:ext cx="541796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Scope – Non-Functional Requirements</a:t>
            </a:r>
            <a:endParaRPr sz="1100"/>
          </a:p>
        </p:txBody>
      </p:sp>
      <p:sp>
        <p:nvSpPr>
          <p:cNvPr id="299" name="Google Shape;299;p36"/>
          <p:cNvSpPr/>
          <p:nvPr/>
        </p:nvSpPr>
        <p:spPr>
          <a:xfrm>
            <a:off x="480073" y="960120"/>
            <a:ext cx="3840582" cy="1028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10101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High usability with minimal interaction</a:t>
            </a:r>
            <a:endParaRPr sz="1100"/>
          </a:p>
        </p:txBody>
      </p:sp>
      <p:sp>
        <p:nvSpPr>
          <p:cNvPr id="300" name="Google Shape;300;p36"/>
          <p:cNvSpPr/>
          <p:nvPr/>
        </p:nvSpPr>
        <p:spPr>
          <a:xfrm>
            <a:off x="2263200" y="788670"/>
            <a:ext cx="342909" cy="342900"/>
          </a:xfrm>
          <a:prstGeom prst="ellipse">
            <a:avLst/>
          </a:prstGeom>
          <a:solidFill>
            <a:srgbClr val="10101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sz="1100"/>
          </a:p>
        </p:txBody>
      </p:sp>
      <p:sp>
        <p:nvSpPr>
          <p:cNvPr id="301" name="Google Shape;301;p36"/>
          <p:cNvSpPr/>
          <p:nvPr/>
        </p:nvSpPr>
        <p:spPr>
          <a:xfrm>
            <a:off x="4800728" y="960120"/>
            <a:ext cx="3840582" cy="1028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10101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Accessibility-first UI (large buttons, contrast)</a:t>
            </a:r>
            <a:endParaRPr sz="1100"/>
          </a:p>
        </p:txBody>
      </p:sp>
      <p:sp>
        <p:nvSpPr>
          <p:cNvPr id="302" name="Google Shape;302;p36"/>
          <p:cNvSpPr/>
          <p:nvPr/>
        </p:nvSpPr>
        <p:spPr>
          <a:xfrm>
            <a:off x="6583856" y="788670"/>
            <a:ext cx="342909" cy="342900"/>
          </a:xfrm>
          <a:prstGeom prst="ellipse">
            <a:avLst/>
          </a:prstGeom>
          <a:solidFill>
            <a:srgbClr val="10101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sz="1100"/>
          </a:p>
        </p:txBody>
      </p:sp>
      <p:sp>
        <p:nvSpPr>
          <p:cNvPr id="303" name="Google Shape;303;p36"/>
          <p:cNvSpPr/>
          <p:nvPr/>
        </p:nvSpPr>
        <p:spPr>
          <a:xfrm>
            <a:off x="480073" y="2194560"/>
            <a:ext cx="3840582" cy="1028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10101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Offline-first operation</a:t>
            </a:r>
            <a:endParaRPr sz="1100"/>
          </a:p>
        </p:txBody>
      </p:sp>
      <p:sp>
        <p:nvSpPr>
          <p:cNvPr id="304" name="Google Shape;304;p36"/>
          <p:cNvSpPr/>
          <p:nvPr/>
        </p:nvSpPr>
        <p:spPr>
          <a:xfrm>
            <a:off x="2263200" y="2023110"/>
            <a:ext cx="342909" cy="342900"/>
          </a:xfrm>
          <a:prstGeom prst="ellipse">
            <a:avLst/>
          </a:prstGeom>
          <a:solidFill>
            <a:srgbClr val="10101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sz="1100"/>
          </a:p>
        </p:txBody>
      </p:sp>
      <p:sp>
        <p:nvSpPr>
          <p:cNvPr id="305" name="Google Shape;305;p36"/>
          <p:cNvSpPr/>
          <p:nvPr/>
        </p:nvSpPr>
        <p:spPr>
          <a:xfrm>
            <a:off x="4800728" y="2194560"/>
            <a:ext cx="3840582" cy="1028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10101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Secure and privacy-focused data handling</a:t>
            </a:r>
            <a:endParaRPr sz="1100"/>
          </a:p>
        </p:txBody>
      </p:sp>
      <p:sp>
        <p:nvSpPr>
          <p:cNvPr id="306" name="Google Shape;306;p36"/>
          <p:cNvSpPr/>
          <p:nvPr/>
        </p:nvSpPr>
        <p:spPr>
          <a:xfrm>
            <a:off x="6583856" y="2023110"/>
            <a:ext cx="342909" cy="342900"/>
          </a:xfrm>
          <a:prstGeom prst="ellipse">
            <a:avLst/>
          </a:prstGeom>
          <a:solidFill>
            <a:srgbClr val="10101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sz="1100"/>
          </a:p>
        </p:txBody>
      </p:sp>
      <p:sp>
        <p:nvSpPr>
          <p:cNvPr id="307" name="Google Shape;307;p36"/>
          <p:cNvSpPr/>
          <p:nvPr/>
        </p:nvSpPr>
        <p:spPr>
          <a:xfrm>
            <a:off x="480073" y="3429000"/>
            <a:ext cx="3840582" cy="1028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10101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Modular and scalable design</a:t>
            </a:r>
            <a:endParaRPr sz="1100"/>
          </a:p>
        </p:txBody>
      </p:sp>
      <p:sp>
        <p:nvSpPr>
          <p:cNvPr id="308" name="Google Shape;308;p36"/>
          <p:cNvSpPr/>
          <p:nvPr/>
        </p:nvSpPr>
        <p:spPr>
          <a:xfrm>
            <a:off x="2263200" y="3257550"/>
            <a:ext cx="342909" cy="342900"/>
          </a:xfrm>
          <a:prstGeom prst="ellipse">
            <a:avLst/>
          </a:prstGeom>
          <a:solidFill>
            <a:srgbClr val="10101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sz="1100"/>
          </a:p>
        </p:txBody>
      </p:sp>
      <p:sp>
        <p:nvSpPr>
          <p:cNvPr id="309" name="Google Shape;309;p36"/>
          <p:cNvSpPr/>
          <p:nvPr/>
        </p:nvSpPr>
        <p:spPr>
          <a:xfrm>
            <a:off x="4800728" y="3429000"/>
            <a:ext cx="3840582" cy="1028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10101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Timely reminders and emergency response</a:t>
            </a:r>
            <a:endParaRPr sz="1100"/>
          </a:p>
        </p:txBody>
      </p:sp>
      <p:sp>
        <p:nvSpPr>
          <p:cNvPr id="310" name="Google Shape;310;p36"/>
          <p:cNvSpPr/>
          <p:nvPr/>
        </p:nvSpPr>
        <p:spPr>
          <a:xfrm>
            <a:off x="6583856" y="3257550"/>
            <a:ext cx="342909" cy="342900"/>
          </a:xfrm>
          <a:prstGeom prst="ellipse">
            <a:avLst/>
          </a:prstGeom>
          <a:solidFill>
            <a:srgbClr val="10101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6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7"/>
          <p:cNvSpPr/>
          <p:nvPr/>
        </p:nvSpPr>
        <p:spPr>
          <a:xfrm>
            <a:off x="171455" y="102870"/>
            <a:ext cx="1577382" cy="3771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SOMAIYA VIDYAVIHAR UNIVERSITY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K J Somaiya School of Engineering</a:t>
            </a:r>
            <a:endParaRPr sz="1100"/>
          </a:p>
        </p:txBody>
      </p:sp>
      <p:sp>
        <p:nvSpPr>
          <p:cNvPr id="316" name="Google Shape;316;p37"/>
          <p:cNvSpPr/>
          <p:nvPr/>
        </p:nvSpPr>
        <p:spPr>
          <a:xfrm>
            <a:off x="8435565" y="123444"/>
            <a:ext cx="582946" cy="342900"/>
          </a:xfrm>
          <a:prstGeom prst="rect">
            <a:avLst/>
          </a:prstGeom>
          <a:solidFill>
            <a:srgbClr val="163A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Somaiya</a:t>
            </a:r>
            <a:b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sz="1100"/>
          </a:p>
        </p:txBody>
      </p:sp>
      <p:sp>
        <p:nvSpPr>
          <p:cNvPr id="317" name="Google Shape;317;p37"/>
          <p:cNvSpPr/>
          <p:nvPr/>
        </p:nvSpPr>
        <p:spPr>
          <a:xfrm>
            <a:off x="0" y="4697730"/>
            <a:ext cx="411491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37"/>
          <p:cNvSpPr/>
          <p:nvPr/>
        </p:nvSpPr>
        <p:spPr>
          <a:xfrm>
            <a:off x="411491" y="4800600"/>
            <a:ext cx="7818328" cy="34290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7"/>
          <p:cNvSpPr/>
          <p:nvPr/>
        </p:nvSpPr>
        <p:spPr>
          <a:xfrm>
            <a:off x="8229819" y="4697730"/>
            <a:ext cx="914196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7"/>
          <p:cNvSpPr txBox="1"/>
          <p:nvPr/>
        </p:nvSpPr>
        <p:spPr>
          <a:xfrm>
            <a:off x="1851709" y="171450"/>
            <a:ext cx="541796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Overview of Implementation</a:t>
            </a:r>
            <a:endParaRPr sz="1100"/>
          </a:p>
        </p:txBody>
      </p:sp>
      <p:sp>
        <p:nvSpPr>
          <p:cNvPr id="321" name="Google Shape;321;p37"/>
          <p:cNvSpPr/>
          <p:nvPr/>
        </p:nvSpPr>
        <p:spPr>
          <a:xfrm>
            <a:off x="480073" y="1028700"/>
            <a:ext cx="4114910" cy="48006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37"/>
          <p:cNvSpPr txBox="1"/>
          <p:nvPr/>
        </p:nvSpPr>
        <p:spPr>
          <a:xfrm>
            <a:off x="480073" y="1028700"/>
            <a:ext cx="411491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Input to the System</a:t>
            </a:r>
            <a:endParaRPr sz="1100"/>
          </a:p>
        </p:txBody>
      </p:sp>
      <p:sp>
        <p:nvSpPr>
          <p:cNvPr id="323" name="Google Shape;323;p37"/>
          <p:cNvSpPr/>
          <p:nvPr/>
        </p:nvSpPr>
        <p:spPr>
          <a:xfrm>
            <a:off x="4594982" y="1028700"/>
            <a:ext cx="4114910" cy="48006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37"/>
          <p:cNvSpPr txBox="1"/>
          <p:nvPr/>
        </p:nvSpPr>
        <p:spPr>
          <a:xfrm>
            <a:off x="4594982" y="1028700"/>
            <a:ext cx="411491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Output of the System:</a:t>
            </a:r>
            <a:endParaRPr sz="1100"/>
          </a:p>
        </p:txBody>
      </p:sp>
      <p:sp>
        <p:nvSpPr>
          <p:cNvPr id="325" name="Google Shape;325;p37"/>
          <p:cNvSpPr/>
          <p:nvPr/>
        </p:nvSpPr>
        <p:spPr>
          <a:xfrm>
            <a:off x="480073" y="1508760"/>
            <a:ext cx="4114910" cy="2880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101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37"/>
          <p:cNvSpPr txBox="1"/>
          <p:nvPr/>
        </p:nvSpPr>
        <p:spPr>
          <a:xfrm>
            <a:off x="617236" y="1645920"/>
            <a:ext cx="3909164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Medicine details (name, dosage, image, timing)</a:t>
            </a:r>
            <a:endParaRPr sz="1100"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Shortcut &amp; Activity Module</a:t>
            </a:r>
            <a:endParaRPr sz="1100"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Emergency contact details</a:t>
            </a:r>
            <a:endParaRPr sz="1100"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User location for navigation</a:t>
            </a:r>
            <a:endParaRPr sz="1100"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Activity preferences (water, walk reminders)</a:t>
            </a:r>
            <a:endParaRPr sz="1100"/>
          </a:p>
        </p:txBody>
      </p:sp>
      <p:sp>
        <p:nvSpPr>
          <p:cNvPr id="327" name="Google Shape;327;p37"/>
          <p:cNvSpPr/>
          <p:nvPr/>
        </p:nvSpPr>
        <p:spPr>
          <a:xfrm>
            <a:off x="4594982" y="1508760"/>
            <a:ext cx="4114910" cy="2880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101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7"/>
          <p:cNvSpPr txBox="1"/>
          <p:nvPr/>
        </p:nvSpPr>
        <p:spPr>
          <a:xfrm>
            <a:off x="4732146" y="1645920"/>
            <a:ext cx="3909164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Visual and voice-based reminders</a:t>
            </a:r>
            <a:endParaRPr sz="1100"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Emergency calls and alerts</a:t>
            </a:r>
            <a:endParaRPr sz="1100"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Activity completion summaries</a:t>
            </a:r>
            <a:endParaRPr sz="1100"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Navigation routes to accessible locations</a:t>
            </a:r>
            <a:endParaRPr sz="1100"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Logs and summaries for daily usage</a:t>
            </a:r>
            <a:endParaRPr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8"/>
          <p:cNvSpPr/>
          <p:nvPr/>
        </p:nvSpPr>
        <p:spPr>
          <a:xfrm>
            <a:off x="171455" y="102870"/>
            <a:ext cx="1577382" cy="3771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SOMAIYA VIDYAVIHAR UNIVERSITY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K J Somaiya School of Engineering</a:t>
            </a:r>
            <a:endParaRPr sz="1100"/>
          </a:p>
        </p:txBody>
      </p:sp>
      <p:sp>
        <p:nvSpPr>
          <p:cNvPr id="334" name="Google Shape;334;p38"/>
          <p:cNvSpPr/>
          <p:nvPr/>
        </p:nvSpPr>
        <p:spPr>
          <a:xfrm>
            <a:off x="8435565" y="123444"/>
            <a:ext cx="582946" cy="342900"/>
          </a:xfrm>
          <a:prstGeom prst="rect">
            <a:avLst/>
          </a:prstGeom>
          <a:solidFill>
            <a:srgbClr val="163A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Somaiya</a:t>
            </a:r>
            <a:b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sz="1100"/>
          </a:p>
        </p:txBody>
      </p:sp>
      <p:sp>
        <p:nvSpPr>
          <p:cNvPr id="335" name="Google Shape;335;p38"/>
          <p:cNvSpPr/>
          <p:nvPr/>
        </p:nvSpPr>
        <p:spPr>
          <a:xfrm>
            <a:off x="0" y="4697730"/>
            <a:ext cx="411491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38"/>
          <p:cNvSpPr/>
          <p:nvPr/>
        </p:nvSpPr>
        <p:spPr>
          <a:xfrm>
            <a:off x="411491" y="4800600"/>
            <a:ext cx="7818328" cy="34290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38"/>
          <p:cNvSpPr/>
          <p:nvPr/>
        </p:nvSpPr>
        <p:spPr>
          <a:xfrm>
            <a:off x="8229819" y="4697730"/>
            <a:ext cx="914196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38"/>
          <p:cNvSpPr txBox="1"/>
          <p:nvPr/>
        </p:nvSpPr>
        <p:spPr>
          <a:xfrm>
            <a:off x="1851709" y="171450"/>
            <a:ext cx="541796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Module Diagram / Workflow</a:t>
            </a:r>
            <a:endParaRPr sz="1100"/>
          </a:p>
        </p:txBody>
      </p:sp>
      <p:sp>
        <p:nvSpPr>
          <p:cNvPr id="339" name="Google Shape;339;p38"/>
          <p:cNvSpPr txBox="1"/>
          <p:nvPr/>
        </p:nvSpPr>
        <p:spPr>
          <a:xfrm>
            <a:off x="274327" y="754380"/>
            <a:ext cx="411491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Major Modules:</a:t>
            </a:r>
            <a:endParaRPr sz="1100"/>
          </a:p>
        </p:txBody>
      </p:sp>
      <p:sp>
        <p:nvSpPr>
          <p:cNvPr id="340" name="Google Shape;340;p38"/>
          <p:cNvSpPr/>
          <p:nvPr/>
        </p:nvSpPr>
        <p:spPr>
          <a:xfrm>
            <a:off x="274327" y="1165860"/>
            <a:ext cx="2743273" cy="54864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38"/>
          <p:cNvSpPr txBox="1"/>
          <p:nvPr/>
        </p:nvSpPr>
        <p:spPr>
          <a:xfrm>
            <a:off x="274327" y="1165860"/>
            <a:ext cx="2743273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Medicine Reminder Module</a:t>
            </a:r>
            <a:endParaRPr sz="1100"/>
          </a:p>
        </p:txBody>
      </p:sp>
      <p:sp>
        <p:nvSpPr>
          <p:cNvPr id="342" name="Google Shape;342;p38"/>
          <p:cNvSpPr/>
          <p:nvPr/>
        </p:nvSpPr>
        <p:spPr>
          <a:xfrm>
            <a:off x="3223346" y="1165860"/>
            <a:ext cx="2743273" cy="54864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38"/>
          <p:cNvSpPr txBox="1"/>
          <p:nvPr/>
        </p:nvSpPr>
        <p:spPr>
          <a:xfrm>
            <a:off x="3223346" y="1165860"/>
            <a:ext cx="2743273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Shortcut &amp; Activity Module</a:t>
            </a:r>
            <a:endParaRPr sz="1100"/>
          </a:p>
        </p:txBody>
      </p:sp>
      <p:sp>
        <p:nvSpPr>
          <p:cNvPr id="344" name="Google Shape;344;p38"/>
          <p:cNvSpPr/>
          <p:nvPr/>
        </p:nvSpPr>
        <p:spPr>
          <a:xfrm>
            <a:off x="6172365" y="1165860"/>
            <a:ext cx="2743273" cy="54864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38"/>
          <p:cNvSpPr txBox="1"/>
          <p:nvPr/>
        </p:nvSpPr>
        <p:spPr>
          <a:xfrm>
            <a:off x="6172365" y="1165860"/>
            <a:ext cx="2743273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Emergency SOS Module</a:t>
            </a:r>
            <a:endParaRPr sz="1100"/>
          </a:p>
        </p:txBody>
      </p:sp>
      <p:sp>
        <p:nvSpPr>
          <p:cNvPr id="346" name="Google Shape;346;p38"/>
          <p:cNvSpPr/>
          <p:nvPr/>
        </p:nvSpPr>
        <p:spPr>
          <a:xfrm>
            <a:off x="1371637" y="1851660"/>
            <a:ext cx="2949019" cy="54864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38"/>
          <p:cNvSpPr txBox="1"/>
          <p:nvPr/>
        </p:nvSpPr>
        <p:spPr>
          <a:xfrm>
            <a:off x="1371637" y="1851660"/>
            <a:ext cx="2949019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Daily Activity &amp; Hydration Module</a:t>
            </a:r>
            <a:endParaRPr sz="1100"/>
          </a:p>
        </p:txBody>
      </p:sp>
      <p:sp>
        <p:nvSpPr>
          <p:cNvPr id="348" name="Google Shape;348;p38"/>
          <p:cNvSpPr/>
          <p:nvPr/>
        </p:nvSpPr>
        <p:spPr>
          <a:xfrm>
            <a:off x="4526401" y="1851660"/>
            <a:ext cx="2949019" cy="54864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38"/>
          <p:cNvSpPr txBox="1"/>
          <p:nvPr/>
        </p:nvSpPr>
        <p:spPr>
          <a:xfrm>
            <a:off x="4526401" y="1851660"/>
            <a:ext cx="2949019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Wheelchair-Friendly Navigation Module</a:t>
            </a:r>
            <a:endParaRPr sz="1100"/>
          </a:p>
        </p:txBody>
      </p:sp>
      <p:sp>
        <p:nvSpPr>
          <p:cNvPr id="350" name="Google Shape;350;p38"/>
          <p:cNvSpPr txBox="1"/>
          <p:nvPr/>
        </p:nvSpPr>
        <p:spPr>
          <a:xfrm>
            <a:off x="274327" y="2674620"/>
            <a:ext cx="411491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Workflow:</a:t>
            </a:r>
            <a:endParaRPr sz="1100"/>
          </a:p>
        </p:txBody>
      </p:sp>
      <p:sp>
        <p:nvSpPr>
          <p:cNvPr id="351" name="Google Shape;351;p38"/>
          <p:cNvSpPr/>
          <p:nvPr/>
        </p:nvSpPr>
        <p:spPr>
          <a:xfrm>
            <a:off x="274327" y="3154680"/>
            <a:ext cx="2263200" cy="1028700"/>
          </a:xfrm>
          <a:prstGeom prst="chevron">
            <a:avLst>
              <a:gd fmla="val 50000" name="adj"/>
            </a:avLst>
          </a:prstGeom>
          <a:solidFill>
            <a:srgbClr val="F1B7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 Input</a:t>
            </a:r>
            <a:endParaRPr sz="1100"/>
          </a:p>
        </p:txBody>
      </p:sp>
      <p:sp>
        <p:nvSpPr>
          <p:cNvPr id="352" name="Google Shape;352;p38"/>
          <p:cNvSpPr/>
          <p:nvPr/>
        </p:nvSpPr>
        <p:spPr>
          <a:xfrm>
            <a:off x="2400364" y="3154680"/>
            <a:ext cx="2263200" cy="1028700"/>
          </a:xfrm>
          <a:prstGeom prst="chevron">
            <a:avLst>
              <a:gd fmla="val 50000" name="adj"/>
            </a:avLst>
          </a:prstGeom>
          <a:solidFill>
            <a:srgbClr val="E26F7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Core Assistive Platform</a:t>
            </a:r>
            <a:endParaRPr sz="1100"/>
          </a:p>
        </p:txBody>
      </p:sp>
      <p:sp>
        <p:nvSpPr>
          <p:cNvPr id="353" name="Google Shape;353;p38"/>
          <p:cNvSpPr/>
          <p:nvPr/>
        </p:nvSpPr>
        <p:spPr>
          <a:xfrm>
            <a:off x="4526401" y="3154680"/>
            <a:ext cx="2263200" cy="1028700"/>
          </a:xfrm>
          <a:prstGeom prst="chevron">
            <a:avLst>
              <a:gd fmla="val 50000" name="adj"/>
            </a:avLst>
          </a:prstGeom>
          <a:solidFill>
            <a:srgbClr val="C4334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 Processing</a:t>
            </a:r>
            <a:endParaRPr sz="1100"/>
          </a:p>
        </p:txBody>
      </p:sp>
      <p:sp>
        <p:nvSpPr>
          <p:cNvPr id="354" name="Google Shape;354;p38"/>
          <p:cNvSpPr/>
          <p:nvPr/>
        </p:nvSpPr>
        <p:spPr>
          <a:xfrm>
            <a:off x="6652437" y="3154680"/>
            <a:ext cx="2263200" cy="1028700"/>
          </a:xfrm>
          <a:prstGeom prst="chevron">
            <a:avLst>
              <a:gd fmla="val 50000" name="adj"/>
            </a:avLst>
          </a:prstGeom>
          <a:solidFill>
            <a:srgbClr val="6E101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Notification Output</a:t>
            </a:r>
            <a:endParaRPr sz="1100"/>
          </a:p>
        </p:txBody>
      </p:sp>
      <p:sp>
        <p:nvSpPr>
          <p:cNvPr id="355" name="Google Shape;355;p38"/>
          <p:cNvSpPr txBox="1"/>
          <p:nvPr/>
        </p:nvSpPr>
        <p:spPr>
          <a:xfrm>
            <a:off x="0" y="4320540"/>
            <a:ext cx="91440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Diagram 1.1</a:t>
            </a:r>
            <a:endParaRPr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9"/>
          <p:cNvSpPr/>
          <p:nvPr/>
        </p:nvSpPr>
        <p:spPr>
          <a:xfrm>
            <a:off x="171455" y="102870"/>
            <a:ext cx="1577382" cy="3771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SOMAIYA VIDYAVIHAR UNIVERSITY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K J Somaiya School of Engineering</a:t>
            </a:r>
            <a:endParaRPr sz="1100"/>
          </a:p>
        </p:txBody>
      </p:sp>
      <p:sp>
        <p:nvSpPr>
          <p:cNvPr id="361" name="Google Shape;361;p39"/>
          <p:cNvSpPr/>
          <p:nvPr/>
        </p:nvSpPr>
        <p:spPr>
          <a:xfrm>
            <a:off x="8435565" y="123444"/>
            <a:ext cx="582946" cy="342900"/>
          </a:xfrm>
          <a:prstGeom prst="rect">
            <a:avLst/>
          </a:prstGeom>
          <a:solidFill>
            <a:srgbClr val="163A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Somaiya</a:t>
            </a:r>
            <a:b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sz="1100"/>
          </a:p>
        </p:txBody>
      </p:sp>
      <p:sp>
        <p:nvSpPr>
          <p:cNvPr id="362" name="Google Shape;362;p39"/>
          <p:cNvSpPr/>
          <p:nvPr/>
        </p:nvSpPr>
        <p:spPr>
          <a:xfrm>
            <a:off x="0" y="4697730"/>
            <a:ext cx="411491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9"/>
          <p:cNvSpPr/>
          <p:nvPr/>
        </p:nvSpPr>
        <p:spPr>
          <a:xfrm>
            <a:off x="411491" y="4800600"/>
            <a:ext cx="7818328" cy="34290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9"/>
          <p:cNvSpPr/>
          <p:nvPr/>
        </p:nvSpPr>
        <p:spPr>
          <a:xfrm>
            <a:off x="8229819" y="4697730"/>
            <a:ext cx="914196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39"/>
          <p:cNvSpPr txBox="1"/>
          <p:nvPr/>
        </p:nvSpPr>
        <p:spPr>
          <a:xfrm>
            <a:off x="1851709" y="171450"/>
            <a:ext cx="541796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Data Set Description</a:t>
            </a:r>
            <a:endParaRPr sz="1100"/>
          </a:p>
        </p:txBody>
      </p:sp>
      <p:sp>
        <p:nvSpPr>
          <p:cNvPr id="366" name="Google Shape;366;p39"/>
          <p:cNvSpPr txBox="1"/>
          <p:nvPr/>
        </p:nvSpPr>
        <p:spPr>
          <a:xfrm>
            <a:off x="480073" y="822960"/>
            <a:ext cx="411491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Data used includes:</a:t>
            </a:r>
            <a:endParaRPr sz="1100"/>
          </a:p>
        </p:txBody>
      </p:sp>
      <p:sp>
        <p:nvSpPr>
          <p:cNvPr id="367" name="Google Shape;367;p39"/>
          <p:cNvSpPr txBox="1"/>
          <p:nvPr/>
        </p:nvSpPr>
        <p:spPr>
          <a:xfrm>
            <a:off x="685818" y="1200150"/>
            <a:ext cx="7544001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User-entered medicine schedules</a:t>
            </a:r>
            <a:endParaRPr sz="1100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Reminder logs (taken / skipped)</a:t>
            </a:r>
            <a:endParaRPr sz="1100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Emergency contact information</a:t>
            </a:r>
            <a:endParaRPr sz="1100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Location data for wheelchair-friendly navigation</a:t>
            </a:r>
            <a:endParaRPr sz="1100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No large external datasets are required</a:t>
            </a:r>
            <a:endParaRPr sz="1100"/>
          </a:p>
        </p:txBody>
      </p:sp>
      <p:sp>
        <p:nvSpPr>
          <p:cNvPr id="368" name="Google Shape;368;p39"/>
          <p:cNvSpPr txBox="1"/>
          <p:nvPr/>
        </p:nvSpPr>
        <p:spPr>
          <a:xfrm>
            <a:off x="480073" y="3017520"/>
            <a:ext cx="411491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All data is:</a:t>
            </a:r>
            <a:endParaRPr sz="1100"/>
          </a:p>
        </p:txBody>
      </p:sp>
      <p:sp>
        <p:nvSpPr>
          <p:cNvPr id="369" name="Google Shape;369;p39"/>
          <p:cNvSpPr txBox="1"/>
          <p:nvPr/>
        </p:nvSpPr>
        <p:spPr>
          <a:xfrm>
            <a:off x="685818" y="3394710"/>
            <a:ext cx="754400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Stored locally on the device</a:t>
            </a:r>
            <a:endParaRPr sz="1100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Used only for application functionality</a:t>
            </a:r>
            <a:endParaRPr sz="1100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Not shared without user permission</a:t>
            </a:r>
            <a:endParaRPr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0"/>
          <p:cNvSpPr/>
          <p:nvPr/>
        </p:nvSpPr>
        <p:spPr>
          <a:xfrm>
            <a:off x="171455" y="102870"/>
            <a:ext cx="1577382" cy="3771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SOMAIYA VIDYAVIHAR UNIVERSITY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K J Somaiya School of Engineering</a:t>
            </a:r>
            <a:endParaRPr sz="1100"/>
          </a:p>
        </p:txBody>
      </p:sp>
      <p:sp>
        <p:nvSpPr>
          <p:cNvPr id="375" name="Google Shape;375;p40"/>
          <p:cNvSpPr/>
          <p:nvPr/>
        </p:nvSpPr>
        <p:spPr>
          <a:xfrm>
            <a:off x="8435565" y="123444"/>
            <a:ext cx="582946" cy="342900"/>
          </a:xfrm>
          <a:prstGeom prst="rect">
            <a:avLst/>
          </a:prstGeom>
          <a:solidFill>
            <a:srgbClr val="163A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Somaiya</a:t>
            </a:r>
            <a:b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sz="1100"/>
          </a:p>
        </p:txBody>
      </p:sp>
      <p:sp>
        <p:nvSpPr>
          <p:cNvPr id="376" name="Google Shape;376;p40"/>
          <p:cNvSpPr/>
          <p:nvPr/>
        </p:nvSpPr>
        <p:spPr>
          <a:xfrm>
            <a:off x="0" y="4697730"/>
            <a:ext cx="411491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40"/>
          <p:cNvSpPr/>
          <p:nvPr/>
        </p:nvSpPr>
        <p:spPr>
          <a:xfrm>
            <a:off x="411491" y="4800600"/>
            <a:ext cx="7818328" cy="34290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40"/>
          <p:cNvSpPr/>
          <p:nvPr/>
        </p:nvSpPr>
        <p:spPr>
          <a:xfrm>
            <a:off x="8229819" y="4697730"/>
            <a:ext cx="914196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40"/>
          <p:cNvSpPr txBox="1"/>
          <p:nvPr/>
        </p:nvSpPr>
        <p:spPr>
          <a:xfrm>
            <a:off x="1851709" y="171450"/>
            <a:ext cx="541796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Work Implemented Previously</a:t>
            </a:r>
            <a:endParaRPr sz="1100"/>
          </a:p>
        </p:txBody>
      </p:sp>
      <p:sp>
        <p:nvSpPr>
          <p:cNvPr id="380" name="Google Shape;380;p40"/>
          <p:cNvSpPr txBox="1"/>
          <p:nvPr/>
        </p:nvSpPr>
        <p:spPr>
          <a:xfrm>
            <a:off x="342909" y="754380"/>
            <a:ext cx="548654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Elder App:</a:t>
            </a:r>
            <a:endParaRPr sz="1100"/>
          </a:p>
        </p:txBody>
      </p:sp>
      <p:pic>
        <p:nvPicPr>
          <p:cNvPr descr="image1.png" id="381" name="Google Shape;381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454" y="1165860"/>
            <a:ext cx="956416" cy="19784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2.png" id="382" name="Google Shape;382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7060" y="1165860"/>
            <a:ext cx="2476915" cy="19784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3.png" id="383" name="Google Shape;383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41205" y="1165860"/>
            <a:ext cx="911584" cy="19784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4.png" id="384" name="Google Shape;384;p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89978" y="1165860"/>
            <a:ext cx="927257" cy="19784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5.png" id="385" name="Google Shape;385;p4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54424" y="1165860"/>
            <a:ext cx="2856060" cy="19784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1"/>
          <p:cNvSpPr/>
          <p:nvPr/>
        </p:nvSpPr>
        <p:spPr>
          <a:xfrm>
            <a:off x="171455" y="102870"/>
            <a:ext cx="1577382" cy="3771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SOMAIYA VIDYAVIHAR UNIVERSITY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K J Somaiya School of Engineering</a:t>
            </a:r>
            <a:endParaRPr sz="1100"/>
          </a:p>
        </p:txBody>
      </p:sp>
      <p:sp>
        <p:nvSpPr>
          <p:cNvPr id="391" name="Google Shape;391;p41"/>
          <p:cNvSpPr/>
          <p:nvPr/>
        </p:nvSpPr>
        <p:spPr>
          <a:xfrm>
            <a:off x="8435565" y="123444"/>
            <a:ext cx="582946" cy="342900"/>
          </a:xfrm>
          <a:prstGeom prst="rect">
            <a:avLst/>
          </a:prstGeom>
          <a:solidFill>
            <a:srgbClr val="163A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Somaiya</a:t>
            </a:r>
            <a:b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sz="1100"/>
          </a:p>
        </p:txBody>
      </p:sp>
      <p:sp>
        <p:nvSpPr>
          <p:cNvPr id="392" name="Google Shape;392;p41"/>
          <p:cNvSpPr/>
          <p:nvPr/>
        </p:nvSpPr>
        <p:spPr>
          <a:xfrm>
            <a:off x="0" y="4697730"/>
            <a:ext cx="411491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41"/>
          <p:cNvSpPr/>
          <p:nvPr/>
        </p:nvSpPr>
        <p:spPr>
          <a:xfrm>
            <a:off x="411491" y="4800600"/>
            <a:ext cx="7818328" cy="34290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41"/>
          <p:cNvSpPr/>
          <p:nvPr/>
        </p:nvSpPr>
        <p:spPr>
          <a:xfrm>
            <a:off x="8229819" y="4697730"/>
            <a:ext cx="914196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41"/>
          <p:cNvSpPr txBox="1"/>
          <p:nvPr/>
        </p:nvSpPr>
        <p:spPr>
          <a:xfrm>
            <a:off x="1851709" y="171450"/>
            <a:ext cx="541796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Work Implemented Previously</a:t>
            </a:r>
            <a:endParaRPr sz="1100"/>
          </a:p>
        </p:txBody>
      </p:sp>
      <p:sp>
        <p:nvSpPr>
          <p:cNvPr id="396" name="Google Shape;396;p41"/>
          <p:cNvSpPr txBox="1"/>
          <p:nvPr/>
        </p:nvSpPr>
        <p:spPr>
          <a:xfrm>
            <a:off x="342909" y="754380"/>
            <a:ext cx="548654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Elder App:</a:t>
            </a:r>
            <a:endParaRPr sz="1100"/>
          </a:p>
        </p:txBody>
      </p:sp>
      <p:pic>
        <p:nvPicPr>
          <p:cNvPr descr="image6.png" id="397" name="Google Shape;39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084" y="1165860"/>
            <a:ext cx="640863" cy="13979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7.png" id="398" name="Google Shape;398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3128" y="1165860"/>
            <a:ext cx="667991" cy="13979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8.png" id="399" name="Google Shape;399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68300" y="1165860"/>
            <a:ext cx="2336784" cy="13979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9.png" id="400" name="Google Shape;400;p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42310" y="1165860"/>
            <a:ext cx="2286633" cy="13979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10.png" id="401" name="Google Shape;401;p4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66168" y="1165860"/>
            <a:ext cx="2292701" cy="13979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2"/>
          <p:cNvSpPr/>
          <p:nvPr/>
        </p:nvSpPr>
        <p:spPr>
          <a:xfrm>
            <a:off x="171455" y="102870"/>
            <a:ext cx="1577382" cy="3771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SOMAIYA VIDYAVIHAR UNIVERSITY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K J Somaiya School of Engineering</a:t>
            </a:r>
            <a:endParaRPr sz="1100"/>
          </a:p>
        </p:txBody>
      </p:sp>
      <p:sp>
        <p:nvSpPr>
          <p:cNvPr id="407" name="Google Shape;407;p42"/>
          <p:cNvSpPr/>
          <p:nvPr/>
        </p:nvSpPr>
        <p:spPr>
          <a:xfrm>
            <a:off x="8435565" y="123444"/>
            <a:ext cx="582946" cy="342900"/>
          </a:xfrm>
          <a:prstGeom prst="rect">
            <a:avLst/>
          </a:prstGeom>
          <a:solidFill>
            <a:srgbClr val="163A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Somaiya</a:t>
            </a:r>
            <a:b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sz="1100"/>
          </a:p>
        </p:txBody>
      </p:sp>
      <p:sp>
        <p:nvSpPr>
          <p:cNvPr id="408" name="Google Shape;408;p42"/>
          <p:cNvSpPr/>
          <p:nvPr/>
        </p:nvSpPr>
        <p:spPr>
          <a:xfrm>
            <a:off x="0" y="4697730"/>
            <a:ext cx="411491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42"/>
          <p:cNvSpPr/>
          <p:nvPr/>
        </p:nvSpPr>
        <p:spPr>
          <a:xfrm>
            <a:off x="411491" y="4800600"/>
            <a:ext cx="7818328" cy="34290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42"/>
          <p:cNvSpPr/>
          <p:nvPr/>
        </p:nvSpPr>
        <p:spPr>
          <a:xfrm>
            <a:off x="8229819" y="4697730"/>
            <a:ext cx="914196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42"/>
          <p:cNvSpPr txBox="1"/>
          <p:nvPr/>
        </p:nvSpPr>
        <p:spPr>
          <a:xfrm>
            <a:off x="1851709" y="171450"/>
            <a:ext cx="541796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Work Implemented Previously</a:t>
            </a:r>
            <a:endParaRPr sz="1100"/>
          </a:p>
        </p:txBody>
      </p:sp>
      <p:sp>
        <p:nvSpPr>
          <p:cNvPr id="412" name="Google Shape;412;p42"/>
          <p:cNvSpPr txBox="1"/>
          <p:nvPr/>
        </p:nvSpPr>
        <p:spPr>
          <a:xfrm>
            <a:off x="342909" y="754380"/>
            <a:ext cx="548654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Guardian App:</a:t>
            </a:r>
            <a:endParaRPr sz="1100"/>
          </a:p>
        </p:txBody>
      </p:sp>
      <p:pic>
        <p:nvPicPr>
          <p:cNvPr descr="image11.png" id="413" name="Google Shape;41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3427" y="1165860"/>
            <a:ext cx="1478651" cy="3291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12.png" id="414" name="Google Shape;414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39281" y="1165860"/>
            <a:ext cx="1581968" cy="3291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13.png" id="415" name="Google Shape;415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8455" y="1165860"/>
            <a:ext cx="1479329" cy="3291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14.png" id="416" name="Google Shape;416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74988" y="1165860"/>
            <a:ext cx="1545559" cy="3291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3"/>
          <p:cNvSpPr/>
          <p:nvPr/>
        </p:nvSpPr>
        <p:spPr>
          <a:xfrm>
            <a:off x="171455" y="102870"/>
            <a:ext cx="1577382" cy="3771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SOMAIYA VIDYAVIHAR UNIVERSITY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K J Somaiya School of Engineering</a:t>
            </a:r>
            <a:endParaRPr sz="1100"/>
          </a:p>
        </p:txBody>
      </p:sp>
      <p:sp>
        <p:nvSpPr>
          <p:cNvPr id="422" name="Google Shape;422;p43"/>
          <p:cNvSpPr/>
          <p:nvPr/>
        </p:nvSpPr>
        <p:spPr>
          <a:xfrm>
            <a:off x="8435565" y="123444"/>
            <a:ext cx="582946" cy="342900"/>
          </a:xfrm>
          <a:prstGeom prst="rect">
            <a:avLst/>
          </a:prstGeom>
          <a:solidFill>
            <a:srgbClr val="163A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Somaiya</a:t>
            </a:r>
            <a:b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sz="1100"/>
          </a:p>
        </p:txBody>
      </p:sp>
      <p:sp>
        <p:nvSpPr>
          <p:cNvPr id="423" name="Google Shape;423;p43"/>
          <p:cNvSpPr/>
          <p:nvPr/>
        </p:nvSpPr>
        <p:spPr>
          <a:xfrm>
            <a:off x="0" y="4697730"/>
            <a:ext cx="411491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43"/>
          <p:cNvSpPr/>
          <p:nvPr/>
        </p:nvSpPr>
        <p:spPr>
          <a:xfrm>
            <a:off x="411491" y="4800600"/>
            <a:ext cx="7818328" cy="34290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43"/>
          <p:cNvSpPr/>
          <p:nvPr/>
        </p:nvSpPr>
        <p:spPr>
          <a:xfrm>
            <a:off x="8229819" y="4697730"/>
            <a:ext cx="914196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43"/>
          <p:cNvSpPr txBox="1"/>
          <p:nvPr/>
        </p:nvSpPr>
        <p:spPr>
          <a:xfrm>
            <a:off x="1851709" y="171450"/>
            <a:ext cx="541796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Work Implemented Previously</a:t>
            </a:r>
            <a:endParaRPr sz="1100"/>
          </a:p>
        </p:txBody>
      </p:sp>
      <p:sp>
        <p:nvSpPr>
          <p:cNvPr id="427" name="Google Shape;427;p43"/>
          <p:cNvSpPr txBox="1"/>
          <p:nvPr/>
        </p:nvSpPr>
        <p:spPr>
          <a:xfrm>
            <a:off x="342909" y="754380"/>
            <a:ext cx="548654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Guardian App:</a:t>
            </a:r>
            <a:endParaRPr sz="1100"/>
          </a:p>
        </p:txBody>
      </p:sp>
      <p:pic>
        <p:nvPicPr>
          <p:cNvPr descr="image15.png" id="428" name="Google Shape;428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1367" y="1165860"/>
            <a:ext cx="1532638" cy="3291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16.png" id="429" name="Google Shape;429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21210" y="1165860"/>
            <a:ext cx="1459313" cy="3291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17.png" id="430" name="Google Shape;430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7725" y="1165860"/>
            <a:ext cx="1476237" cy="3291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18.png" id="431" name="Google Shape;431;p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31165" y="1165860"/>
            <a:ext cx="1511428" cy="3291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19.png" id="432" name="Google Shape;432;p4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079797" y="1165860"/>
            <a:ext cx="1512809" cy="3291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4"/>
          <p:cNvSpPr/>
          <p:nvPr/>
        </p:nvSpPr>
        <p:spPr>
          <a:xfrm>
            <a:off x="171455" y="102870"/>
            <a:ext cx="1577382" cy="3771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SOMAIYA VIDYAVIHAR UNIVERSITY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K J Somaiya School of Engineering</a:t>
            </a:r>
            <a:endParaRPr sz="1100"/>
          </a:p>
        </p:txBody>
      </p:sp>
      <p:sp>
        <p:nvSpPr>
          <p:cNvPr id="438" name="Google Shape;438;p44"/>
          <p:cNvSpPr/>
          <p:nvPr/>
        </p:nvSpPr>
        <p:spPr>
          <a:xfrm>
            <a:off x="8435565" y="123444"/>
            <a:ext cx="582946" cy="342900"/>
          </a:xfrm>
          <a:prstGeom prst="rect">
            <a:avLst/>
          </a:prstGeom>
          <a:solidFill>
            <a:srgbClr val="163A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Somaiya</a:t>
            </a:r>
            <a:b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sz="1100"/>
          </a:p>
        </p:txBody>
      </p:sp>
      <p:sp>
        <p:nvSpPr>
          <p:cNvPr id="439" name="Google Shape;439;p44"/>
          <p:cNvSpPr/>
          <p:nvPr/>
        </p:nvSpPr>
        <p:spPr>
          <a:xfrm>
            <a:off x="0" y="4697730"/>
            <a:ext cx="411491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44"/>
          <p:cNvSpPr/>
          <p:nvPr/>
        </p:nvSpPr>
        <p:spPr>
          <a:xfrm>
            <a:off x="411491" y="4800600"/>
            <a:ext cx="7818328" cy="34290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44"/>
          <p:cNvSpPr/>
          <p:nvPr/>
        </p:nvSpPr>
        <p:spPr>
          <a:xfrm>
            <a:off x="8229819" y="4697730"/>
            <a:ext cx="914196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44"/>
          <p:cNvSpPr txBox="1"/>
          <p:nvPr/>
        </p:nvSpPr>
        <p:spPr>
          <a:xfrm>
            <a:off x="1851709" y="171450"/>
            <a:ext cx="541796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Work Implemented</a:t>
            </a:r>
            <a:endParaRPr sz="1100"/>
          </a:p>
        </p:txBody>
      </p:sp>
      <p:sp>
        <p:nvSpPr>
          <p:cNvPr id="443" name="Google Shape;443;p44"/>
          <p:cNvSpPr txBox="1"/>
          <p:nvPr/>
        </p:nvSpPr>
        <p:spPr>
          <a:xfrm>
            <a:off x="548655" y="1028700"/>
            <a:ext cx="4526401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300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Google Sign-In with a</a:t>
            </a:r>
            <a:br>
              <a:rPr b="0" i="0" lang="en" sz="2300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0" i="0" lang="en" sz="2300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one-time connect code</a:t>
            </a:r>
            <a:endParaRPr sz="1100"/>
          </a:p>
        </p:txBody>
      </p:sp>
      <p:sp>
        <p:nvSpPr>
          <p:cNvPr id="444" name="Google Shape;444;p44"/>
          <p:cNvSpPr txBox="1"/>
          <p:nvPr/>
        </p:nvSpPr>
        <p:spPr>
          <a:xfrm>
            <a:off x="548655" y="2057400"/>
            <a:ext cx="4389237" cy="23317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Both users sign in with any Google account - no OTP, no hard-coded test numbers.</a:t>
            </a:r>
            <a:endParaRPr sz="1100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The guardian creates the elder's profile and gets a six-digit code.</a:t>
            </a:r>
            <a:endParaRPr sz="1100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Entering that code once on the elder's phone links the two accounts.</a:t>
            </a:r>
            <a:endParaRPr sz="1100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Each code works only once and expires after seven days.</a:t>
            </a:r>
            <a:endParaRPr sz="1100"/>
          </a:p>
        </p:txBody>
      </p:sp>
      <p:pic>
        <p:nvPicPr>
          <p:cNvPr descr="ui2.png" id="445" name="Google Shape;44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80801" y="891540"/>
            <a:ext cx="1666494" cy="3703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i1.png" id="446" name="Google Shape;446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98219" y="891540"/>
            <a:ext cx="1666494" cy="3703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5"/>
          <p:cNvSpPr/>
          <p:nvPr/>
        </p:nvSpPr>
        <p:spPr>
          <a:xfrm>
            <a:off x="171455" y="102870"/>
            <a:ext cx="1577382" cy="3771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SOMAIYA VIDYAVIHAR UNIVERSITY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K J Somaiya School of Engineering</a:t>
            </a:r>
            <a:endParaRPr sz="1100"/>
          </a:p>
        </p:txBody>
      </p:sp>
      <p:sp>
        <p:nvSpPr>
          <p:cNvPr id="452" name="Google Shape;452;p45"/>
          <p:cNvSpPr/>
          <p:nvPr/>
        </p:nvSpPr>
        <p:spPr>
          <a:xfrm>
            <a:off x="8435565" y="123444"/>
            <a:ext cx="582946" cy="342900"/>
          </a:xfrm>
          <a:prstGeom prst="rect">
            <a:avLst/>
          </a:prstGeom>
          <a:solidFill>
            <a:srgbClr val="163A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Somaiya</a:t>
            </a:r>
            <a:b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sz="1100"/>
          </a:p>
        </p:txBody>
      </p:sp>
      <p:sp>
        <p:nvSpPr>
          <p:cNvPr id="453" name="Google Shape;453;p45"/>
          <p:cNvSpPr/>
          <p:nvPr/>
        </p:nvSpPr>
        <p:spPr>
          <a:xfrm>
            <a:off x="0" y="4697730"/>
            <a:ext cx="411491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45"/>
          <p:cNvSpPr/>
          <p:nvPr/>
        </p:nvSpPr>
        <p:spPr>
          <a:xfrm>
            <a:off x="411491" y="4800600"/>
            <a:ext cx="7818328" cy="34290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45"/>
          <p:cNvSpPr/>
          <p:nvPr/>
        </p:nvSpPr>
        <p:spPr>
          <a:xfrm>
            <a:off x="8229819" y="4697730"/>
            <a:ext cx="914196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45"/>
          <p:cNvSpPr txBox="1"/>
          <p:nvPr/>
        </p:nvSpPr>
        <p:spPr>
          <a:xfrm>
            <a:off x="1851709" y="171450"/>
            <a:ext cx="541796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Work Implemented</a:t>
            </a:r>
            <a:endParaRPr sz="1100"/>
          </a:p>
        </p:txBody>
      </p:sp>
      <p:sp>
        <p:nvSpPr>
          <p:cNvPr id="457" name="Google Shape;457;p45"/>
          <p:cNvSpPr txBox="1"/>
          <p:nvPr/>
        </p:nvSpPr>
        <p:spPr>
          <a:xfrm>
            <a:off x="342909" y="754380"/>
            <a:ext cx="548654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Elder App:</a:t>
            </a:r>
            <a:endParaRPr sz="1100"/>
          </a:p>
        </p:txBody>
      </p:sp>
      <p:pic>
        <p:nvPicPr>
          <p:cNvPr descr="ui3.png" id="458" name="Google Shape;458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2792" y="1165860"/>
            <a:ext cx="1481328" cy="3291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i4.png" id="459" name="Google Shape;459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31323" y="1165860"/>
            <a:ext cx="1481328" cy="3291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i5.png" id="460" name="Google Shape;460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49855" y="1165860"/>
            <a:ext cx="1481328" cy="3291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46"/>
          <p:cNvSpPr/>
          <p:nvPr/>
        </p:nvSpPr>
        <p:spPr>
          <a:xfrm>
            <a:off x="171455" y="102870"/>
            <a:ext cx="1577382" cy="3771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SOMAIYA VIDYAVIHAR UNIVERSITY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K J Somaiya School of Engineering</a:t>
            </a:r>
            <a:endParaRPr sz="1100"/>
          </a:p>
        </p:txBody>
      </p:sp>
      <p:sp>
        <p:nvSpPr>
          <p:cNvPr id="466" name="Google Shape;466;p46"/>
          <p:cNvSpPr/>
          <p:nvPr/>
        </p:nvSpPr>
        <p:spPr>
          <a:xfrm>
            <a:off x="8435565" y="123444"/>
            <a:ext cx="582946" cy="342900"/>
          </a:xfrm>
          <a:prstGeom prst="rect">
            <a:avLst/>
          </a:prstGeom>
          <a:solidFill>
            <a:srgbClr val="163A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Somaiya</a:t>
            </a:r>
            <a:b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sz="1100"/>
          </a:p>
        </p:txBody>
      </p:sp>
      <p:sp>
        <p:nvSpPr>
          <p:cNvPr id="467" name="Google Shape;467;p46"/>
          <p:cNvSpPr/>
          <p:nvPr/>
        </p:nvSpPr>
        <p:spPr>
          <a:xfrm>
            <a:off x="0" y="4697730"/>
            <a:ext cx="411491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46"/>
          <p:cNvSpPr/>
          <p:nvPr/>
        </p:nvSpPr>
        <p:spPr>
          <a:xfrm>
            <a:off x="411491" y="4800600"/>
            <a:ext cx="7818328" cy="34290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46"/>
          <p:cNvSpPr/>
          <p:nvPr/>
        </p:nvSpPr>
        <p:spPr>
          <a:xfrm>
            <a:off x="8229819" y="4697730"/>
            <a:ext cx="914196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46"/>
          <p:cNvSpPr txBox="1"/>
          <p:nvPr/>
        </p:nvSpPr>
        <p:spPr>
          <a:xfrm>
            <a:off x="1851709" y="171450"/>
            <a:ext cx="541796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Work Implemented</a:t>
            </a:r>
            <a:endParaRPr sz="1100"/>
          </a:p>
        </p:txBody>
      </p:sp>
      <p:sp>
        <p:nvSpPr>
          <p:cNvPr id="471" name="Google Shape;471;p46"/>
          <p:cNvSpPr txBox="1"/>
          <p:nvPr/>
        </p:nvSpPr>
        <p:spPr>
          <a:xfrm>
            <a:off x="342909" y="754380"/>
            <a:ext cx="548654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Guardian App:</a:t>
            </a:r>
            <a:endParaRPr sz="1100"/>
          </a:p>
        </p:txBody>
      </p:sp>
      <p:pic>
        <p:nvPicPr>
          <p:cNvPr descr="ui6.png" id="472" name="Google Shape;472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2792" y="1165860"/>
            <a:ext cx="1481328" cy="3291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i7.png" id="473" name="Google Shape;473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31323" y="1165860"/>
            <a:ext cx="1481328" cy="3291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i8.png" id="474" name="Google Shape;474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49855" y="1165860"/>
            <a:ext cx="1481328" cy="3291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47"/>
          <p:cNvSpPr/>
          <p:nvPr/>
        </p:nvSpPr>
        <p:spPr>
          <a:xfrm>
            <a:off x="171455" y="102870"/>
            <a:ext cx="1577382" cy="3771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SOMAIYA VIDYAVIHAR UNIVERSITY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K J Somaiya School of Engineering</a:t>
            </a:r>
            <a:endParaRPr sz="1100"/>
          </a:p>
        </p:txBody>
      </p:sp>
      <p:sp>
        <p:nvSpPr>
          <p:cNvPr id="480" name="Google Shape;480;p47"/>
          <p:cNvSpPr/>
          <p:nvPr/>
        </p:nvSpPr>
        <p:spPr>
          <a:xfrm>
            <a:off x="8435565" y="123444"/>
            <a:ext cx="582946" cy="342900"/>
          </a:xfrm>
          <a:prstGeom prst="rect">
            <a:avLst/>
          </a:prstGeom>
          <a:solidFill>
            <a:srgbClr val="163A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Somaiya</a:t>
            </a:r>
            <a:b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sz="1100"/>
          </a:p>
        </p:txBody>
      </p:sp>
      <p:sp>
        <p:nvSpPr>
          <p:cNvPr id="481" name="Google Shape;481;p47"/>
          <p:cNvSpPr/>
          <p:nvPr/>
        </p:nvSpPr>
        <p:spPr>
          <a:xfrm>
            <a:off x="0" y="4697730"/>
            <a:ext cx="411491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47"/>
          <p:cNvSpPr/>
          <p:nvPr/>
        </p:nvSpPr>
        <p:spPr>
          <a:xfrm>
            <a:off x="411491" y="4800600"/>
            <a:ext cx="7818328" cy="34290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47"/>
          <p:cNvSpPr/>
          <p:nvPr/>
        </p:nvSpPr>
        <p:spPr>
          <a:xfrm>
            <a:off x="8229819" y="4697730"/>
            <a:ext cx="914196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47"/>
          <p:cNvSpPr txBox="1"/>
          <p:nvPr/>
        </p:nvSpPr>
        <p:spPr>
          <a:xfrm>
            <a:off x="1851709" y="171450"/>
            <a:ext cx="541796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Work Implemented</a:t>
            </a:r>
            <a:endParaRPr sz="1100"/>
          </a:p>
        </p:txBody>
      </p:sp>
      <p:sp>
        <p:nvSpPr>
          <p:cNvPr id="485" name="Google Shape;485;p47"/>
          <p:cNvSpPr txBox="1"/>
          <p:nvPr/>
        </p:nvSpPr>
        <p:spPr>
          <a:xfrm>
            <a:off x="342909" y="754380"/>
            <a:ext cx="548654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Guardian App:</a:t>
            </a:r>
            <a:endParaRPr sz="1100"/>
          </a:p>
        </p:txBody>
      </p:sp>
      <p:pic>
        <p:nvPicPr>
          <p:cNvPr descr="ui9.png" id="486" name="Google Shape;48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2792" y="1165860"/>
            <a:ext cx="1481328" cy="3291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i10.png" id="487" name="Google Shape;487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31323" y="1165860"/>
            <a:ext cx="1481328" cy="3291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i11.png" id="488" name="Google Shape;488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49855" y="1165860"/>
            <a:ext cx="1481328" cy="3291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48"/>
          <p:cNvSpPr/>
          <p:nvPr/>
        </p:nvSpPr>
        <p:spPr>
          <a:xfrm>
            <a:off x="171455" y="102870"/>
            <a:ext cx="1577382" cy="3771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SOMAIYA VIDYAVIHAR UNIVERSITY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K J Somaiya School of Engineering</a:t>
            </a:r>
            <a:endParaRPr sz="1100"/>
          </a:p>
        </p:txBody>
      </p:sp>
      <p:sp>
        <p:nvSpPr>
          <p:cNvPr id="494" name="Google Shape;494;p48"/>
          <p:cNvSpPr/>
          <p:nvPr/>
        </p:nvSpPr>
        <p:spPr>
          <a:xfrm>
            <a:off x="8435565" y="123444"/>
            <a:ext cx="582946" cy="342900"/>
          </a:xfrm>
          <a:prstGeom prst="rect">
            <a:avLst/>
          </a:prstGeom>
          <a:solidFill>
            <a:srgbClr val="163A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Somaiya</a:t>
            </a:r>
            <a:b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sz="1100"/>
          </a:p>
        </p:txBody>
      </p:sp>
      <p:sp>
        <p:nvSpPr>
          <p:cNvPr id="495" name="Google Shape;495;p48"/>
          <p:cNvSpPr/>
          <p:nvPr/>
        </p:nvSpPr>
        <p:spPr>
          <a:xfrm>
            <a:off x="0" y="4697730"/>
            <a:ext cx="411491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48"/>
          <p:cNvSpPr/>
          <p:nvPr/>
        </p:nvSpPr>
        <p:spPr>
          <a:xfrm>
            <a:off x="411491" y="4800600"/>
            <a:ext cx="7818328" cy="34290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48"/>
          <p:cNvSpPr/>
          <p:nvPr/>
        </p:nvSpPr>
        <p:spPr>
          <a:xfrm>
            <a:off x="8229819" y="4697730"/>
            <a:ext cx="914196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48"/>
          <p:cNvSpPr txBox="1"/>
          <p:nvPr/>
        </p:nvSpPr>
        <p:spPr>
          <a:xfrm>
            <a:off x="1851709" y="171450"/>
            <a:ext cx="541796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Conclusion</a:t>
            </a:r>
            <a:endParaRPr sz="1100"/>
          </a:p>
        </p:txBody>
      </p:sp>
      <p:sp>
        <p:nvSpPr>
          <p:cNvPr id="499" name="Google Shape;499;p48"/>
          <p:cNvSpPr txBox="1"/>
          <p:nvPr/>
        </p:nvSpPr>
        <p:spPr>
          <a:xfrm>
            <a:off x="480073" y="891540"/>
            <a:ext cx="8229819" cy="37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The CareCompanion project not only addresses significant societal needs but also stands as a robust demonstration of modern mobile application development.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Tackles a crucial social issue by enhancing the independence and safety of elderly and disabled users.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Prioritizes accessibility, safety, and intuitive ease of use, ensuring a positive user experience.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Showcases practical application of advanced Android development concepts and best practices.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Built with a modular architecture for future expansion, making it a suitable and impactful final-year engineering project.</a:t>
            </a:r>
            <a:endParaRPr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9"/>
          <p:cNvSpPr/>
          <p:nvPr/>
        </p:nvSpPr>
        <p:spPr>
          <a:xfrm>
            <a:off x="171455" y="102870"/>
            <a:ext cx="1577382" cy="3771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SOMAIYA VIDYAVIHAR UNIVERSITY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K J Somaiya School of Engineering</a:t>
            </a:r>
            <a:endParaRPr sz="1100"/>
          </a:p>
        </p:txBody>
      </p:sp>
      <p:sp>
        <p:nvSpPr>
          <p:cNvPr id="505" name="Google Shape;505;p49"/>
          <p:cNvSpPr/>
          <p:nvPr/>
        </p:nvSpPr>
        <p:spPr>
          <a:xfrm>
            <a:off x="8435565" y="123444"/>
            <a:ext cx="582946" cy="342900"/>
          </a:xfrm>
          <a:prstGeom prst="rect">
            <a:avLst/>
          </a:prstGeom>
          <a:solidFill>
            <a:srgbClr val="163A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Somaiya</a:t>
            </a:r>
            <a:b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sz="1100"/>
          </a:p>
        </p:txBody>
      </p:sp>
      <p:sp>
        <p:nvSpPr>
          <p:cNvPr id="506" name="Google Shape;506;p49"/>
          <p:cNvSpPr/>
          <p:nvPr/>
        </p:nvSpPr>
        <p:spPr>
          <a:xfrm>
            <a:off x="0" y="4697730"/>
            <a:ext cx="411491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49"/>
          <p:cNvSpPr/>
          <p:nvPr/>
        </p:nvSpPr>
        <p:spPr>
          <a:xfrm>
            <a:off x="411491" y="4800600"/>
            <a:ext cx="7818328" cy="34290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49"/>
          <p:cNvSpPr/>
          <p:nvPr/>
        </p:nvSpPr>
        <p:spPr>
          <a:xfrm>
            <a:off x="8229819" y="4697730"/>
            <a:ext cx="914196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49"/>
          <p:cNvSpPr txBox="1"/>
          <p:nvPr/>
        </p:nvSpPr>
        <p:spPr>
          <a:xfrm>
            <a:off x="1851709" y="171450"/>
            <a:ext cx="541796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References</a:t>
            </a:r>
            <a:endParaRPr sz="1100"/>
          </a:p>
        </p:txBody>
      </p:sp>
      <p:sp>
        <p:nvSpPr>
          <p:cNvPr id="510" name="Google Shape;510;p49"/>
          <p:cNvSpPr txBox="1"/>
          <p:nvPr/>
        </p:nvSpPr>
        <p:spPr>
          <a:xfrm>
            <a:off x="342909" y="788670"/>
            <a:ext cx="8435565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[1] E. Amouzadeh, M. N. A. Rashid, and R. Mohd, "Optimizing mobile app design for older adults: A systematic review of age-friendly design principles," Aging Clinical and Experimental Research, vol. 37, no. 1, pp. 1–18, 2025, doi: 10.1007/s40520-025-03157-7.</a:t>
            </a:r>
            <a:endParaRPr sz="1100"/>
          </a:p>
          <a:p>
            <a:pPr indent="0" lvl="0" marL="0" marR="0" rtl="0" algn="just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[2] M. Awan, A. M. Raza, and S. U. Khan, "Usability barriers for elderly users in smartphone app usage: An analytical hierarchical process-based prioritization," Scientific Programming, vol. 2021, pp. 1–14, 2021, doi: 10.1155/2021/5598523.</a:t>
            </a:r>
            <a:endParaRPr sz="1100"/>
          </a:p>
          <a:p>
            <a:pPr indent="0" lvl="0" marL="0" marR="0" rtl="0" algn="just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[3] S. Wickramathilaka, P. Gamage, and S. Perera, "Adaptive and accessible user interfaces for senior citizens using model-driven engineering," Automated Software Engineering, vol. 32, no. 1, pp. 1–25, 2025, doi: 10.1007/s10515-025-00547-z.</a:t>
            </a:r>
            <a:endParaRPr sz="1100"/>
          </a:p>
          <a:p>
            <a:pPr indent="0" lvl="0" marL="0" marR="0" rtl="0" algn="just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[4] J. Abascal and C. Nicolle, "Moving towards inclusive design guidelines for mobile applications for older adults," IEEE Computer, vol. 54, no. 3, pp. 62–70, Mar. 2021, doi: 10.1109/MC.2021.3051519.</a:t>
            </a:r>
            <a:endParaRPr sz="1100"/>
          </a:p>
          <a:p>
            <a:pPr indent="0" lvl="0" marL="0" marR="0" rtl="0" algn="just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[5] R. Pak and A. McLaughlin, "Designing displays and interfaces for older adults," IEEE Reviews in Biomedical Engineering, vol. 14, pp. 289–302, 2021, doi: 10.1109/RBME.2020.3042376.</a:t>
            </a:r>
            <a:endParaRPr sz="1100"/>
          </a:p>
          <a:p>
            <a:pPr indent="0" lvl="0" marL="0" marR="0" rtl="0" algn="just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[6] J. Zhou, M. Rau, and G. Salvendy, "Age-related differences in mobile phone usage and usability," IEEE Transactions on Human-Machine Systems, vol. 51, no. 4, pp. 364–375, Aug. 2021, doi: 10.1109/THMS.2021.3079275.</a:t>
            </a:r>
            <a:endParaRPr sz="1100"/>
          </a:p>
          <a:p>
            <a:pPr indent="0" lvl="0" marL="0" marR="0" rtl="0" algn="just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[7] A. Holzinger, G. Searle, and A. Nischelwitzer, "On some aspects of improving mobile applications for the elderly," IEEE Access, vol. 9, pp. 101734–101746, 2021, doi: 10.1109/ACCESS.2021.3097654.</a:t>
            </a:r>
            <a:endParaRPr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50"/>
          <p:cNvSpPr/>
          <p:nvPr/>
        </p:nvSpPr>
        <p:spPr>
          <a:xfrm>
            <a:off x="171455" y="102870"/>
            <a:ext cx="1577382" cy="3771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SOMAIYA VIDYAVIHAR UNIVERSITY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K J Somaiya School of Engineering</a:t>
            </a:r>
            <a:endParaRPr sz="1100"/>
          </a:p>
        </p:txBody>
      </p:sp>
      <p:sp>
        <p:nvSpPr>
          <p:cNvPr id="516" name="Google Shape;516;p50"/>
          <p:cNvSpPr/>
          <p:nvPr/>
        </p:nvSpPr>
        <p:spPr>
          <a:xfrm>
            <a:off x="8435565" y="123444"/>
            <a:ext cx="582946" cy="342900"/>
          </a:xfrm>
          <a:prstGeom prst="rect">
            <a:avLst/>
          </a:prstGeom>
          <a:solidFill>
            <a:srgbClr val="163A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Somaiya</a:t>
            </a:r>
            <a:b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sz="1100"/>
          </a:p>
        </p:txBody>
      </p:sp>
      <p:sp>
        <p:nvSpPr>
          <p:cNvPr id="517" name="Google Shape;517;p50"/>
          <p:cNvSpPr/>
          <p:nvPr/>
        </p:nvSpPr>
        <p:spPr>
          <a:xfrm>
            <a:off x="0" y="4697730"/>
            <a:ext cx="411491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50"/>
          <p:cNvSpPr/>
          <p:nvPr/>
        </p:nvSpPr>
        <p:spPr>
          <a:xfrm>
            <a:off x="411491" y="4800600"/>
            <a:ext cx="7818328" cy="34290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50"/>
          <p:cNvSpPr/>
          <p:nvPr/>
        </p:nvSpPr>
        <p:spPr>
          <a:xfrm>
            <a:off x="8229819" y="4697730"/>
            <a:ext cx="914196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50"/>
          <p:cNvSpPr txBox="1"/>
          <p:nvPr/>
        </p:nvSpPr>
        <p:spPr>
          <a:xfrm>
            <a:off x="1851709" y="171450"/>
            <a:ext cx="541796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References</a:t>
            </a:r>
            <a:endParaRPr sz="1100"/>
          </a:p>
        </p:txBody>
      </p:sp>
      <p:sp>
        <p:nvSpPr>
          <p:cNvPr id="521" name="Google Shape;521;p50"/>
          <p:cNvSpPr txBox="1"/>
          <p:nvPr/>
        </p:nvSpPr>
        <p:spPr>
          <a:xfrm>
            <a:off x="342909" y="788670"/>
            <a:ext cx="8435565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[8] L. Chen, Y. Zhang, and X. Wang, "Design and evaluation of an elderly-friendly mobile health application," IEEE Journal of Biomedical and Health Informatics, vol. 26, no. 6, pp. 2875–2884, Jun. 2022, doi: 10.1109/JBHI.2022.3147652.</a:t>
            </a:r>
            <a:endParaRPr sz="1100"/>
          </a:p>
          <a:p>
            <a:pPr indent="0" lvl="0" marL="0" marR="0" rtl="0" algn="just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[9] S. Park and J. Kim, "Factors affecting smartphone adoption and continued use among older adults," IEEE Access, vol. 10, pp. 21456–21467, 2022, doi: 10.1109/ACCESS.2022.3156784.</a:t>
            </a:r>
            <a:endParaRPr sz="1100"/>
          </a:p>
          <a:p>
            <a:pPr indent="0" lvl="0" marL="0" marR="0" rtl="0" algn="just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[10] M. Al-Mahmud, M. H. Mahmud, and S. M. S. Islam, "Assistive mobile applications for elderly healthcare: A systematic review," IEEE Access, vol. 11, pp. 10945–10960, 2023, doi: 10.1109/ACCESS.2023.3241987.</a:t>
            </a:r>
            <a:endParaRPr sz="1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51"/>
          <p:cNvSpPr/>
          <p:nvPr/>
        </p:nvSpPr>
        <p:spPr>
          <a:xfrm>
            <a:off x="171455" y="102870"/>
            <a:ext cx="1577382" cy="3771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SOMAIYA VIDYAVIHAR UNIVERSITY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K J Somaiya School of Engineering</a:t>
            </a:r>
            <a:endParaRPr sz="1100"/>
          </a:p>
        </p:txBody>
      </p:sp>
      <p:sp>
        <p:nvSpPr>
          <p:cNvPr id="527" name="Google Shape;527;p51"/>
          <p:cNvSpPr/>
          <p:nvPr/>
        </p:nvSpPr>
        <p:spPr>
          <a:xfrm>
            <a:off x="8435565" y="123444"/>
            <a:ext cx="582946" cy="342900"/>
          </a:xfrm>
          <a:prstGeom prst="rect">
            <a:avLst/>
          </a:prstGeom>
          <a:solidFill>
            <a:srgbClr val="163A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Somaiya</a:t>
            </a:r>
            <a:b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sz="1100"/>
          </a:p>
        </p:txBody>
      </p:sp>
      <p:sp>
        <p:nvSpPr>
          <p:cNvPr id="528" name="Google Shape;528;p51"/>
          <p:cNvSpPr/>
          <p:nvPr/>
        </p:nvSpPr>
        <p:spPr>
          <a:xfrm>
            <a:off x="0" y="4697730"/>
            <a:ext cx="411491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51"/>
          <p:cNvSpPr/>
          <p:nvPr/>
        </p:nvSpPr>
        <p:spPr>
          <a:xfrm>
            <a:off x="411491" y="4800600"/>
            <a:ext cx="7818328" cy="34290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51"/>
          <p:cNvSpPr/>
          <p:nvPr/>
        </p:nvSpPr>
        <p:spPr>
          <a:xfrm>
            <a:off x="8229819" y="4697730"/>
            <a:ext cx="914196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51"/>
          <p:cNvSpPr txBox="1"/>
          <p:nvPr/>
        </p:nvSpPr>
        <p:spPr>
          <a:xfrm>
            <a:off x="1851709" y="171450"/>
            <a:ext cx="541796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Existing Applications</a:t>
            </a:r>
            <a:endParaRPr sz="1100"/>
          </a:p>
        </p:txBody>
      </p:sp>
      <p:sp>
        <p:nvSpPr>
          <p:cNvPr id="532" name="Google Shape;532;p51"/>
          <p:cNvSpPr txBox="1"/>
          <p:nvPr/>
        </p:nvSpPr>
        <p:spPr>
          <a:xfrm>
            <a:off x="342909" y="754380"/>
            <a:ext cx="822981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Medisafe – Medication Reminder App</a:t>
            </a:r>
            <a:endParaRPr sz="1100"/>
          </a:p>
        </p:txBody>
      </p:sp>
      <p:sp>
        <p:nvSpPr>
          <p:cNvPr id="533" name="Google Shape;533;p51"/>
          <p:cNvSpPr txBox="1"/>
          <p:nvPr/>
        </p:nvSpPr>
        <p:spPr>
          <a:xfrm>
            <a:off x="342909" y="1097280"/>
            <a:ext cx="82298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Platform: Android / iOS</a:t>
            </a:r>
            <a:endParaRPr sz="1100"/>
          </a:p>
        </p:txBody>
      </p:sp>
      <p:sp>
        <p:nvSpPr>
          <p:cNvPr id="534" name="Google Shape;534;p51"/>
          <p:cNvSpPr txBox="1"/>
          <p:nvPr/>
        </p:nvSpPr>
        <p:spPr>
          <a:xfrm>
            <a:off x="342909" y="1371600"/>
            <a:ext cx="82298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Purpose: Medicine reminders</a:t>
            </a:r>
            <a:endParaRPr sz="1100"/>
          </a:p>
        </p:txBody>
      </p:sp>
      <p:sp>
        <p:nvSpPr>
          <p:cNvPr id="535" name="Google Shape;535;p51"/>
          <p:cNvSpPr txBox="1"/>
          <p:nvPr/>
        </p:nvSpPr>
        <p:spPr>
          <a:xfrm>
            <a:off x="342909" y="1680210"/>
            <a:ext cx="82298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Features:</a:t>
            </a:r>
            <a:endParaRPr sz="1100"/>
          </a:p>
        </p:txBody>
      </p:sp>
      <p:sp>
        <p:nvSpPr>
          <p:cNvPr id="536" name="Google Shape;536;p51"/>
          <p:cNvSpPr txBox="1"/>
          <p:nvPr/>
        </p:nvSpPr>
        <p:spPr>
          <a:xfrm>
            <a:off x="548655" y="1954530"/>
            <a:ext cx="788691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Time-based medicine reminders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Basic adherence tracking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Notification alerts</a:t>
            </a:r>
            <a:endParaRPr sz="1100"/>
          </a:p>
        </p:txBody>
      </p:sp>
      <p:sp>
        <p:nvSpPr>
          <p:cNvPr id="537" name="Google Shape;537;p51"/>
          <p:cNvSpPr txBox="1"/>
          <p:nvPr/>
        </p:nvSpPr>
        <p:spPr>
          <a:xfrm>
            <a:off x="342909" y="2777490"/>
            <a:ext cx="82298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Limitations:</a:t>
            </a:r>
            <a:endParaRPr sz="1100"/>
          </a:p>
        </p:txBody>
      </p:sp>
      <p:sp>
        <p:nvSpPr>
          <p:cNvPr id="538" name="Google Shape;538;p51"/>
          <p:cNvSpPr txBox="1"/>
          <p:nvPr/>
        </p:nvSpPr>
        <p:spPr>
          <a:xfrm>
            <a:off x="548655" y="3051810"/>
            <a:ext cx="788691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Text-based reminders only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No visual medicine identification (pill images)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No caregiver-controlled configuration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No emergency SOS integration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No activity or hydration reminders</a:t>
            </a:r>
            <a:endParaRPr sz="1100"/>
          </a:p>
        </p:txBody>
      </p:sp>
      <p:sp>
        <p:nvSpPr>
          <p:cNvPr id="539" name="Google Shape;539;p51"/>
          <p:cNvSpPr txBox="1"/>
          <p:nvPr/>
        </p:nvSpPr>
        <p:spPr>
          <a:xfrm>
            <a:off x="342909" y="4354830"/>
            <a:ext cx="843556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Inference: Focuses only on medicine reminders, not holistic elderly care.</a:t>
            </a:r>
            <a:endParaRPr sz="1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52"/>
          <p:cNvSpPr/>
          <p:nvPr/>
        </p:nvSpPr>
        <p:spPr>
          <a:xfrm>
            <a:off x="171455" y="102870"/>
            <a:ext cx="1577382" cy="3771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SOMAIYA VIDYAVIHAR UNIVERSITY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K J Somaiya School of Engineering</a:t>
            </a:r>
            <a:endParaRPr sz="1100"/>
          </a:p>
        </p:txBody>
      </p:sp>
      <p:sp>
        <p:nvSpPr>
          <p:cNvPr id="545" name="Google Shape;545;p52"/>
          <p:cNvSpPr/>
          <p:nvPr/>
        </p:nvSpPr>
        <p:spPr>
          <a:xfrm>
            <a:off x="8435565" y="123444"/>
            <a:ext cx="582946" cy="342900"/>
          </a:xfrm>
          <a:prstGeom prst="rect">
            <a:avLst/>
          </a:prstGeom>
          <a:solidFill>
            <a:srgbClr val="163A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Somaiya</a:t>
            </a:r>
            <a:b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sz="1100"/>
          </a:p>
        </p:txBody>
      </p:sp>
      <p:sp>
        <p:nvSpPr>
          <p:cNvPr id="546" name="Google Shape;546;p52"/>
          <p:cNvSpPr/>
          <p:nvPr/>
        </p:nvSpPr>
        <p:spPr>
          <a:xfrm>
            <a:off x="0" y="4697730"/>
            <a:ext cx="411491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52"/>
          <p:cNvSpPr/>
          <p:nvPr/>
        </p:nvSpPr>
        <p:spPr>
          <a:xfrm>
            <a:off x="411491" y="4800600"/>
            <a:ext cx="7818328" cy="34290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52"/>
          <p:cNvSpPr/>
          <p:nvPr/>
        </p:nvSpPr>
        <p:spPr>
          <a:xfrm>
            <a:off x="8229819" y="4697730"/>
            <a:ext cx="914196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52"/>
          <p:cNvSpPr txBox="1"/>
          <p:nvPr/>
        </p:nvSpPr>
        <p:spPr>
          <a:xfrm>
            <a:off x="1851709" y="171450"/>
            <a:ext cx="541796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Existing Applications</a:t>
            </a:r>
            <a:endParaRPr sz="1100"/>
          </a:p>
        </p:txBody>
      </p:sp>
      <p:sp>
        <p:nvSpPr>
          <p:cNvPr id="550" name="Google Shape;550;p52"/>
          <p:cNvSpPr txBox="1"/>
          <p:nvPr/>
        </p:nvSpPr>
        <p:spPr>
          <a:xfrm>
            <a:off x="342909" y="754380"/>
            <a:ext cx="822981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MyTherapy – Pill Reminder &amp; Health Tracker</a:t>
            </a:r>
            <a:endParaRPr sz="1100"/>
          </a:p>
        </p:txBody>
      </p:sp>
      <p:sp>
        <p:nvSpPr>
          <p:cNvPr id="551" name="Google Shape;551;p52"/>
          <p:cNvSpPr txBox="1"/>
          <p:nvPr/>
        </p:nvSpPr>
        <p:spPr>
          <a:xfrm>
            <a:off x="342909" y="1097280"/>
            <a:ext cx="82298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Platform: Android / iOS</a:t>
            </a:r>
            <a:endParaRPr sz="1100"/>
          </a:p>
        </p:txBody>
      </p:sp>
      <p:sp>
        <p:nvSpPr>
          <p:cNvPr id="552" name="Google Shape;552;p52"/>
          <p:cNvSpPr txBox="1"/>
          <p:nvPr/>
        </p:nvSpPr>
        <p:spPr>
          <a:xfrm>
            <a:off x="342909" y="1371600"/>
            <a:ext cx="82298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Purpose: Medication and habit tracking</a:t>
            </a:r>
            <a:endParaRPr sz="1100"/>
          </a:p>
        </p:txBody>
      </p:sp>
      <p:sp>
        <p:nvSpPr>
          <p:cNvPr id="553" name="Google Shape;553;p52"/>
          <p:cNvSpPr txBox="1"/>
          <p:nvPr/>
        </p:nvSpPr>
        <p:spPr>
          <a:xfrm>
            <a:off x="342909" y="1680210"/>
            <a:ext cx="82298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Features:</a:t>
            </a:r>
            <a:endParaRPr sz="1100"/>
          </a:p>
        </p:txBody>
      </p:sp>
      <p:sp>
        <p:nvSpPr>
          <p:cNvPr id="554" name="Google Shape;554;p52"/>
          <p:cNvSpPr txBox="1"/>
          <p:nvPr/>
        </p:nvSpPr>
        <p:spPr>
          <a:xfrm>
            <a:off x="548655" y="1954530"/>
            <a:ext cx="788691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Pill reminders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Basic health tracking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Simple activity reminders</a:t>
            </a:r>
            <a:endParaRPr sz="1100"/>
          </a:p>
        </p:txBody>
      </p:sp>
      <p:sp>
        <p:nvSpPr>
          <p:cNvPr id="555" name="Google Shape;555;p52"/>
          <p:cNvSpPr txBox="1"/>
          <p:nvPr/>
        </p:nvSpPr>
        <p:spPr>
          <a:xfrm>
            <a:off x="342909" y="2777490"/>
            <a:ext cx="82298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Limitations:</a:t>
            </a:r>
            <a:endParaRPr sz="1100"/>
          </a:p>
        </p:txBody>
      </p:sp>
      <p:sp>
        <p:nvSpPr>
          <p:cNvPr id="556" name="Google Shape;556;p52"/>
          <p:cNvSpPr txBox="1"/>
          <p:nvPr/>
        </p:nvSpPr>
        <p:spPr>
          <a:xfrm>
            <a:off x="548655" y="3051810"/>
            <a:ext cx="788691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Complex UI for elderly users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No caregiver–elder role separation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No visual shortcuts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Emergency features are missing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No wheelchair navigation support</a:t>
            </a:r>
            <a:endParaRPr sz="1100"/>
          </a:p>
        </p:txBody>
      </p:sp>
      <p:sp>
        <p:nvSpPr>
          <p:cNvPr id="557" name="Google Shape;557;p52"/>
          <p:cNvSpPr txBox="1"/>
          <p:nvPr/>
        </p:nvSpPr>
        <p:spPr>
          <a:xfrm>
            <a:off x="342909" y="4354830"/>
            <a:ext cx="843556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Inference: Multi-feature app but not accessibility-first or caregiver-driven.</a:t>
            </a:r>
            <a:endParaRPr sz="11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53"/>
          <p:cNvSpPr/>
          <p:nvPr/>
        </p:nvSpPr>
        <p:spPr>
          <a:xfrm>
            <a:off x="171455" y="102870"/>
            <a:ext cx="1577382" cy="3771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SOMAIYA VIDYAVIHAR UNIVERSITY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K J Somaiya School of Engineering</a:t>
            </a:r>
            <a:endParaRPr sz="1100"/>
          </a:p>
        </p:txBody>
      </p:sp>
      <p:sp>
        <p:nvSpPr>
          <p:cNvPr id="563" name="Google Shape;563;p53"/>
          <p:cNvSpPr/>
          <p:nvPr/>
        </p:nvSpPr>
        <p:spPr>
          <a:xfrm>
            <a:off x="8435565" y="123444"/>
            <a:ext cx="582946" cy="342900"/>
          </a:xfrm>
          <a:prstGeom prst="rect">
            <a:avLst/>
          </a:prstGeom>
          <a:solidFill>
            <a:srgbClr val="163A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Somaiya</a:t>
            </a:r>
            <a:b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sz="1100"/>
          </a:p>
        </p:txBody>
      </p:sp>
      <p:sp>
        <p:nvSpPr>
          <p:cNvPr id="564" name="Google Shape;564;p53"/>
          <p:cNvSpPr/>
          <p:nvPr/>
        </p:nvSpPr>
        <p:spPr>
          <a:xfrm>
            <a:off x="0" y="4697730"/>
            <a:ext cx="411491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53"/>
          <p:cNvSpPr/>
          <p:nvPr/>
        </p:nvSpPr>
        <p:spPr>
          <a:xfrm>
            <a:off x="411491" y="4800600"/>
            <a:ext cx="7818328" cy="34290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53"/>
          <p:cNvSpPr/>
          <p:nvPr/>
        </p:nvSpPr>
        <p:spPr>
          <a:xfrm>
            <a:off x="8229819" y="4697730"/>
            <a:ext cx="914196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53"/>
          <p:cNvSpPr txBox="1"/>
          <p:nvPr/>
        </p:nvSpPr>
        <p:spPr>
          <a:xfrm>
            <a:off x="1851709" y="171450"/>
            <a:ext cx="541796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Existing Applications</a:t>
            </a:r>
            <a:endParaRPr sz="1100"/>
          </a:p>
        </p:txBody>
      </p:sp>
      <p:sp>
        <p:nvSpPr>
          <p:cNvPr id="568" name="Google Shape;568;p53"/>
          <p:cNvSpPr txBox="1"/>
          <p:nvPr/>
        </p:nvSpPr>
        <p:spPr>
          <a:xfrm>
            <a:off x="342909" y="754380"/>
            <a:ext cx="822981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Google Assistant</a:t>
            </a:r>
            <a:endParaRPr sz="1100"/>
          </a:p>
        </p:txBody>
      </p:sp>
      <p:sp>
        <p:nvSpPr>
          <p:cNvPr id="569" name="Google Shape;569;p53"/>
          <p:cNvSpPr txBox="1"/>
          <p:nvPr/>
        </p:nvSpPr>
        <p:spPr>
          <a:xfrm>
            <a:off x="342909" y="1097280"/>
            <a:ext cx="82298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Platform: Android</a:t>
            </a:r>
            <a:endParaRPr sz="1100"/>
          </a:p>
        </p:txBody>
      </p:sp>
      <p:sp>
        <p:nvSpPr>
          <p:cNvPr id="570" name="Google Shape;570;p53"/>
          <p:cNvSpPr txBox="1"/>
          <p:nvPr/>
        </p:nvSpPr>
        <p:spPr>
          <a:xfrm>
            <a:off x="342909" y="1371600"/>
            <a:ext cx="82298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Purpose: Voice-based digital assistant</a:t>
            </a:r>
            <a:endParaRPr sz="1100"/>
          </a:p>
        </p:txBody>
      </p:sp>
      <p:sp>
        <p:nvSpPr>
          <p:cNvPr id="571" name="Google Shape;571;p53"/>
          <p:cNvSpPr txBox="1"/>
          <p:nvPr/>
        </p:nvSpPr>
        <p:spPr>
          <a:xfrm>
            <a:off x="342909" y="1680210"/>
            <a:ext cx="82298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Features:</a:t>
            </a:r>
            <a:endParaRPr sz="1100"/>
          </a:p>
        </p:txBody>
      </p:sp>
      <p:sp>
        <p:nvSpPr>
          <p:cNvPr id="572" name="Google Shape;572;p53"/>
          <p:cNvSpPr txBox="1"/>
          <p:nvPr/>
        </p:nvSpPr>
        <p:spPr>
          <a:xfrm>
            <a:off x="548655" y="1954530"/>
            <a:ext cx="788691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Voice commands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Calling and app opening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General reminders</a:t>
            </a:r>
            <a:endParaRPr sz="1100"/>
          </a:p>
        </p:txBody>
      </p:sp>
      <p:sp>
        <p:nvSpPr>
          <p:cNvPr id="573" name="Google Shape;573;p53"/>
          <p:cNvSpPr txBox="1"/>
          <p:nvPr/>
        </p:nvSpPr>
        <p:spPr>
          <a:xfrm>
            <a:off x="342909" y="2777490"/>
            <a:ext cx="82298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Limitations:</a:t>
            </a:r>
            <a:endParaRPr sz="1100"/>
          </a:p>
        </p:txBody>
      </p:sp>
      <p:sp>
        <p:nvSpPr>
          <p:cNvPr id="574" name="Google Shape;574;p53"/>
          <p:cNvSpPr txBox="1"/>
          <p:nvPr/>
        </p:nvSpPr>
        <p:spPr>
          <a:xfrm>
            <a:off x="548655" y="3051810"/>
            <a:ext cx="788691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Not designed specifically for elderly users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Requires learning voice commands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No caregiver monitoring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No medicine visual confirmation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No emergency-focused design</a:t>
            </a:r>
            <a:endParaRPr sz="1100"/>
          </a:p>
        </p:txBody>
      </p:sp>
      <p:sp>
        <p:nvSpPr>
          <p:cNvPr id="575" name="Google Shape;575;p53"/>
          <p:cNvSpPr txBox="1"/>
          <p:nvPr/>
        </p:nvSpPr>
        <p:spPr>
          <a:xfrm>
            <a:off x="342909" y="4354830"/>
            <a:ext cx="843556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Inference: Generic assistant, not an assistive care solution.</a:t>
            </a:r>
            <a:endParaRPr sz="11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54"/>
          <p:cNvSpPr/>
          <p:nvPr/>
        </p:nvSpPr>
        <p:spPr>
          <a:xfrm>
            <a:off x="171455" y="102870"/>
            <a:ext cx="1577382" cy="3771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SOMAIYA VIDYAVIHAR UNIVERSITY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K J Somaiya School of Engineering</a:t>
            </a:r>
            <a:endParaRPr sz="1100"/>
          </a:p>
        </p:txBody>
      </p:sp>
      <p:sp>
        <p:nvSpPr>
          <p:cNvPr id="581" name="Google Shape;581;p54"/>
          <p:cNvSpPr/>
          <p:nvPr/>
        </p:nvSpPr>
        <p:spPr>
          <a:xfrm>
            <a:off x="8435565" y="123444"/>
            <a:ext cx="582946" cy="342900"/>
          </a:xfrm>
          <a:prstGeom prst="rect">
            <a:avLst/>
          </a:prstGeom>
          <a:solidFill>
            <a:srgbClr val="163A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Somaiya</a:t>
            </a:r>
            <a:b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sz="1100"/>
          </a:p>
        </p:txBody>
      </p:sp>
      <p:sp>
        <p:nvSpPr>
          <p:cNvPr id="582" name="Google Shape;582;p54"/>
          <p:cNvSpPr/>
          <p:nvPr/>
        </p:nvSpPr>
        <p:spPr>
          <a:xfrm>
            <a:off x="0" y="4697730"/>
            <a:ext cx="411491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54"/>
          <p:cNvSpPr/>
          <p:nvPr/>
        </p:nvSpPr>
        <p:spPr>
          <a:xfrm>
            <a:off x="411491" y="4800600"/>
            <a:ext cx="7818328" cy="34290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54"/>
          <p:cNvSpPr/>
          <p:nvPr/>
        </p:nvSpPr>
        <p:spPr>
          <a:xfrm>
            <a:off x="8229819" y="4697730"/>
            <a:ext cx="914196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54"/>
          <p:cNvSpPr txBox="1"/>
          <p:nvPr/>
        </p:nvSpPr>
        <p:spPr>
          <a:xfrm>
            <a:off x="1851709" y="171450"/>
            <a:ext cx="541796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Existing Applications</a:t>
            </a:r>
            <a:endParaRPr sz="1100"/>
          </a:p>
        </p:txBody>
      </p:sp>
      <p:sp>
        <p:nvSpPr>
          <p:cNvPr id="586" name="Google Shape;586;p54"/>
          <p:cNvSpPr txBox="1"/>
          <p:nvPr/>
        </p:nvSpPr>
        <p:spPr>
          <a:xfrm>
            <a:off x="342909" y="754380"/>
            <a:ext cx="822981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Red Panic Button / SOS Emergency Apps</a:t>
            </a:r>
            <a:endParaRPr sz="1100"/>
          </a:p>
        </p:txBody>
      </p:sp>
      <p:sp>
        <p:nvSpPr>
          <p:cNvPr id="587" name="Google Shape;587;p54"/>
          <p:cNvSpPr txBox="1"/>
          <p:nvPr/>
        </p:nvSpPr>
        <p:spPr>
          <a:xfrm>
            <a:off x="342909" y="1097280"/>
            <a:ext cx="82298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Platform: Android</a:t>
            </a:r>
            <a:endParaRPr sz="1100"/>
          </a:p>
        </p:txBody>
      </p:sp>
      <p:sp>
        <p:nvSpPr>
          <p:cNvPr id="588" name="Google Shape;588;p54"/>
          <p:cNvSpPr txBox="1"/>
          <p:nvPr/>
        </p:nvSpPr>
        <p:spPr>
          <a:xfrm>
            <a:off x="342909" y="1371600"/>
            <a:ext cx="82298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Purpose: Emergency support</a:t>
            </a:r>
            <a:endParaRPr sz="1100"/>
          </a:p>
        </p:txBody>
      </p:sp>
      <p:sp>
        <p:nvSpPr>
          <p:cNvPr id="589" name="Google Shape;589;p54"/>
          <p:cNvSpPr txBox="1"/>
          <p:nvPr/>
        </p:nvSpPr>
        <p:spPr>
          <a:xfrm>
            <a:off x="342909" y="1680210"/>
            <a:ext cx="82298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Features:</a:t>
            </a:r>
            <a:endParaRPr sz="1100"/>
          </a:p>
        </p:txBody>
      </p:sp>
      <p:sp>
        <p:nvSpPr>
          <p:cNvPr id="590" name="Google Shape;590;p54"/>
          <p:cNvSpPr txBox="1"/>
          <p:nvPr/>
        </p:nvSpPr>
        <p:spPr>
          <a:xfrm>
            <a:off x="548655" y="1954530"/>
            <a:ext cx="788691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One-touch SOS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Emergency calling and SMS</a:t>
            </a:r>
            <a:endParaRPr sz="1100"/>
          </a:p>
        </p:txBody>
      </p:sp>
      <p:sp>
        <p:nvSpPr>
          <p:cNvPr id="591" name="Google Shape;591;p54"/>
          <p:cNvSpPr txBox="1"/>
          <p:nvPr/>
        </p:nvSpPr>
        <p:spPr>
          <a:xfrm>
            <a:off x="342909" y="2537459"/>
            <a:ext cx="82298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Limitations:</a:t>
            </a:r>
            <a:endParaRPr sz="1100"/>
          </a:p>
        </p:txBody>
      </p:sp>
      <p:sp>
        <p:nvSpPr>
          <p:cNvPr id="592" name="Google Shape;592;p54"/>
          <p:cNvSpPr txBox="1"/>
          <p:nvPr/>
        </p:nvSpPr>
        <p:spPr>
          <a:xfrm>
            <a:off x="548655" y="2811779"/>
            <a:ext cx="788691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Standalone emergency functionality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No routine tracking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No medicine or health reminders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No caregiver dashboard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No accessibility customization</a:t>
            </a:r>
            <a:endParaRPr sz="1100"/>
          </a:p>
        </p:txBody>
      </p:sp>
      <p:sp>
        <p:nvSpPr>
          <p:cNvPr id="593" name="Google Shape;593;p54"/>
          <p:cNvSpPr txBox="1"/>
          <p:nvPr/>
        </p:nvSpPr>
        <p:spPr>
          <a:xfrm>
            <a:off x="342909" y="4114800"/>
            <a:ext cx="843556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Inference: Effective for emergencies but isolated from daily care routines.</a:t>
            </a:r>
            <a:endParaRPr sz="11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55"/>
          <p:cNvSpPr/>
          <p:nvPr/>
        </p:nvSpPr>
        <p:spPr>
          <a:xfrm>
            <a:off x="171455" y="102870"/>
            <a:ext cx="1577382" cy="3771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SOMAIYA VIDYAVIHAR UNIVERSITY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K J Somaiya School of Engineering</a:t>
            </a:r>
            <a:endParaRPr sz="1100"/>
          </a:p>
        </p:txBody>
      </p:sp>
      <p:sp>
        <p:nvSpPr>
          <p:cNvPr id="599" name="Google Shape;599;p55"/>
          <p:cNvSpPr/>
          <p:nvPr/>
        </p:nvSpPr>
        <p:spPr>
          <a:xfrm>
            <a:off x="8435565" y="123444"/>
            <a:ext cx="582946" cy="342900"/>
          </a:xfrm>
          <a:prstGeom prst="rect">
            <a:avLst/>
          </a:prstGeom>
          <a:solidFill>
            <a:srgbClr val="163A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Somaiya</a:t>
            </a:r>
            <a:b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sz="1100"/>
          </a:p>
        </p:txBody>
      </p:sp>
      <p:sp>
        <p:nvSpPr>
          <p:cNvPr id="600" name="Google Shape;600;p55"/>
          <p:cNvSpPr/>
          <p:nvPr/>
        </p:nvSpPr>
        <p:spPr>
          <a:xfrm>
            <a:off x="0" y="4697730"/>
            <a:ext cx="411491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55"/>
          <p:cNvSpPr/>
          <p:nvPr/>
        </p:nvSpPr>
        <p:spPr>
          <a:xfrm>
            <a:off x="411491" y="4800600"/>
            <a:ext cx="7818328" cy="34290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55"/>
          <p:cNvSpPr/>
          <p:nvPr/>
        </p:nvSpPr>
        <p:spPr>
          <a:xfrm>
            <a:off x="8229819" y="4697730"/>
            <a:ext cx="914196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55"/>
          <p:cNvSpPr txBox="1"/>
          <p:nvPr/>
        </p:nvSpPr>
        <p:spPr>
          <a:xfrm>
            <a:off x="1851709" y="171450"/>
            <a:ext cx="541796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Existing Applications</a:t>
            </a:r>
            <a:endParaRPr sz="1100"/>
          </a:p>
        </p:txBody>
      </p:sp>
      <p:sp>
        <p:nvSpPr>
          <p:cNvPr id="604" name="Google Shape;604;p55"/>
          <p:cNvSpPr txBox="1"/>
          <p:nvPr/>
        </p:nvSpPr>
        <p:spPr>
          <a:xfrm>
            <a:off x="342909" y="754380"/>
            <a:ext cx="822981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Google Maps</a:t>
            </a:r>
            <a:endParaRPr sz="1100"/>
          </a:p>
        </p:txBody>
      </p:sp>
      <p:sp>
        <p:nvSpPr>
          <p:cNvPr id="605" name="Google Shape;605;p55"/>
          <p:cNvSpPr txBox="1"/>
          <p:nvPr/>
        </p:nvSpPr>
        <p:spPr>
          <a:xfrm>
            <a:off x="342909" y="1097280"/>
            <a:ext cx="82298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Platform: Android</a:t>
            </a:r>
            <a:endParaRPr sz="1100"/>
          </a:p>
        </p:txBody>
      </p:sp>
      <p:sp>
        <p:nvSpPr>
          <p:cNvPr id="606" name="Google Shape;606;p55"/>
          <p:cNvSpPr txBox="1"/>
          <p:nvPr/>
        </p:nvSpPr>
        <p:spPr>
          <a:xfrm>
            <a:off x="342909" y="1371600"/>
            <a:ext cx="82298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Purpose: Navigation</a:t>
            </a:r>
            <a:endParaRPr sz="1100"/>
          </a:p>
        </p:txBody>
      </p:sp>
      <p:sp>
        <p:nvSpPr>
          <p:cNvPr id="607" name="Google Shape;607;p55"/>
          <p:cNvSpPr txBox="1"/>
          <p:nvPr/>
        </p:nvSpPr>
        <p:spPr>
          <a:xfrm>
            <a:off x="342909" y="1680210"/>
            <a:ext cx="82298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Features:</a:t>
            </a:r>
            <a:endParaRPr sz="1100"/>
          </a:p>
        </p:txBody>
      </p:sp>
      <p:sp>
        <p:nvSpPr>
          <p:cNvPr id="608" name="Google Shape;608;p55"/>
          <p:cNvSpPr txBox="1"/>
          <p:nvPr/>
        </p:nvSpPr>
        <p:spPr>
          <a:xfrm>
            <a:off x="548655" y="1954530"/>
            <a:ext cx="788691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Location-based navigation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Route planning</a:t>
            </a:r>
            <a:endParaRPr sz="1100"/>
          </a:p>
        </p:txBody>
      </p:sp>
      <p:sp>
        <p:nvSpPr>
          <p:cNvPr id="609" name="Google Shape;609;p55"/>
          <p:cNvSpPr txBox="1"/>
          <p:nvPr/>
        </p:nvSpPr>
        <p:spPr>
          <a:xfrm>
            <a:off x="342909" y="2537459"/>
            <a:ext cx="82298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Limitations:</a:t>
            </a:r>
            <a:endParaRPr sz="1100"/>
          </a:p>
        </p:txBody>
      </p:sp>
      <p:sp>
        <p:nvSpPr>
          <p:cNvPr id="610" name="Google Shape;610;p55"/>
          <p:cNvSpPr txBox="1"/>
          <p:nvPr/>
        </p:nvSpPr>
        <p:spPr>
          <a:xfrm>
            <a:off x="548655" y="2811779"/>
            <a:ext cx="788691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Does not reliably indicate wheelchair accessibility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No accessibility tagging by caregivers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Not integrated with elderly assistive workflows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Requires multiple steps and user interaction</a:t>
            </a:r>
            <a:endParaRPr sz="1100"/>
          </a:p>
        </p:txBody>
      </p:sp>
      <p:sp>
        <p:nvSpPr>
          <p:cNvPr id="611" name="Google Shape;611;p55"/>
          <p:cNvSpPr txBox="1"/>
          <p:nvPr/>
        </p:nvSpPr>
        <p:spPr>
          <a:xfrm>
            <a:off x="342909" y="3874770"/>
            <a:ext cx="843556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Inference: General navigation app, not designed for disabled accessibility support.</a:t>
            </a:r>
            <a:endParaRPr sz="11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56"/>
          <p:cNvSpPr/>
          <p:nvPr/>
        </p:nvSpPr>
        <p:spPr>
          <a:xfrm>
            <a:off x="171455" y="102870"/>
            <a:ext cx="1577382" cy="3771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SOMAIYA VIDYAVIHAR UNIVERSITY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K J Somaiya School of Engineering</a:t>
            </a:r>
            <a:endParaRPr sz="1100"/>
          </a:p>
        </p:txBody>
      </p:sp>
      <p:sp>
        <p:nvSpPr>
          <p:cNvPr id="617" name="Google Shape;617;p56"/>
          <p:cNvSpPr/>
          <p:nvPr/>
        </p:nvSpPr>
        <p:spPr>
          <a:xfrm>
            <a:off x="8435565" y="123444"/>
            <a:ext cx="582946" cy="342900"/>
          </a:xfrm>
          <a:prstGeom prst="rect">
            <a:avLst/>
          </a:prstGeom>
          <a:solidFill>
            <a:srgbClr val="163A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Somaiya</a:t>
            </a:r>
            <a:b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sz="1100"/>
          </a:p>
        </p:txBody>
      </p:sp>
      <p:sp>
        <p:nvSpPr>
          <p:cNvPr id="618" name="Google Shape;618;p56"/>
          <p:cNvSpPr/>
          <p:nvPr/>
        </p:nvSpPr>
        <p:spPr>
          <a:xfrm>
            <a:off x="0" y="4697730"/>
            <a:ext cx="411491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56"/>
          <p:cNvSpPr/>
          <p:nvPr/>
        </p:nvSpPr>
        <p:spPr>
          <a:xfrm>
            <a:off x="411491" y="4800600"/>
            <a:ext cx="7818328" cy="34290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56"/>
          <p:cNvSpPr/>
          <p:nvPr/>
        </p:nvSpPr>
        <p:spPr>
          <a:xfrm>
            <a:off x="8229819" y="4697730"/>
            <a:ext cx="914196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56"/>
          <p:cNvSpPr txBox="1"/>
          <p:nvPr/>
        </p:nvSpPr>
        <p:spPr>
          <a:xfrm>
            <a:off x="0" y="1920240"/>
            <a:ext cx="9144015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6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Thank You!</a:t>
            </a:r>
            <a:endParaRPr sz="11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93" name="Google Shape;493;p48"/>
          <p:cNvSpPr/>
          <p:nvPr/>
        </p:nvSpPr>
        <p:spPr>
          <a:xfrm>
            <a:off x="171455" y="102870"/>
            <a:ext cx="1577382" cy="3771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SOMAIYA VIDYAVIHAR UNIVERSITY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K J Somaiya School of Engineering</a:t>
            </a:r>
            <a:endParaRPr sz="1100"/>
          </a:p>
        </p:txBody>
      </p:sp>
      <p:sp>
        <p:nvSpPr>
          <p:cNvPr id="494" name="Google Shape;494;p48"/>
          <p:cNvSpPr/>
          <p:nvPr/>
        </p:nvSpPr>
        <p:spPr>
          <a:xfrm>
            <a:off x="8435565" y="123444"/>
            <a:ext cx="582946" cy="342900"/>
          </a:xfrm>
          <a:prstGeom prst="rect">
            <a:avLst/>
          </a:prstGeom>
          <a:solidFill>
            <a:srgbClr val="163A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Somaiya</a:t>
            </a:r>
            <a:b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sz="1100"/>
          </a:p>
        </p:txBody>
      </p:sp>
      <p:sp>
        <p:nvSpPr>
          <p:cNvPr id="495" name="Google Shape;495;p48"/>
          <p:cNvSpPr/>
          <p:nvPr/>
        </p:nvSpPr>
        <p:spPr>
          <a:xfrm>
            <a:off x="0" y="4697730"/>
            <a:ext cx="411491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48"/>
          <p:cNvSpPr/>
          <p:nvPr/>
        </p:nvSpPr>
        <p:spPr>
          <a:xfrm>
            <a:off x="411491" y="4800600"/>
            <a:ext cx="7818328" cy="34290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48"/>
          <p:cNvSpPr/>
          <p:nvPr/>
        </p:nvSpPr>
        <p:spPr>
          <a:xfrm>
            <a:off x="8229819" y="4697730"/>
            <a:ext cx="914196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48"/>
          <p:cNvSpPr txBox="1"/>
          <p:nvPr/>
        </p:nvSpPr>
        <p:spPr>
          <a:xfrm>
            <a:off x="1851709" y="171450"/>
            <a:ext cx="541796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Technologies Used</a:t>
            </a:r>
            <a:endParaRPr sz="1100"/>
          </a:p>
        </p:txBody>
      </p:sp>
      <p:sp>
        <p:nvSpPr>
          <p:cNvPr id="499" name="Google Shape;499;p48"/>
          <p:cNvSpPr txBox="1"/>
          <p:nvPr/>
        </p:nvSpPr>
        <p:spPr>
          <a:xfrm>
            <a:off x="480073" y="891540"/>
            <a:ext cx="8229819" cy="37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Language &amp; UI: Kotlin, Jetpack Compose, Material 3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Architecture: MVVM, Hilt dependency injection, Navigation Compose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Backend: Supabase (PostgreSQL) with row-level security — 17 tables, 33 policies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Authentication: Firebase Authentication, Google Sign-In via Credential Manager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Notifications: Firebase Cloud Messaging (data-only payloads)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Scheduling: AlarmManager (exact alarms), WorkManager, Boot receiver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Networking: Retrofit, OkHttp, kotlinx.serialization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Testing: JUnit, Robolectric, MockWebServer — 142 automated tests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Build: Gradle 8.11, Android Gradle Plugin 8.9, target API 36, minimum API 24</a:t>
            </a:r>
            <a:endParaRPr sz="11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93" name="Google Shape;493;p48"/>
          <p:cNvSpPr/>
          <p:nvPr/>
        </p:nvSpPr>
        <p:spPr>
          <a:xfrm>
            <a:off x="171455" y="102870"/>
            <a:ext cx="1577382" cy="3771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SOMAIYA VIDYAVIHAR UNIVERSITY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K J Somaiya School of Engineering</a:t>
            </a:r>
            <a:endParaRPr sz="1100"/>
          </a:p>
        </p:txBody>
      </p:sp>
      <p:sp>
        <p:nvSpPr>
          <p:cNvPr id="494" name="Google Shape;494;p48"/>
          <p:cNvSpPr/>
          <p:nvPr/>
        </p:nvSpPr>
        <p:spPr>
          <a:xfrm>
            <a:off x="8435565" y="123444"/>
            <a:ext cx="582946" cy="342900"/>
          </a:xfrm>
          <a:prstGeom prst="rect">
            <a:avLst/>
          </a:prstGeom>
          <a:solidFill>
            <a:srgbClr val="163A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Somaiya</a:t>
            </a:r>
            <a:b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sz="1100"/>
          </a:p>
        </p:txBody>
      </p:sp>
      <p:sp>
        <p:nvSpPr>
          <p:cNvPr id="495" name="Google Shape;495;p48"/>
          <p:cNvSpPr/>
          <p:nvPr/>
        </p:nvSpPr>
        <p:spPr>
          <a:xfrm>
            <a:off x="0" y="4697730"/>
            <a:ext cx="411491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48"/>
          <p:cNvSpPr/>
          <p:nvPr/>
        </p:nvSpPr>
        <p:spPr>
          <a:xfrm>
            <a:off x="411491" y="4800600"/>
            <a:ext cx="7818328" cy="34290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48"/>
          <p:cNvSpPr/>
          <p:nvPr/>
        </p:nvSpPr>
        <p:spPr>
          <a:xfrm>
            <a:off x="8229819" y="4697730"/>
            <a:ext cx="914196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48"/>
          <p:cNvSpPr txBox="1"/>
          <p:nvPr/>
        </p:nvSpPr>
        <p:spPr>
          <a:xfrm>
            <a:off x="1851709" y="171450"/>
            <a:ext cx="541796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Status of Work Completed</a:t>
            </a:r>
            <a:endParaRPr sz="1100"/>
          </a:p>
        </p:txBody>
      </p:sp>
      <p:sp>
        <p:nvSpPr>
          <p:cNvPr id="499" name="Google Shape;499;p48"/>
          <p:cNvSpPr txBox="1"/>
          <p:nvPr/>
        </p:nvSpPr>
        <p:spPr>
          <a:xfrm>
            <a:off x="480073" y="891540"/>
            <a:ext cx="8229819" cy="37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Replaced phone-OTP login with Google Sign-In for both user roles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Added single-use invite codes to bind an elder's device to a care profile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Completed guardian modules: medicines, schedules, reminders, vitals, adherence,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   contacts, family access, SOS monitoring and media shortcuts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Completed elder modules: home, medicines, contacts, vitals, videos and settings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   with four languages, three text sizes and a high-contrast mode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Backend deployed: 17 tables, 33 row-level security policies, scheduled missed-dose scan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Reliability work: three-path reminder arming, offline adherence queue, fail-honest SOS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142 automated tests written; Android Lint clean at release configuration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Play-readiness: target API 36, signed release build, restricted permissions removed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IEEE-format research paper drafted (7 pages, 21 references)</a:t>
            </a:r>
            <a:endParaRPr sz="11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93" name="Google Shape;493;p48"/>
          <p:cNvSpPr/>
          <p:nvPr/>
        </p:nvSpPr>
        <p:spPr>
          <a:xfrm>
            <a:off x="171455" y="102870"/>
            <a:ext cx="1577382" cy="3771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SOMAIYA VIDYAVIHAR UNIVERSITY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K J Somaiya School of Engineering</a:t>
            </a:r>
            <a:endParaRPr sz="1100"/>
          </a:p>
        </p:txBody>
      </p:sp>
      <p:sp>
        <p:nvSpPr>
          <p:cNvPr id="494" name="Google Shape;494;p48"/>
          <p:cNvSpPr/>
          <p:nvPr/>
        </p:nvSpPr>
        <p:spPr>
          <a:xfrm>
            <a:off x="8435565" y="123444"/>
            <a:ext cx="582946" cy="342900"/>
          </a:xfrm>
          <a:prstGeom prst="rect">
            <a:avLst/>
          </a:prstGeom>
          <a:solidFill>
            <a:srgbClr val="163A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Somaiya</a:t>
            </a:r>
            <a:b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sz="1100"/>
          </a:p>
        </p:txBody>
      </p:sp>
      <p:sp>
        <p:nvSpPr>
          <p:cNvPr id="495" name="Google Shape;495;p48"/>
          <p:cNvSpPr/>
          <p:nvPr/>
        </p:nvSpPr>
        <p:spPr>
          <a:xfrm>
            <a:off x="0" y="4697730"/>
            <a:ext cx="411491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48"/>
          <p:cNvSpPr/>
          <p:nvPr/>
        </p:nvSpPr>
        <p:spPr>
          <a:xfrm>
            <a:off x="411491" y="4800600"/>
            <a:ext cx="7818328" cy="34290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48"/>
          <p:cNvSpPr/>
          <p:nvPr/>
        </p:nvSpPr>
        <p:spPr>
          <a:xfrm>
            <a:off x="8229819" y="4697730"/>
            <a:ext cx="914196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48"/>
          <p:cNvSpPr txBox="1"/>
          <p:nvPr/>
        </p:nvSpPr>
        <p:spPr>
          <a:xfrm>
            <a:off x="1851709" y="171450"/>
            <a:ext cx="541796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Implementation Results and Discussion</a:t>
            </a:r>
            <a:endParaRPr sz="1100"/>
          </a:p>
        </p:txBody>
      </p:sp>
      <p:sp>
        <p:nvSpPr>
          <p:cNvPr id="499" name="Google Shape;499;p48"/>
          <p:cNvSpPr txBox="1"/>
          <p:nvPr/>
        </p:nvSpPr>
        <p:spPr>
          <a:xfrm>
            <a:off x="480073" y="891540"/>
            <a:ext cx="8229819" cy="37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Functional application running on physical Android devices; medicine reminders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   verified firing at the scheduled time on device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Elder interface measured directly from source code: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   – Median declared text size 20 sp, against 13 sp on the guardian interface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   – Every primary control 64 dp or larger, against the 48 dp platform minimum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   – Emergency control 130 dp, roughly 2.7x the platform minimum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Interaction cost: raising an alarm takes 1 tap; confirming a dose from its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   notification takes 3 taps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Structured code audit found 13 defects, of which 8 (62%) would have failed with no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   message to the user at all; all were corrected and covered by regression tests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Discussion: silent failure — not usability — proved the dominant risk. The app now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   never reports an outcome it has not actually observed.</a:t>
            </a:r>
            <a:endParaRPr sz="11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93" name="Google Shape;493;p48"/>
          <p:cNvSpPr/>
          <p:nvPr/>
        </p:nvSpPr>
        <p:spPr>
          <a:xfrm>
            <a:off x="171455" y="102870"/>
            <a:ext cx="1577382" cy="3771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SOMAIYA VIDYAVIHAR UNIVERSITY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K J Somaiya School of Engineering</a:t>
            </a:r>
            <a:endParaRPr sz="1100"/>
          </a:p>
        </p:txBody>
      </p:sp>
      <p:sp>
        <p:nvSpPr>
          <p:cNvPr id="494" name="Google Shape;494;p48"/>
          <p:cNvSpPr/>
          <p:nvPr/>
        </p:nvSpPr>
        <p:spPr>
          <a:xfrm>
            <a:off x="8435565" y="123444"/>
            <a:ext cx="582946" cy="342900"/>
          </a:xfrm>
          <a:prstGeom prst="rect">
            <a:avLst/>
          </a:prstGeom>
          <a:solidFill>
            <a:srgbClr val="163A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Somaiya</a:t>
            </a:r>
            <a:b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sz="1100"/>
          </a:p>
        </p:txBody>
      </p:sp>
      <p:sp>
        <p:nvSpPr>
          <p:cNvPr id="495" name="Google Shape;495;p48"/>
          <p:cNvSpPr/>
          <p:nvPr/>
        </p:nvSpPr>
        <p:spPr>
          <a:xfrm>
            <a:off x="0" y="4697730"/>
            <a:ext cx="411491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48"/>
          <p:cNvSpPr/>
          <p:nvPr/>
        </p:nvSpPr>
        <p:spPr>
          <a:xfrm>
            <a:off x="411491" y="4800600"/>
            <a:ext cx="7818328" cy="34290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48"/>
          <p:cNvSpPr/>
          <p:nvPr/>
        </p:nvSpPr>
        <p:spPr>
          <a:xfrm>
            <a:off x="8229819" y="4697730"/>
            <a:ext cx="914196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48"/>
          <p:cNvSpPr txBox="1"/>
          <p:nvPr/>
        </p:nvSpPr>
        <p:spPr>
          <a:xfrm>
            <a:off x="1851709" y="171450"/>
            <a:ext cx="541796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Software Test Cases</a:t>
            </a:r>
            <a:endParaRPr sz="1100"/>
          </a:p>
        </p:txBody>
      </p:sp>
      <p:sp>
        <p:nvSpPr>
          <p:cNvPr id="499" name="Google Shape;499;p48"/>
          <p:cNvSpPr txBox="1"/>
          <p:nvPr/>
        </p:nvSpPr>
        <p:spPr>
          <a:xfrm>
            <a:off x="480073" y="891540"/>
            <a:ext cx="8229819" cy="37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142 automated tests run on the JVM with a shadowed Android runtime (no emulator needed).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TC-01  Medicine reminder fires at the scheduled time — Pass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TC-02  A dose answered early cancels its pending alarm (no double-dose prompt) — Pass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TC-03  Armed alarms are restored after a device restart — Pass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TC-04  Adherence recorded while offline is queued and synced later — Pass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TC-05  SOS reaches the guardian; if it fails, the screen says so and offers a fallback — Pass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TC-06  Invite code is single-use, expires in 7 days, cannot rebind a claimed profile — Pass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TC-07  Elder interface renders correctly in English, Hindi, Marathi and Gujarati — Pass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TC-08  Guardian save operations show a readable error when the network fails — Pass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TC-09  General reminders (water, walk) are armed on the elder's device — Pass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TC-10  Emergency alerts are not silenced by the general notification setting — Pass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Android Lint: 0 errors at release configuration.</a:t>
            </a:r>
            <a:endParaRPr sz="11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93" name="Google Shape;493;p48"/>
          <p:cNvSpPr/>
          <p:nvPr/>
        </p:nvSpPr>
        <p:spPr>
          <a:xfrm>
            <a:off x="171455" y="102870"/>
            <a:ext cx="1577382" cy="3771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SOMAIYA VIDYAVIHAR UNIVERSITY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K J Somaiya School of Engineering</a:t>
            </a:r>
            <a:endParaRPr sz="1100"/>
          </a:p>
        </p:txBody>
      </p:sp>
      <p:sp>
        <p:nvSpPr>
          <p:cNvPr id="494" name="Google Shape;494;p48"/>
          <p:cNvSpPr/>
          <p:nvPr/>
        </p:nvSpPr>
        <p:spPr>
          <a:xfrm>
            <a:off x="8435565" y="123444"/>
            <a:ext cx="582946" cy="342900"/>
          </a:xfrm>
          <a:prstGeom prst="rect">
            <a:avLst/>
          </a:prstGeom>
          <a:solidFill>
            <a:srgbClr val="163A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Somaiya</a:t>
            </a:r>
            <a:b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sz="1100"/>
          </a:p>
        </p:txBody>
      </p:sp>
      <p:sp>
        <p:nvSpPr>
          <p:cNvPr id="495" name="Google Shape;495;p48"/>
          <p:cNvSpPr/>
          <p:nvPr/>
        </p:nvSpPr>
        <p:spPr>
          <a:xfrm>
            <a:off x="0" y="4697730"/>
            <a:ext cx="411491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48"/>
          <p:cNvSpPr/>
          <p:nvPr/>
        </p:nvSpPr>
        <p:spPr>
          <a:xfrm>
            <a:off x="411491" y="4800600"/>
            <a:ext cx="7818328" cy="34290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48"/>
          <p:cNvSpPr/>
          <p:nvPr/>
        </p:nvSpPr>
        <p:spPr>
          <a:xfrm>
            <a:off x="8229819" y="4697730"/>
            <a:ext cx="914196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48"/>
          <p:cNvSpPr txBox="1"/>
          <p:nvPr/>
        </p:nvSpPr>
        <p:spPr>
          <a:xfrm>
            <a:off x="1851709" y="171450"/>
            <a:ext cx="541796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Status of Research Paper</a:t>
            </a:r>
            <a:endParaRPr sz="1100"/>
          </a:p>
        </p:txBody>
      </p:sp>
      <p:sp>
        <p:nvSpPr>
          <p:cNvPr id="499" name="Google Shape;499;p48"/>
          <p:cNvSpPr txBox="1"/>
          <p:nvPr/>
        </p:nvSpPr>
        <p:spPr>
          <a:xfrm>
            <a:off x="480073" y="891540"/>
            <a:ext cx="8229819" cy="37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Title: CareCompanion: Assistive Companion Mobile Application for Elderly and Disabled Users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Format: IEEE two-column, 7 pages, 6 figures, 1 table, 21 references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Contributions: asymmetric dual-surface design; out-of-band device binding;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   fail-honest emergency alerting; an empirical defect taxonomy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Figures 3, 4 and 6 are generated directly from the application source, so the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   reported measurements cannot drift from the implementation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All references verified against Crossref for authors, venue and identifiers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Status: draft complete and internally reviewed — not yet submitted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Pending: target venue selection and a user study to support the evaluation section</a:t>
            </a:r>
            <a:endParaRPr sz="11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93" name="Google Shape;493;p48"/>
          <p:cNvSpPr/>
          <p:nvPr/>
        </p:nvSpPr>
        <p:spPr>
          <a:xfrm>
            <a:off x="171455" y="102870"/>
            <a:ext cx="1577382" cy="3771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SOMAIYA VIDYAVIHAR UNIVERSITY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K J Somaiya School of Engineering</a:t>
            </a:r>
            <a:endParaRPr sz="1100"/>
          </a:p>
        </p:txBody>
      </p:sp>
      <p:sp>
        <p:nvSpPr>
          <p:cNvPr id="494" name="Google Shape;494;p48"/>
          <p:cNvSpPr/>
          <p:nvPr/>
        </p:nvSpPr>
        <p:spPr>
          <a:xfrm>
            <a:off x="8435565" y="123444"/>
            <a:ext cx="582946" cy="342900"/>
          </a:xfrm>
          <a:prstGeom prst="rect">
            <a:avLst/>
          </a:prstGeom>
          <a:solidFill>
            <a:srgbClr val="163A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Somaiya</a:t>
            </a:r>
            <a:b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sz="1100"/>
          </a:p>
        </p:txBody>
      </p:sp>
      <p:sp>
        <p:nvSpPr>
          <p:cNvPr id="495" name="Google Shape;495;p48"/>
          <p:cNvSpPr/>
          <p:nvPr/>
        </p:nvSpPr>
        <p:spPr>
          <a:xfrm>
            <a:off x="0" y="4697730"/>
            <a:ext cx="411491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48"/>
          <p:cNvSpPr/>
          <p:nvPr/>
        </p:nvSpPr>
        <p:spPr>
          <a:xfrm>
            <a:off x="411491" y="4800600"/>
            <a:ext cx="7818328" cy="34290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48"/>
          <p:cNvSpPr/>
          <p:nvPr/>
        </p:nvSpPr>
        <p:spPr>
          <a:xfrm>
            <a:off x="8229819" y="4697730"/>
            <a:ext cx="914196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48"/>
          <p:cNvSpPr txBox="1"/>
          <p:nvPr/>
        </p:nvSpPr>
        <p:spPr>
          <a:xfrm>
            <a:off x="1851709" y="171450"/>
            <a:ext cx="541796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Future Scope</a:t>
            </a:r>
            <a:endParaRPr sz="1100"/>
          </a:p>
        </p:txBody>
      </p:sp>
      <p:sp>
        <p:nvSpPr>
          <p:cNvPr id="499" name="Google Shape;499;p48"/>
          <p:cNvSpPr txBox="1"/>
          <p:nvPr/>
        </p:nvSpPr>
        <p:spPr>
          <a:xfrm>
            <a:off x="480073" y="891540"/>
            <a:ext cx="8229819" cy="37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Medicine stock database — record how much of each medicine is in hand. Stock is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   reduced automatically as the elder marks doses taken, and the guardian is notified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   when a medicine is running low so it can be restocked before it runs out.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iOS application — extend CareCompanion to iPhone so elders on iOS are covered.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Publish on the Google Play Store for public distribution and real-world use.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Conduct a user study with elderly participants and their caregivers.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Voice input and vernacular speech support for users who find typing difficult.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Integration with pharmacies or clinics for prescription and refill data.</a:t>
            </a:r>
            <a:endParaRPr sz="11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93" name="Google Shape;493;p48"/>
          <p:cNvSpPr/>
          <p:nvPr/>
        </p:nvSpPr>
        <p:spPr>
          <a:xfrm>
            <a:off x="171455" y="102870"/>
            <a:ext cx="1577382" cy="3771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SOMAIYA VIDYAVIHAR UNIVERSITY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K J Somaiya School of Engineering</a:t>
            </a:r>
            <a:endParaRPr sz="1100"/>
          </a:p>
        </p:txBody>
      </p:sp>
      <p:sp>
        <p:nvSpPr>
          <p:cNvPr id="494" name="Google Shape;494;p48"/>
          <p:cNvSpPr/>
          <p:nvPr/>
        </p:nvSpPr>
        <p:spPr>
          <a:xfrm>
            <a:off x="8435565" y="123444"/>
            <a:ext cx="582946" cy="342900"/>
          </a:xfrm>
          <a:prstGeom prst="rect">
            <a:avLst/>
          </a:prstGeom>
          <a:solidFill>
            <a:srgbClr val="163A7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Somaiya</a:t>
            </a:r>
            <a:b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</a:t>
            </a:r>
            <a:endParaRPr sz="1100"/>
          </a:p>
        </p:txBody>
      </p:sp>
      <p:sp>
        <p:nvSpPr>
          <p:cNvPr id="495" name="Google Shape;495;p48"/>
          <p:cNvSpPr/>
          <p:nvPr/>
        </p:nvSpPr>
        <p:spPr>
          <a:xfrm>
            <a:off x="0" y="4697730"/>
            <a:ext cx="411491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48"/>
          <p:cNvSpPr/>
          <p:nvPr/>
        </p:nvSpPr>
        <p:spPr>
          <a:xfrm>
            <a:off x="411491" y="4800600"/>
            <a:ext cx="7818328" cy="34290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48"/>
          <p:cNvSpPr/>
          <p:nvPr/>
        </p:nvSpPr>
        <p:spPr>
          <a:xfrm>
            <a:off x="8229819" y="4697730"/>
            <a:ext cx="914196" cy="44577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48"/>
          <p:cNvSpPr txBox="1"/>
          <p:nvPr/>
        </p:nvSpPr>
        <p:spPr>
          <a:xfrm>
            <a:off x="1851709" y="171450"/>
            <a:ext cx="541796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7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Supporting Documents and Links</a:t>
            </a:r>
            <a:endParaRPr sz="1100"/>
          </a:p>
        </p:txBody>
      </p:sp>
      <p:sp>
        <p:nvSpPr>
          <p:cNvPr id="499" name="Google Shape;499;p48"/>
          <p:cNvSpPr txBox="1"/>
          <p:nvPr/>
        </p:nvSpPr>
        <p:spPr>
          <a:xfrm>
            <a:off x="480073" y="891540"/>
            <a:ext cx="8229819" cy="37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Source code (GitHub): https://github.com/Suyash2205/Care-Companion-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Release APK: https://github.com/Suyash2205/Care-Companion-/releases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Research paper (IEEE format): submitted alongside this presentation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User manual (PDF): submitted alongside this presentation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Demo video: to be added before the demonstration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